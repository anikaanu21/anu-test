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9" r:id="rId1"/>
  </p:sldMasterIdLst>
  <p:notesMasterIdLst>
    <p:notesMasterId r:id="rId27"/>
  </p:notesMasterIdLst>
  <p:sldIdLst>
    <p:sldId id="298" r:id="rId2"/>
    <p:sldId id="274" r:id="rId3"/>
    <p:sldId id="261" r:id="rId4"/>
    <p:sldId id="262" r:id="rId5"/>
    <p:sldId id="258" r:id="rId6"/>
    <p:sldId id="259" r:id="rId7"/>
    <p:sldId id="260" r:id="rId8"/>
    <p:sldId id="264" r:id="rId9"/>
    <p:sldId id="265" r:id="rId10"/>
    <p:sldId id="263" r:id="rId11"/>
    <p:sldId id="281" r:id="rId12"/>
    <p:sldId id="275" r:id="rId13"/>
    <p:sldId id="276" r:id="rId14"/>
    <p:sldId id="277" r:id="rId15"/>
    <p:sldId id="278" r:id="rId16"/>
    <p:sldId id="279" r:id="rId17"/>
    <p:sldId id="267" r:id="rId18"/>
    <p:sldId id="280" r:id="rId19"/>
    <p:sldId id="266" r:id="rId20"/>
    <p:sldId id="270" r:id="rId21"/>
    <p:sldId id="269" r:id="rId22"/>
    <p:sldId id="268" r:id="rId23"/>
    <p:sldId id="272" r:id="rId24"/>
    <p:sldId id="273" r:id="rId25"/>
    <p:sldId id="271"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20CA"/>
    <a:srgbClr val="6600CC"/>
    <a:srgbClr val="004E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838" autoAdjust="0"/>
    <p:restoredTop sz="94660"/>
  </p:normalViewPr>
  <p:slideViewPr>
    <p:cSldViewPr snapToGrid="0">
      <p:cViewPr varScale="1">
        <p:scale>
          <a:sx n="44" d="100"/>
          <a:sy n="44" d="100"/>
        </p:scale>
        <p:origin x="92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froza Nahar" userId="9d1ccd36-b394-4689-9b8e-4086784d03ec" providerId="ADAL" clId="{6A4CA8F1-6533-4266-B4B0-D0F216E86F7D}"/>
    <pc:docChg chg="undo custSel addSld delSld modSld">
      <pc:chgData name="Dr. Afroza Nahar" userId="9d1ccd36-b394-4689-9b8e-4086784d03ec" providerId="ADAL" clId="{6A4CA8F1-6533-4266-B4B0-D0F216E86F7D}" dt="2024-06-14T14:18:53.251" v="240" actId="313"/>
      <pc:docMkLst>
        <pc:docMk/>
      </pc:docMkLst>
      <pc:sldChg chg="modSp mod modAnim">
        <pc:chgData name="Dr. Afroza Nahar" userId="9d1ccd36-b394-4689-9b8e-4086784d03ec" providerId="ADAL" clId="{6A4CA8F1-6533-4266-B4B0-D0F216E86F7D}" dt="2024-06-01T16:34:25.253" v="165" actId="12"/>
        <pc:sldMkLst>
          <pc:docMk/>
          <pc:sldMk cId="717317468" sldId="259"/>
        </pc:sldMkLst>
      </pc:sldChg>
      <pc:sldChg chg="modSp mod modAnim">
        <pc:chgData name="Dr. Afroza Nahar" userId="9d1ccd36-b394-4689-9b8e-4086784d03ec" providerId="ADAL" clId="{6A4CA8F1-6533-4266-B4B0-D0F216E86F7D}" dt="2024-06-01T16:33:53.211" v="162" actId="12"/>
        <pc:sldMkLst>
          <pc:docMk/>
          <pc:sldMk cId="1491572954" sldId="260"/>
        </pc:sldMkLst>
      </pc:sldChg>
      <pc:sldChg chg="modSp">
        <pc:chgData name="Dr. Afroza Nahar" userId="9d1ccd36-b394-4689-9b8e-4086784d03ec" providerId="ADAL" clId="{6A4CA8F1-6533-4266-B4B0-D0F216E86F7D}" dt="2024-06-01T16:34:46.756" v="170" actId="12"/>
        <pc:sldMkLst>
          <pc:docMk/>
          <pc:sldMk cId="471307178" sldId="261"/>
        </pc:sldMkLst>
      </pc:sldChg>
      <pc:sldChg chg="modSp">
        <pc:chgData name="Dr. Afroza Nahar" userId="9d1ccd36-b394-4689-9b8e-4086784d03ec" providerId="ADAL" clId="{6A4CA8F1-6533-4266-B4B0-D0F216E86F7D}" dt="2024-06-01T16:34:41.272" v="169" actId="12"/>
        <pc:sldMkLst>
          <pc:docMk/>
          <pc:sldMk cId="4055806891" sldId="262"/>
        </pc:sldMkLst>
      </pc:sldChg>
      <pc:sldChg chg="modSp">
        <pc:chgData name="Dr. Afroza Nahar" userId="9d1ccd36-b394-4689-9b8e-4086784d03ec" providerId="ADAL" clId="{6A4CA8F1-6533-4266-B4B0-D0F216E86F7D}" dt="2024-06-01T16:32:59.432" v="151" actId="12"/>
        <pc:sldMkLst>
          <pc:docMk/>
          <pc:sldMk cId="2585851070" sldId="263"/>
        </pc:sldMkLst>
      </pc:sldChg>
      <pc:sldChg chg="modSp mod">
        <pc:chgData name="Dr. Afroza Nahar" userId="9d1ccd36-b394-4689-9b8e-4086784d03ec" providerId="ADAL" clId="{6A4CA8F1-6533-4266-B4B0-D0F216E86F7D}" dt="2024-06-01T16:33:33.774" v="157" actId="27636"/>
        <pc:sldMkLst>
          <pc:docMk/>
          <pc:sldMk cId="3008106543" sldId="264"/>
        </pc:sldMkLst>
      </pc:sldChg>
      <pc:sldChg chg="modSp mod">
        <pc:chgData name="Dr. Afroza Nahar" userId="9d1ccd36-b394-4689-9b8e-4086784d03ec" providerId="ADAL" clId="{6A4CA8F1-6533-4266-B4B0-D0F216E86F7D}" dt="2024-06-01T16:33:17.480" v="153" actId="27636"/>
        <pc:sldMkLst>
          <pc:docMk/>
          <pc:sldMk cId="1211172744" sldId="265"/>
        </pc:sldMkLst>
      </pc:sldChg>
      <pc:sldChg chg="modSp mod">
        <pc:chgData name="Dr. Afroza Nahar" userId="9d1ccd36-b394-4689-9b8e-4086784d03ec" providerId="ADAL" clId="{6A4CA8F1-6533-4266-B4B0-D0F216E86F7D}" dt="2024-06-01T16:30:37.299" v="137" actId="27636"/>
        <pc:sldMkLst>
          <pc:docMk/>
          <pc:sldMk cId="82583938" sldId="266"/>
        </pc:sldMkLst>
      </pc:sldChg>
      <pc:sldChg chg="modSp">
        <pc:chgData name="Dr. Afroza Nahar" userId="9d1ccd36-b394-4689-9b8e-4086784d03ec" providerId="ADAL" clId="{6A4CA8F1-6533-4266-B4B0-D0F216E86F7D}" dt="2024-06-01T16:29:24.436" v="128" actId="12"/>
        <pc:sldMkLst>
          <pc:docMk/>
          <pc:sldMk cId="4071078037" sldId="267"/>
        </pc:sldMkLst>
      </pc:sldChg>
      <pc:sldChg chg="modSp mod">
        <pc:chgData name="Dr. Afroza Nahar" userId="9d1ccd36-b394-4689-9b8e-4086784d03ec" providerId="ADAL" clId="{6A4CA8F1-6533-4266-B4B0-D0F216E86F7D}" dt="2024-06-01T16:31:23.131" v="143" actId="27636"/>
        <pc:sldMkLst>
          <pc:docMk/>
          <pc:sldMk cId="4078240228" sldId="268"/>
        </pc:sldMkLst>
      </pc:sldChg>
      <pc:sldChg chg="modSp">
        <pc:chgData name="Dr. Afroza Nahar" userId="9d1ccd36-b394-4689-9b8e-4086784d03ec" providerId="ADAL" clId="{6A4CA8F1-6533-4266-B4B0-D0F216E86F7D}" dt="2024-06-01T16:30:45.886" v="139" actId="12"/>
        <pc:sldMkLst>
          <pc:docMk/>
          <pc:sldMk cId="1235747036" sldId="269"/>
        </pc:sldMkLst>
      </pc:sldChg>
      <pc:sldChg chg="modSp mod">
        <pc:chgData name="Dr. Afroza Nahar" userId="9d1ccd36-b394-4689-9b8e-4086784d03ec" providerId="ADAL" clId="{6A4CA8F1-6533-4266-B4B0-D0F216E86F7D}" dt="2024-06-01T16:30:28.219" v="136" actId="27636"/>
        <pc:sldMkLst>
          <pc:docMk/>
          <pc:sldMk cId="3383359778" sldId="270"/>
        </pc:sldMkLst>
      </pc:sldChg>
      <pc:sldChg chg="modSp">
        <pc:chgData name="Dr. Afroza Nahar" userId="9d1ccd36-b394-4689-9b8e-4086784d03ec" providerId="ADAL" clId="{6A4CA8F1-6533-4266-B4B0-D0F216E86F7D}" dt="2024-06-01T16:31:35.126" v="144" actId="12"/>
        <pc:sldMkLst>
          <pc:docMk/>
          <pc:sldMk cId="542139811" sldId="272"/>
        </pc:sldMkLst>
      </pc:sldChg>
      <pc:sldChg chg="modSp mod">
        <pc:chgData name="Dr. Afroza Nahar" userId="9d1ccd36-b394-4689-9b8e-4086784d03ec" providerId="ADAL" clId="{6A4CA8F1-6533-4266-B4B0-D0F216E86F7D}" dt="2024-06-01T16:31:49.437" v="146" actId="12"/>
        <pc:sldMkLst>
          <pc:docMk/>
          <pc:sldMk cId="3450515674" sldId="273"/>
        </pc:sldMkLst>
      </pc:sldChg>
      <pc:sldChg chg="modSp">
        <pc:chgData name="Dr. Afroza Nahar" userId="9d1ccd36-b394-4689-9b8e-4086784d03ec" providerId="ADAL" clId="{6A4CA8F1-6533-4266-B4B0-D0F216E86F7D}" dt="2024-06-01T16:34:52.277" v="171" actId="12"/>
        <pc:sldMkLst>
          <pc:docMk/>
          <pc:sldMk cId="3745005986" sldId="274"/>
        </pc:sldMkLst>
      </pc:sldChg>
      <pc:sldChg chg="modSp mod">
        <pc:chgData name="Dr. Afroza Nahar" userId="9d1ccd36-b394-4689-9b8e-4086784d03ec" providerId="ADAL" clId="{6A4CA8F1-6533-4266-B4B0-D0F216E86F7D}" dt="2024-06-01T16:32:37.990" v="149" actId="27636"/>
        <pc:sldMkLst>
          <pc:docMk/>
          <pc:sldMk cId="3697770676" sldId="275"/>
        </pc:sldMkLst>
      </pc:sldChg>
      <pc:sldChg chg="modSp mod">
        <pc:chgData name="Dr. Afroza Nahar" userId="9d1ccd36-b394-4689-9b8e-4086784d03ec" providerId="ADAL" clId="{6A4CA8F1-6533-4266-B4B0-D0F216E86F7D}" dt="2024-06-01T16:28:51.269" v="123" actId="27636"/>
        <pc:sldMkLst>
          <pc:docMk/>
          <pc:sldMk cId="2027079805" sldId="276"/>
        </pc:sldMkLst>
      </pc:sldChg>
      <pc:sldChg chg="modSp">
        <pc:chgData name="Dr. Afroza Nahar" userId="9d1ccd36-b394-4689-9b8e-4086784d03ec" providerId="ADAL" clId="{6A4CA8F1-6533-4266-B4B0-D0F216E86F7D}" dt="2024-06-01T16:27:44.700" v="119" actId="207"/>
        <pc:sldMkLst>
          <pc:docMk/>
          <pc:sldMk cId="2837118795" sldId="277"/>
        </pc:sldMkLst>
      </pc:sldChg>
      <pc:sldChg chg="modSp mod">
        <pc:chgData name="Dr. Afroza Nahar" userId="9d1ccd36-b394-4689-9b8e-4086784d03ec" providerId="ADAL" clId="{6A4CA8F1-6533-4266-B4B0-D0F216E86F7D}" dt="2024-06-01T16:32:22.359" v="147" actId="12"/>
        <pc:sldMkLst>
          <pc:docMk/>
          <pc:sldMk cId="1867692567" sldId="278"/>
        </pc:sldMkLst>
      </pc:sldChg>
      <pc:sldChg chg="modSp mod">
        <pc:chgData name="Dr. Afroza Nahar" userId="9d1ccd36-b394-4689-9b8e-4086784d03ec" providerId="ADAL" clId="{6A4CA8F1-6533-4266-B4B0-D0F216E86F7D}" dt="2024-06-01T16:29:16.669" v="127" actId="27636"/>
        <pc:sldMkLst>
          <pc:docMk/>
          <pc:sldMk cId="1790684495" sldId="279"/>
        </pc:sldMkLst>
      </pc:sldChg>
      <pc:sldChg chg="modSp mod">
        <pc:chgData name="Dr. Afroza Nahar" userId="9d1ccd36-b394-4689-9b8e-4086784d03ec" providerId="ADAL" clId="{6A4CA8F1-6533-4266-B4B0-D0F216E86F7D}" dt="2024-06-01T16:29:50.116" v="130" actId="27636"/>
        <pc:sldMkLst>
          <pc:docMk/>
          <pc:sldMk cId="1333006713" sldId="280"/>
        </pc:sldMkLst>
      </pc:sldChg>
      <pc:sldChg chg="modSp mod">
        <pc:chgData name="Dr. Afroza Nahar" userId="9d1ccd36-b394-4689-9b8e-4086784d03ec" providerId="ADAL" clId="{6A4CA8F1-6533-4266-B4B0-D0F216E86F7D}" dt="2024-06-01T16:32:47.620" v="150" actId="12"/>
        <pc:sldMkLst>
          <pc:docMk/>
          <pc:sldMk cId="4176824693" sldId="281"/>
        </pc:sldMkLst>
      </pc:sldChg>
      <pc:sldChg chg="modSp mod">
        <pc:chgData name="Dr. Afroza Nahar" userId="9d1ccd36-b394-4689-9b8e-4086784d03ec" providerId="ADAL" clId="{6A4CA8F1-6533-4266-B4B0-D0F216E86F7D}" dt="2024-06-14T14:18:29.796" v="236" actId="27636"/>
        <pc:sldMkLst>
          <pc:docMk/>
          <pc:sldMk cId="552491392" sldId="298"/>
        </pc:sldMkLst>
      </pc:sldChg>
      <pc:sldChg chg="modSp add del mod">
        <pc:chgData name="Dr. Afroza Nahar" userId="9d1ccd36-b394-4689-9b8e-4086784d03ec" providerId="ADAL" clId="{6A4CA8F1-6533-4266-B4B0-D0F216E86F7D}" dt="2024-06-10T10:12:05.288" v="186" actId="47"/>
        <pc:sldMkLst>
          <pc:docMk/>
          <pc:sldMk cId="2061609179" sldId="313"/>
        </pc:sldMkLst>
      </pc:sldChg>
      <pc:sldChg chg="modSp">
        <pc:chgData name="Dr. Afroza Nahar" userId="9d1ccd36-b394-4689-9b8e-4086784d03ec" providerId="ADAL" clId="{6A4CA8F1-6533-4266-B4B0-D0F216E86F7D}" dt="2024-06-01T16:17:24.104" v="10" actId="6549"/>
        <pc:sldMkLst>
          <pc:docMk/>
          <pc:sldMk cId="1486312163" sldId="327"/>
        </pc:sldMkLst>
      </pc:sldChg>
      <pc:sldChg chg="del">
        <pc:chgData name="Dr. Afroza Nahar" userId="9d1ccd36-b394-4689-9b8e-4086784d03ec" providerId="ADAL" clId="{6A4CA8F1-6533-4266-B4B0-D0F216E86F7D}" dt="2024-06-01T16:17:40.715" v="11" actId="47"/>
        <pc:sldMkLst>
          <pc:docMk/>
          <pc:sldMk cId="192358279" sldId="328"/>
        </pc:sldMkLst>
      </pc:sldChg>
      <pc:sldChg chg="modSp mod">
        <pc:chgData name="Dr. Afroza Nahar" userId="9d1ccd36-b394-4689-9b8e-4086784d03ec" providerId="ADAL" clId="{6A4CA8F1-6533-4266-B4B0-D0F216E86F7D}" dt="2024-06-01T16:35:07.526" v="174" actId="5793"/>
        <pc:sldMkLst>
          <pc:docMk/>
          <pc:sldMk cId="3913778713" sldId="338"/>
        </pc:sldMkLst>
      </pc:sldChg>
      <pc:sldChg chg="addSp delSp modSp mod">
        <pc:chgData name="Dr. Afroza Nahar" userId="9d1ccd36-b394-4689-9b8e-4086784d03ec" providerId="ADAL" clId="{6A4CA8F1-6533-4266-B4B0-D0F216E86F7D}" dt="2024-06-01T16:19:35.839" v="13"/>
        <pc:sldMkLst>
          <pc:docMk/>
          <pc:sldMk cId="2403630838" sldId="343"/>
        </pc:sldMkLst>
      </pc:sldChg>
      <pc:sldChg chg="addSp delSp modSp new mod modAnim">
        <pc:chgData name="Dr. Afroza Nahar" userId="9d1ccd36-b394-4689-9b8e-4086784d03ec" providerId="ADAL" clId="{6A4CA8F1-6533-4266-B4B0-D0F216E86F7D}" dt="2024-06-14T14:18:53.251" v="240" actId="313"/>
        <pc:sldMkLst>
          <pc:docMk/>
          <pc:sldMk cId="3629180596" sldId="351"/>
        </pc:sldMkLst>
      </pc:sldChg>
    </pc:docChg>
  </pc:docChgLst>
  <pc:docChgLst>
    <pc:chgData name="Dr. Afroza Nahar" userId="9d1ccd36-b394-4689-9b8e-4086784d03ec" providerId="ADAL" clId="{4105EA97-54E9-4DE6-967D-3C9141639D77}"/>
    <pc:docChg chg="custSel addSld delSld modSld">
      <pc:chgData name="Dr. Afroza Nahar" userId="9d1ccd36-b394-4689-9b8e-4086784d03ec" providerId="ADAL" clId="{4105EA97-54E9-4DE6-967D-3C9141639D77}" dt="2024-01-22T12:25:15.126" v="49" actId="403"/>
      <pc:docMkLst>
        <pc:docMk/>
      </pc:docMkLst>
      <pc:sldChg chg="modSp mod">
        <pc:chgData name="Dr. Afroza Nahar" userId="9d1ccd36-b394-4689-9b8e-4086784d03ec" providerId="ADAL" clId="{4105EA97-54E9-4DE6-967D-3C9141639D77}" dt="2024-01-22T12:10:49.424" v="6" actId="20577"/>
        <pc:sldMkLst>
          <pc:docMk/>
          <pc:sldMk cId="552491392" sldId="298"/>
        </pc:sldMkLst>
      </pc:sldChg>
      <pc:sldChg chg="modSp add del mod">
        <pc:chgData name="Dr. Afroza Nahar" userId="9d1ccd36-b394-4689-9b8e-4086784d03ec" providerId="ADAL" clId="{4105EA97-54E9-4DE6-967D-3C9141639D77}" dt="2024-01-22T12:24:11.279" v="38" actId="47"/>
        <pc:sldMkLst>
          <pc:docMk/>
          <pc:sldMk cId="1057664589" sldId="314"/>
        </pc:sldMkLst>
      </pc:sldChg>
      <pc:sldChg chg="modSp mod">
        <pc:chgData name="Dr. Afroza Nahar" userId="9d1ccd36-b394-4689-9b8e-4086784d03ec" providerId="ADAL" clId="{4105EA97-54E9-4DE6-967D-3C9141639D77}" dt="2024-01-22T12:25:15.126" v="49" actId="403"/>
        <pc:sldMkLst>
          <pc:docMk/>
          <pc:sldMk cId="1486312163" sldId="327"/>
        </pc:sldMkLst>
      </pc:sldChg>
      <pc:sldChg chg="modSp mod">
        <pc:chgData name="Dr. Afroza Nahar" userId="9d1ccd36-b394-4689-9b8e-4086784d03ec" providerId="ADAL" clId="{4105EA97-54E9-4DE6-967D-3C9141639D77}" dt="2024-01-22T12:11:06.745" v="7" actId="313"/>
        <pc:sldMkLst>
          <pc:docMk/>
          <pc:sldMk cId="2749711586" sldId="329"/>
        </pc:sldMkLst>
      </pc:sldChg>
      <pc:sldChg chg="modSp mod modAnim">
        <pc:chgData name="Dr. Afroza Nahar" userId="9d1ccd36-b394-4689-9b8e-4086784d03ec" providerId="ADAL" clId="{4105EA97-54E9-4DE6-967D-3C9141639D77}" dt="2024-01-22T12:23:51.757" v="37" actId="20577"/>
        <pc:sldMkLst>
          <pc:docMk/>
          <pc:sldMk cId="176403946" sldId="330"/>
        </pc:sldMkLst>
      </pc:sldChg>
      <pc:sldChg chg="del">
        <pc:chgData name="Dr. Afroza Nahar" userId="9d1ccd36-b394-4689-9b8e-4086784d03ec" providerId="ADAL" clId="{4105EA97-54E9-4DE6-967D-3C9141639D77}" dt="2024-01-22T12:24:31.859" v="40" actId="47"/>
        <pc:sldMkLst>
          <pc:docMk/>
          <pc:sldMk cId="3101779981" sldId="331"/>
        </pc:sldMkLst>
      </pc:sldChg>
      <pc:sldChg chg="del">
        <pc:chgData name="Dr. Afroza Nahar" userId="9d1ccd36-b394-4689-9b8e-4086784d03ec" providerId="ADAL" clId="{4105EA97-54E9-4DE6-967D-3C9141639D77}" dt="2024-01-22T12:24:32.729" v="41" actId="47"/>
        <pc:sldMkLst>
          <pc:docMk/>
          <pc:sldMk cId="2958010754" sldId="332"/>
        </pc:sldMkLst>
      </pc:sldChg>
      <pc:sldChg chg="del">
        <pc:chgData name="Dr. Afroza Nahar" userId="9d1ccd36-b394-4689-9b8e-4086784d03ec" providerId="ADAL" clId="{4105EA97-54E9-4DE6-967D-3C9141639D77}" dt="2024-01-22T12:24:35.019" v="43" actId="47"/>
        <pc:sldMkLst>
          <pc:docMk/>
          <pc:sldMk cId="3953604517" sldId="334"/>
        </pc:sldMkLst>
      </pc:sldChg>
      <pc:sldChg chg="del">
        <pc:chgData name="Dr. Afroza Nahar" userId="9d1ccd36-b394-4689-9b8e-4086784d03ec" providerId="ADAL" clId="{4105EA97-54E9-4DE6-967D-3C9141639D77}" dt="2024-01-22T12:24:34.344" v="42" actId="47"/>
        <pc:sldMkLst>
          <pc:docMk/>
          <pc:sldMk cId="1737593124" sldId="335"/>
        </pc:sldMkLst>
      </pc:sldChg>
      <pc:sldChg chg="del">
        <pc:chgData name="Dr. Afroza Nahar" userId="9d1ccd36-b394-4689-9b8e-4086784d03ec" providerId="ADAL" clId="{4105EA97-54E9-4DE6-967D-3C9141639D77}" dt="2024-01-22T12:24:36.152" v="44" actId="47"/>
        <pc:sldMkLst>
          <pc:docMk/>
          <pc:sldMk cId="2410487105" sldId="336"/>
        </pc:sldMkLst>
      </pc:sldChg>
      <pc:sldChg chg="del">
        <pc:chgData name="Dr. Afroza Nahar" userId="9d1ccd36-b394-4689-9b8e-4086784d03ec" providerId="ADAL" clId="{4105EA97-54E9-4DE6-967D-3C9141639D77}" dt="2024-01-22T12:24:37.354" v="45" actId="47"/>
        <pc:sldMkLst>
          <pc:docMk/>
          <pc:sldMk cId="1823670324" sldId="337"/>
        </pc:sldMkLst>
      </pc:sldChg>
      <pc:sldChg chg="modSp add mod">
        <pc:chgData name="Dr. Afroza Nahar" userId="9d1ccd36-b394-4689-9b8e-4086784d03ec" providerId="ADAL" clId="{4105EA97-54E9-4DE6-967D-3C9141639D77}" dt="2024-01-22T12:23:47.239" v="36" actId="207"/>
        <pc:sldMkLst>
          <pc:docMk/>
          <pc:sldMk cId="3913778713" sldId="338"/>
        </pc:sldMkLst>
      </pc:sldChg>
      <pc:sldChg chg="add del">
        <pc:chgData name="Dr. Afroza Nahar" userId="9d1ccd36-b394-4689-9b8e-4086784d03ec" providerId="ADAL" clId="{4105EA97-54E9-4DE6-967D-3C9141639D77}" dt="2024-01-22T12:24:18.863" v="39" actId="47"/>
        <pc:sldMkLst>
          <pc:docMk/>
          <pc:sldMk cId="1008100176" sldId="339"/>
        </pc:sldMkLst>
      </pc:sldChg>
      <pc:sldChg chg="add">
        <pc:chgData name="Dr. Afroza Nahar" userId="9d1ccd36-b394-4689-9b8e-4086784d03ec" providerId="ADAL" clId="{4105EA97-54E9-4DE6-967D-3C9141639D77}" dt="2024-01-22T12:22:47.935" v="29"/>
        <pc:sldMkLst>
          <pc:docMk/>
          <pc:sldMk cId="3205510220" sldId="340"/>
        </pc:sldMkLst>
      </pc:sldChg>
      <pc:sldChg chg="add">
        <pc:chgData name="Dr. Afroza Nahar" userId="9d1ccd36-b394-4689-9b8e-4086784d03ec" providerId="ADAL" clId="{4105EA97-54E9-4DE6-967D-3C9141639D77}" dt="2024-01-22T12:22:47.935" v="29"/>
        <pc:sldMkLst>
          <pc:docMk/>
          <pc:sldMk cId="2395558685" sldId="341"/>
        </pc:sldMkLst>
      </pc:sldChg>
      <pc:sldChg chg="modSp add mod">
        <pc:chgData name="Dr. Afroza Nahar" userId="9d1ccd36-b394-4689-9b8e-4086784d03ec" providerId="ADAL" clId="{4105EA97-54E9-4DE6-967D-3C9141639D77}" dt="2024-01-22T12:22:48.027" v="31" actId="27636"/>
        <pc:sldMkLst>
          <pc:docMk/>
          <pc:sldMk cId="3988718116" sldId="342"/>
        </pc:sldMkLst>
      </pc:sldChg>
      <pc:sldChg chg="add">
        <pc:chgData name="Dr. Afroza Nahar" userId="9d1ccd36-b394-4689-9b8e-4086784d03ec" providerId="ADAL" clId="{4105EA97-54E9-4DE6-967D-3C9141639D77}" dt="2024-01-22T12:22:47.935" v="29"/>
        <pc:sldMkLst>
          <pc:docMk/>
          <pc:sldMk cId="2403630838" sldId="343"/>
        </pc:sldMkLst>
      </pc:sldChg>
      <pc:sldChg chg="add">
        <pc:chgData name="Dr. Afroza Nahar" userId="9d1ccd36-b394-4689-9b8e-4086784d03ec" providerId="ADAL" clId="{4105EA97-54E9-4DE6-967D-3C9141639D77}" dt="2024-01-22T12:22:47.935" v="29"/>
        <pc:sldMkLst>
          <pc:docMk/>
          <pc:sldMk cId="869210440" sldId="344"/>
        </pc:sldMkLst>
      </pc:sldChg>
      <pc:sldChg chg="add">
        <pc:chgData name="Dr. Afroza Nahar" userId="9d1ccd36-b394-4689-9b8e-4086784d03ec" providerId="ADAL" clId="{4105EA97-54E9-4DE6-967D-3C9141639D77}" dt="2024-01-22T12:22:47.935" v="29"/>
        <pc:sldMkLst>
          <pc:docMk/>
          <pc:sldMk cId="1549154288" sldId="345"/>
        </pc:sldMkLst>
      </pc:sldChg>
      <pc:sldChg chg="add">
        <pc:chgData name="Dr. Afroza Nahar" userId="9d1ccd36-b394-4689-9b8e-4086784d03ec" providerId="ADAL" clId="{4105EA97-54E9-4DE6-967D-3C9141639D77}" dt="2024-01-22T12:22:47.935" v="29"/>
        <pc:sldMkLst>
          <pc:docMk/>
          <pc:sldMk cId="2929848984" sldId="346"/>
        </pc:sldMkLst>
      </pc:sldChg>
      <pc:sldChg chg="add">
        <pc:chgData name="Dr. Afroza Nahar" userId="9d1ccd36-b394-4689-9b8e-4086784d03ec" providerId="ADAL" clId="{4105EA97-54E9-4DE6-967D-3C9141639D77}" dt="2024-01-22T12:22:47.935" v="29"/>
        <pc:sldMkLst>
          <pc:docMk/>
          <pc:sldMk cId="1681379637" sldId="347"/>
        </pc:sldMkLst>
      </pc:sldChg>
      <pc:sldChg chg="add">
        <pc:chgData name="Dr. Afroza Nahar" userId="9d1ccd36-b394-4689-9b8e-4086784d03ec" providerId="ADAL" clId="{4105EA97-54E9-4DE6-967D-3C9141639D77}" dt="2024-01-22T12:22:47.935" v="29"/>
        <pc:sldMkLst>
          <pc:docMk/>
          <pc:sldMk cId="1745738719" sldId="348"/>
        </pc:sldMkLst>
      </pc:sldChg>
      <pc:sldChg chg="add">
        <pc:chgData name="Dr. Afroza Nahar" userId="9d1ccd36-b394-4689-9b8e-4086784d03ec" providerId="ADAL" clId="{4105EA97-54E9-4DE6-967D-3C9141639D77}" dt="2024-01-22T12:22:47.935" v="29"/>
        <pc:sldMkLst>
          <pc:docMk/>
          <pc:sldMk cId="1394922963" sldId="349"/>
        </pc:sldMkLst>
      </pc:sldChg>
      <pc:sldChg chg="add">
        <pc:chgData name="Dr. Afroza Nahar" userId="9d1ccd36-b394-4689-9b8e-4086784d03ec" providerId="ADAL" clId="{4105EA97-54E9-4DE6-967D-3C9141639D77}" dt="2024-01-22T12:22:47.935" v="29"/>
        <pc:sldMkLst>
          <pc:docMk/>
          <pc:sldMk cId="4212825291" sldId="350"/>
        </pc:sldMkLst>
      </pc:sldChg>
      <pc:sldMasterChg chg="delSldLayout">
        <pc:chgData name="Dr. Afroza Nahar" userId="9d1ccd36-b394-4689-9b8e-4086784d03ec" providerId="ADAL" clId="{4105EA97-54E9-4DE6-967D-3C9141639D77}" dt="2024-01-22T12:24:11.279" v="38" actId="47"/>
        <pc:sldMasterMkLst>
          <pc:docMk/>
          <pc:sldMasterMk cId="431782968" sldId="2147483699"/>
        </pc:sldMasterMkLst>
        <pc:sldLayoutChg chg="del">
          <pc:chgData name="Dr. Afroza Nahar" userId="9d1ccd36-b394-4689-9b8e-4086784d03ec" providerId="ADAL" clId="{4105EA97-54E9-4DE6-967D-3C9141639D77}" dt="2024-01-22T12:24:11.279" v="38" actId="47"/>
          <pc:sldLayoutMkLst>
            <pc:docMk/>
            <pc:sldMasterMk cId="431782968" sldId="2147483699"/>
            <pc:sldLayoutMk cId="1837106296" sldId="2147483737"/>
          </pc:sldLayoutMkLst>
        </pc:sldLayoutChg>
      </pc:sldMasterChg>
    </pc:docChg>
  </pc:docChgLst>
  <pc:docChgLst>
    <pc:chgData name="Prof. Dr. Afroza Nahar" userId="9d1ccd36-b394-4689-9b8e-4086784d03ec" providerId="ADAL" clId="{C96C89D4-AB89-44E7-9384-BCC77A3DE1E9}"/>
    <pc:docChg chg="delSld modSld">
      <pc:chgData name="Prof. Dr. Afroza Nahar" userId="9d1ccd36-b394-4689-9b8e-4086784d03ec" providerId="ADAL" clId="{C96C89D4-AB89-44E7-9384-BCC77A3DE1E9}" dt="2025-02-25T04:51:33.916" v="34" actId="47"/>
      <pc:docMkLst>
        <pc:docMk/>
      </pc:docMkLst>
      <pc:sldChg chg="modSp mod">
        <pc:chgData name="Prof. Dr. Afroza Nahar" userId="9d1ccd36-b394-4689-9b8e-4086784d03ec" providerId="ADAL" clId="{C96C89D4-AB89-44E7-9384-BCC77A3DE1E9}" dt="2025-02-24T09:22:39.196" v="18" actId="20577"/>
        <pc:sldMkLst>
          <pc:docMk/>
          <pc:sldMk cId="552491392" sldId="298"/>
        </pc:sldMkLst>
        <pc:spChg chg="mod">
          <ac:chgData name="Prof. Dr. Afroza Nahar" userId="9d1ccd36-b394-4689-9b8e-4086784d03ec" providerId="ADAL" clId="{C96C89D4-AB89-44E7-9384-BCC77A3DE1E9}" dt="2025-02-24T09:22:39.196" v="18" actId="20577"/>
          <ac:spMkLst>
            <pc:docMk/>
            <pc:sldMk cId="552491392" sldId="298"/>
            <ac:spMk id="6" creationId="{3B6D3FE6-5ED9-41C9-BB8E-BB5A45BA42A1}"/>
          </ac:spMkLst>
        </pc:spChg>
      </pc:sldChg>
      <pc:sldChg chg="del">
        <pc:chgData name="Prof. Dr. Afroza Nahar" userId="9d1ccd36-b394-4689-9b8e-4086784d03ec" providerId="ADAL" clId="{C96C89D4-AB89-44E7-9384-BCC77A3DE1E9}" dt="2025-02-25T04:51:26.354" v="19" actId="47"/>
        <pc:sldMkLst>
          <pc:docMk/>
          <pc:sldMk cId="1486312163" sldId="327"/>
        </pc:sldMkLst>
      </pc:sldChg>
      <pc:sldChg chg="del">
        <pc:chgData name="Prof. Dr. Afroza Nahar" userId="9d1ccd36-b394-4689-9b8e-4086784d03ec" providerId="ADAL" clId="{C96C89D4-AB89-44E7-9384-BCC77A3DE1E9}" dt="2025-02-25T04:51:26.985" v="21" actId="47"/>
        <pc:sldMkLst>
          <pc:docMk/>
          <pc:sldMk cId="2749711586" sldId="329"/>
        </pc:sldMkLst>
      </pc:sldChg>
      <pc:sldChg chg="del">
        <pc:chgData name="Prof. Dr. Afroza Nahar" userId="9d1ccd36-b394-4689-9b8e-4086784d03ec" providerId="ADAL" clId="{C96C89D4-AB89-44E7-9384-BCC77A3DE1E9}" dt="2025-02-25T04:51:27.340" v="22" actId="47"/>
        <pc:sldMkLst>
          <pc:docMk/>
          <pc:sldMk cId="176403946" sldId="330"/>
        </pc:sldMkLst>
      </pc:sldChg>
      <pc:sldChg chg="del">
        <pc:chgData name="Prof. Dr. Afroza Nahar" userId="9d1ccd36-b394-4689-9b8e-4086784d03ec" providerId="ADAL" clId="{C96C89D4-AB89-44E7-9384-BCC77A3DE1E9}" dt="2025-02-25T04:51:27.667" v="23" actId="47"/>
        <pc:sldMkLst>
          <pc:docMk/>
          <pc:sldMk cId="3913778713" sldId="338"/>
        </pc:sldMkLst>
      </pc:sldChg>
      <pc:sldChg chg="del">
        <pc:chgData name="Prof. Dr. Afroza Nahar" userId="9d1ccd36-b394-4689-9b8e-4086784d03ec" providerId="ADAL" clId="{C96C89D4-AB89-44E7-9384-BCC77A3DE1E9}" dt="2025-02-25T04:51:29.509" v="27" actId="47"/>
        <pc:sldMkLst>
          <pc:docMk/>
          <pc:sldMk cId="3205510220" sldId="340"/>
        </pc:sldMkLst>
      </pc:sldChg>
      <pc:sldChg chg="del">
        <pc:chgData name="Prof. Dr. Afroza Nahar" userId="9d1ccd36-b394-4689-9b8e-4086784d03ec" providerId="ADAL" clId="{C96C89D4-AB89-44E7-9384-BCC77A3DE1E9}" dt="2025-02-25T04:51:32.628" v="32" actId="47"/>
        <pc:sldMkLst>
          <pc:docMk/>
          <pc:sldMk cId="2395558685" sldId="341"/>
        </pc:sldMkLst>
      </pc:sldChg>
      <pc:sldChg chg="del">
        <pc:chgData name="Prof. Dr. Afroza Nahar" userId="9d1ccd36-b394-4689-9b8e-4086784d03ec" providerId="ADAL" clId="{C96C89D4-AB89-44E7-9384-BCC77A3DE1E9}" dt="2025-02-25T04:51:32.336" v="31" actId="47"/>
        <pc:sldMkLst>
          <pc:docMk/>
          <pc:sldMk cId="3988718116" sldId="342"/>
        </pc:sldMkLst>
      </pc:sldChg>
      <pc:sldChg chg="del">
        <pc:chgData name="Prof. Dr. Afroza Nahar" userId="9d1ccd36-b394-4689-9b8e-4086784d03ec" providerId="ADAL" clId="{C96C89D4-AB89-44E7-9384-BCC77A3DE1E9}" dt="2025-02-25T04:51:28.103" v="24" actId="47"/>
        <pc:sldMkLst>
          <pc:docMk/>
          <pc:sldMk cId="2403630838" sldId="343"/>
        </pc:sldMkLst>
      </pc:sldChg>
      <pc:sldChg chg="del">
        <pc:chgData name="Prof. Dr. Afroza Nahar" userId="9d1ccd36-b394-4689-9b8e-4086784d03ec" providerId="ADAL" clId="{C96C89D4-AB89-44E7-9384-BCC77A3DE1E9}" dt="2025-02-25T04:51:28.672" v="25" actId="47"/>
        <pc:sldMkLst>
          <pc:docMk/>
          <pc:sldMk cId="869210440" sldId="344"/>
        </pc:sldMkLst>
      </pc:sldChg>
      <pc:sldChg chg="del">
        <pc:chgData name="Prof. Dr. Afroza Nahar" userId="9d1ccd36-b394-4689-9b8e-4086784d03ec" providerId="ADAL" clId="{C96C89D4-AB89-44E7-9384-BCC77A3DE1E9}" dt="2025-02-25T04:51:29.014" v="26" actId="47"/>
        <pc:sldMkLst>
          <pc:docMk/>
          <pc:sldMk cId="1549154288" sldId="345"/>
        </pc:sldMkLst>
      </pc:sldChg>
      <pc:sldChg chg="del">
        <pc:chgData name="Prof. Dr. Afroza Nahar" userId="9d1ccd36-b394-4689-9b8e-4086784d03ec" providerId="ADAL" clId="{C96C89D4-AB89-44E7-9384-BCC77A3DE1E9}" dt="2025-02-25T04:51:30.217" v="28" actId="47"/>
        <pc:sldMkLst>
          <pc:docMk/>
          <pc:sldMk cId="2929848984" sldId="346"/>
        </pc:sldMkLst>
      </pc:sldChg>
      <pc:sldChg chg="del">
        <pc:chgData name="Prof. Dr. Afroza Nahar" userId="9d1ccd36-b394-4689-9b8e-4086784d03ec" providerId="ADAL" clId="{C96C89D4-AB89-44E7-9384-BCC77A3DE1E9}" dt="2025-02-25T04:51:30.589" v="29" actId="47"/>
        <pc:sldMkLst>
          <pc:docMk/>
          <pc:sldMk cId="1681379637" sldId="347"/>
        </pc:sldMkLst>
      </pc:sldChg>
      <pc:sldChg chg="del">
        <pc:chgData name="Prof. Dr. Afroza Nahar" userId="9d1ccd36-b394-4689-9b8e-4086784d03ec" providerId="ADAL" clId="{C96C89D4-AB89-44E7-9384-BCC77A3DE1E9}" dt="2025-02-25T04:51:31.487" v="30" actId="47"/>
        <pc:sldMkLst>
          <pc:docMk/>
          <pc:sldMk cId="1745738719" sldId="348"/>
        </pc:sldMkLst>
      </pc:sldChg>
      <pc:sldChg chg="del">
        <pc:chgData name="Prof. Dr. Afroza Nahar" userId="9d1ccd36-b394-4689-9b8e-4086784d03ec" providerId="ADAL" clId="{C96C89D4-AB89-44E7-9384-BCC77A3DE1E9}" dt="2025-02-25T04:51:33.508" v="33" actId="47"/>
        <pc:sldMkLst>
          <pc:docMk/>
          <pc:sldMk cId="1394922963" sldId="349"/>
        </pc:sldMkLst>
      </pc:sldChg>
      <pc:sldChg chg="del">
        <pc:chgData name="Prof. Dr. Afroza Nahar" userId="9d1ccd36-b394-4689-9b8e-4086784d03ec" providerId="ADAL" clId="{C96C89D4-AB89-44E7-9384-BCC77A3DE1E9}" dt="2025-02-25T04:51:33.916" v="34" actId="47"/>
        <pc:sldMkLst>
          <pc:docMk/>
          <pc:sldMk cId="4212825291" sldId="350"/>
        </pc:sldMkLst>
      </pc:sldChg>
      <pc:sldChg chg="del">
        <pc:chgData name="Prof. Dr. Afroza Nahar" userId="9d1ccd36-b394-4689-9b8e-4086784d03ec" providerId="ADAL" clId="{C96C89D4-AB89-44E7-9384-BCC77A3DE1E9}" dt="2025-02-25T04:51:26.670" v="20" actId="47"/>
        <pc:sldMkLst>
          <pc:docMk/>
          <pc:sldMk cId="3629180596" sldId="351"/>
        </pc:sldMkLst>
      </pc:sldChg>
      <pc:sldMasterChg chg="delSldLayout">
        <pc:chgData name="Prof. Dr. Afroza Nahar" userId="9d1ccd36-b394-4689-9b8e-4086784d03ec" providerId="ADAL" clId="{C96C89D4-AB89-44E7-9384-BCC77A3DE1E9}" dt="2025-02-25T04:51:27.667" v="23" actId="47"/>
        <pc:sldMasterMkLst>
          <pc:docMk/>
          <pc:sldMasterMk cId="431782968" sldId="2147483699"/>
        </pc:sldMasterMkLst>
        <pc:sldLayoutChg chg="del">
          <pc:chgData name="Prof. Dr. Afroza Nahar" userId="9d1ccd36-b394-4689-9b8e-4086784d03ec" providerId="ADAL" clId="{C96C89D4-AB89-44E7-9384-BCC77A3DE1E9}" dt="2025-02-25T04:51:27.667" v="23" actId="47"/>
          <pc:sldLayoutMkLst>
            <pc:docMk/>
            <pc:sldMasterMk cId="431782968" sldId="2147483699"/>
            <pc:sldLayoutMk cId="2548452384" sldId="2147483736"/>
          </pc:sldLayoutMkLst>
        </pc:sldLayoutChg>
      </pc:sldMasterChg>
    </pc:docChg>
  </pc:docChgLst>
  <pc:docChgLst>
    <pc:chgData name="Prof. Dr. Afroza Nahar" userId="9d1ccd36-b394-4689-9b8e-4086784d03ec" providerId="ADAL" clId="{22758B36-A704-4815-AAC8-DDED6FEBDBDC}"/>
    <pc:docChg chg="modSld">
      <pc:chgData name="Prof. Dr. Afroza Nahar" userId="9d1ccd36-b394-4689-9b8e-4086784d03ec" providerId="ADAL" clId="{22758B36-A704-4815-AAC8-DDED6FEBDBDC}" dt="2024-10-19T13:28:59.205" v="19" actId="14100"/>
      <pc:docMkLst>
        <pc:docMk/>
      </pc:docMkLst>
      <pc:sldChg chg="modSp mod">
        <pc:chgData name="Prof. Dr. Afroza Nahar" userId="9d1ccd36-b394-4689-9b8e-4086784d03ec" providerId="ADAL" clId="{22758B36-A704-4815-AAC8-DDED6FEBDBDC}" dt="2024-10-19T13:28:59.205" v="19" actId="14100"/>
        <pc:sldMkLst>
          <pc:docMk/>
          <pc:sldMk cId="82583938" sldId="266"/>
        </pc:sldMkLst>
      </pc:sldChg>
      <pc:sldChg chg="modSp mod">
        <pc:chgData name="Prof. Dr. Afroza Nahar" userId="9d1ccd36-b394-4689-9b8e-4086784d03ec" providerId="ADAL" clId="{22758B36-A704-4815-AAC8-DDED6FEBDBDC}" dt="2024-10-19T13:28:50.592" v="18" actId="14100"/>
        <pc:sldMkLst>
          <pc:docMk/>
          <pc:sldMk cId="4071078037" sldId="267"/>
        </pc:sldMkLst>
      </pc:sldChg>
      <pc:sldChg chg="modSp mod">
        <pc:chgData name="Prof. Dr. Afroza Nahar" userId="9d1ccd36-b394-4689-9b8e-4086784d03ec" providerId="ADAL" clId="{22758B36-A704-4815-AAC8-DDED6FEBDBDC}" dt="2024-10-19T13:17:31.743" v="17" actId="6549"/>
        <pc:sldMkLst>
          <pc:docMk/>
          <pc:sldMk cId="552491392" sldId="2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F940FF-212E-4766-8272-E7D63D7DB223}" type="datetimeFigureOut">
              <a:rPr lang="en-US" smtClean="0"/>
              <a:t>2/25/2025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DC4F57-215F-4620-ADB6-4279BF5FF7C2}" type="slidenum">
              <a:rPr lang="en-US" smtClean="0"/>
              <a:t>‹#›</a:t>
            </a:fld>
            <a:endParaRPr lang="en-US"/>
          </a:p>
        </p:txBody>
      </p:sp>
    </p:spTree>
    <p:extLst>
      <p:ext uri="{BB962C8B-B14F-4D97-AF65-F5344CB8AC3E}">
        <p14:creationId xmlns:p14="http://schemas.microsoft.com/office/powerpoint/2010/main" val="3807445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DC4F57-215F-4620-ADB6-4279BF5FF7C2}" type="slidenum">
              <a:rPr lang="en-US" smtClean="0"/>
              <a:t>1</a:t>
            </a:fld>
            <a:endParaRPr lang="en-US"/>
          </a:p>
        </p:txBody>
      </p:sp>
    </p:spTree>
    <p:extLst>
      <p:ext uri="{BB962C8B-B14F-4D97-AF65-F5344CB8AC3E}">
        <p14:creationId xmlns:p14="http://schemas.microsoft.com/office/powerpoint/2010/main" val="13056608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2781946078"/>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2982858675"/>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6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6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6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3863275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r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006096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userDrawn="1"/>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3141805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userDrawn="1"/>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211150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userDrawn="1"/>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550879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722337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1978101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3536537201"/>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1853399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82298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1376129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9684921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5668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endParaRPr lang="en-US"/>
          </a:p>
        </p:txBody>
      </p:sp>
    </p:spTree>
    <p:extLst>
      <p:ext uri="{BB962C8B-B14F-4D97-AF65-F5344CB8AC3E}">
        <p14:creationId xmlns:p14="http://schemas.microsoft.com/office/powerpoint/2010/main" val="9455180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endParaRPr lang="en-US"/>
          </a:p>
        </p:txBody>
      </p:sp>
    </p:spTree>
    <p:extLst>
      <p:ext uri="{BB962C8B-B14F-4D97-AF65-F5344CB8AC3E}">
        <p14:creationId xmlns:p14="http://schemas.microsoft.com/office/powerpoint/2010/main" val="27841628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endParaRPr lang="en-US"/>
          </a:p>
        </p:txBody>
      </p:sp>
    </p:spTree>
    <p:extLst>
      <p:ext uri="{BB962C8B-B14F-4D97-AF65-F5344CB8AC3E}">
        <p14:creationId xmlns:p14="http://schemas.microsoft.com/office/powerpoint/2010/main" val="14897693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endParaRPr lang="en-US"/>
          </a:p>
        </p:txBody>
      </p:sp>
    </p:spTree>
    <p:extLst>
      <p:ext uri="{BB962C8B-B14F-4D97-AF65-F5344CB8AC3E}">
        <p14:creationId xmlns:p14="http://schemas.microsoft.com/office/powerpoint/2010/main" val="29580699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 Picture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endParaRPr lang="en-US"/>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189994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Wide Picture, Content, and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endParaRPr lang="en-US"/>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339367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_Wide Picture, Content, and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endParaRPr lang="en-US"/>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2177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endParaRPr lang="en-US"/>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31348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2_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endParaRPr lang="en-US"/>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230844638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Two Contents Title">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rgbClr val="FF0000"/>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userDrawn="1"/>
        </p:nvSpPr>
        <p:spPr>
          <a:xfrm>
            <a:off x="114490" y="5281054"/>
            <a:ext cx="4564358" cy="1107996"/>
          </a:xfrm>
          <a:prstGeom prst="rect">
            <a:avLst/>
          </a:prstGeom>
          <a:noFill/>
        </p:spPr>
        <p:txBody>
          <a:bodyPr wrap="square" rtlCol="0">
            <a:spAutoFit/>
          </a:bodyPr>
          <a:lstStyle/>
          <a:p>
            <a:pPr algn="just"/>
            <a:r>
              <a:rPr lang="en-US" sz="1800" b="1" i="0" kern="1200" dirty="0">
                <a:solidFill>
                  <a:schemeClr val="tx1"/>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rgbClr val="004EA8"/>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rgbClr val="004EA8"/>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userDrawn="1"/>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userDrawn="1"/>
        </p:nvSpPr>
        <p:spPr>
          <a:xfrm>
            <a:off x="2189595" y="4888350"/>
            <a:ext cx="4564358" cy="369332"/>
          </a:xfrm>
          <a:prstGeom prst="rect">
            <a:avLst/>
          </a:prstGeom>
          <a:noFill/>
        </p:spPr>
        <p:txBody>
          <a:bodyPr wrap="square" rtlCol="0">
            <a:spAutoFit/>
          </a:bodyPr>
          <a:lstStyle/>
          <a:p>
            <a:pPr algn="ctr"/>
            <a:r>
              <a:rPr lang="en-US" b="1" dirty="0">
                <a:solidFill>
                  <a:srgbClr val="FF0000"/>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userDrawn="1"/>
        </p:nvSpPr>
        <p:spPr>
          <a:xfrm>
            <a:off x="4747890" y="1506507"/>
            <a:ext cx="4415444" cy="3270126"/>
          </a:xfrm>
          <a:prstGeom prst="rect">
            <a:avLst/>
          </a:prstGeom>
          <a:noFill/>
        </p:spPr>
        <p:txBody>
          <a:bodyPr wrap="square" rtlCol="0">
            <a:spAutoFit/>
          </a:bodyPr>
          <a:lstStyle/>
          <a:p>
            <a:pPr algn="just"/>
            <a:r>
              <a:rPr lang="en-US" sz="1550" b="1" i="0" kern="1200" dirty="0">
                <a:solidFill>
                  <a:schemeClr val="tx1"/>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chemeClr val="tx1"/>
                </a:solidFill>
                <a:effectLst/>
                <a:latin typeface="+mn-lt"/>
              </a:rPr>
              <a:t>Mission</a:t>
            </a:r>
            <a:r>
              <a:rPr lang="en-US" sz="1550" b="1" i="0" dirty="0">
                <a:solidFill>
                  <a:srgbClr val="7030A0"/>
                </a:solidFill>
                <a:effectLst/>
                <a:latin typeface="+mn-lt"/>
              </a:rPr>
              <a:t>: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userDrawn="1"/>
        </p:nvSpPr>
        <p:spPr>
          <a:xfrm>
            <a:off x="4567782" y="1178740"/>
            <a:ext cx="4564358" cy="369332"/>
          </a:xfrm>
          <a:prstGeom prst="rect">
            <a:avLst/>
          </a:prstGeom>
          <a:noFill/>
        </p:spPr>
        <p:txBody>
          <a:bodyPr wrap="square" rtlCol="0">
            <a:spAutoFit/>
          </a:bodyPr>
          <a:lstStyle/>
          <a:p>
            <a:pPr algn="ctr"/>
            <a:r>
              <a:rPr lang="en-US" b="1" dirty="0">
                <a:solidFill>
                  <a:srgbClr val="FF000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userDrawn="1"/>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328111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500" fill="hold"/>
                                        <p:tgtEl>
                                          <p:spTgt spid="26"/>
                                        </p:tgtEl>
                                        <p:attrNameLst>
                                          <p:attrName>ppt_x</p:attrName>
                                        </p:attrNameLst>
                                      </p:cBhvr>
                                      <p:tavLst>
                                        <p:tav tm="0">
                                          <p:val>
                                            <p:strVal val="#ppt_x"/>
                                          </p:val>
                                        </p:tav>
                                        <p:tav tm="100000">
                                          <p:val>
                                            <p:strVal val="#ppt_x"/>
                                          </p:val>
                                        </p:tav>
                                      </p:tavLst>
                                    </p:anim>
                                    <p:anim calcmode="lin" valueType="num">
                                      <p:cBhvr additive="base">
                                        <p:cTn id="2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7" grpId="0"/>
      <p:bldP spid="22" grpId="0"/>
      <p:bldP spid="26" grpId="0"/>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olicies &amp; Evaluation">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userDrawn="1"/>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7371191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xam &amp; Evaluation Policies">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Master text styles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Master text styles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dirty="0"/>
              <a:t>CSC3113-Theory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userDrawn="1"/>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42388558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userDrawn="1"/>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2249023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userDrawn="1"/>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274895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userDrawn="1"/>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1644707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userDrawn="1"/>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673157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dirty="0"/>
              <a:t>CSC 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43178296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4" r:id="rId4"/>
    <p:sldLayoutId id="2147483705" r:id="rId5"/>
    <p:sldLayoutId id="2147483707" r:id="rId6"/>
    <p:sldLayoutId id="2147483708" r:id="rId7"/>
    <p:sldLayoutId id="2147483703" r:id="rId8"/>
    <p:sldLayoutId id="2147483709" r:id="rId9"/>
    <p:sldLayoutId id="2147483710" r:id="rId10"/>
    <p:sldLayoutId id="2147483732" r:id="rId11"/>
    <p:sldLayoutId id="2147483711" r:id="rId12"/>
    <p:sldLayoutId id="2147483712" r:id="rId13"/>
    <p:sldLayoutId id="2147483713" r:id="rId14"/>
    <p:sldLayoutId id="2147483733" r:id="rId15"/>
    <p:sldLayoutId id="2147483734" r:id="rId16"/>
    <p:sldLayoutId id="2147483735" r:id="rId17"/>
    <p:sldLayoutId id="2147483731" r:id="rId18"/>
    <p:sldLayoutId id="2147483727" r:id="rId19"/>
    <p:sldLayoutId id="2147483728" r:id="rId20"/>
    <p:sldLayoutId id="2147483729" r:id="rId21"/>
    <p:sldLayoutId id="2147483730" r:id="rId22"/>
    <p:sldLayoutId id="2147483719" r:id="rId23"/>
    <p:sldLayoutId id="2147483720" r:id="rId24"/>
    <p:sldLayoutId id="2147483721" r:id="rId25"/>
    <p:sldLayoutId id="2147483722" r:id="rId26"/>
    <p:sldLayoutId id="2147483723" r:id="rId27"/>
    <p:sldLayoutId id="2147483724" r:id="rId28"/>
    <p:sldLayoutId id="2147483698" r:id="rId29"/>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froza@aiub.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hyperlink" Target="CSC%203113%20Theory%20of%20Computation_Outline.pdf" TargetMode="Externa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hyperlink" Target="https://cstheory.stackexchange.com/a/14818" TargetMode="Externa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hyperlink" Target="Pre-requisite%20Reading-TOC_Papadimiriou_Ch_1.pdf" TargetMode="External"/><Relationship Id="rId2" Type="http://schemas.openxmlformats.org/officeDocument/2006/relationships/hyperlink" Target="Pre-requisite%20Reading-TOC_Sipser_Ch_1.pdf" TargetMode="External"/><Relationship Id="rId1" Type="http://schemas.openxmlformats.org/officeDocument/2006/relationships/slideLayout" Target="../slideLayouts/slideLayout8.xml"/><Relationship Id="rId4" Type="http://schemas.openxmlformats.org/officeDocument/2006/relationships/hyperlink" Target="CSC3113-Pre-requisite.pdf"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14EA1-FF1F-4C8C-953C-BFA5AD0EAB0F}"/>
              </a:ext>
            </a:extLst>
          </p:cNvPr>
          <p:cNvSpPr>
            <a:spLocks noGrp="1"/>
          </p:cNvSpPr>
          <p:nvPr>
            <p:ph type="ctrTitle"/>
          </p:nvPr>
        </p:nvSpPr>
        <p:spPr/>
        <p:txBody>
          <a:bodyPr/>
          <a:lstStyle/>
          <a:p>
            <a:r>
              <a:rPr lang="en-US" dirty="0">
                <a:solidFill>
                  <a:srgbClr val="FF0000"/>
                </a:solidFill>
              </a:rPr>
              <a:t>Introduction</a:t>
            </a:r>
          </a:p>
        </p:txBody>
      </p:sp>
      <p:sp>
        <p:nvSpPr>
          <p:cNvPr id="3" name="Content Placeholder 2">
            <a:extLst>
              <a:ext uri="{FF2B5EF4-FFF2-40B4-BE49-F238E27FC236}">
                <a16:creationId xmlns:a16="http://schemas.microsoft.com/office/drawing/2014/main" id="{F0053A0D-C7B3-4808-ABAF-AC6AFB2BEBE8}"/>
              </a:ext>
            </a:extLst>
          </p:cNvPr>
          <p:cNvSpPr>
            <a:spLocks noGrp="1"/>
          </p:cNvSpPr>
          <p:nvPr>
            <p:ph sz="quarter" idx="10"/>
          </p:nvPr>
        </p:nvSpPr>
        <p:spPr/>
        <p:txBody>
          <a:bodyPr/>
          <a:lstStyle/>
          <a:p>
            <a:r>
              <a:rPr lang="en-US" dirty="0"/>
              <a:t>CSC 2106: THEORY OF COMPUTATION </a:t>
            </a:r>
          </a:p>
        </p:txBody>
      </p:sp>
      <p:sp>
        <p:nvSpPr>
          <p:cNvPr id="4" name="Text Placeholder 3">
            <a:extLst>
              <a:ext uri="{FF2B5EF4-FFF2-40B4-BE49-F238E27FC236}">
                <a16:creationId xmlns:a16="http://schemas.microsoft.com/office/drawing/2014/main" id="{9464B0C3-2693-43F6-99F9-2EECD2D065A5}"/>
              </a:ext>
            </a:extLst>
          </p:cNvPr>
          <p:cNvSpPr>
            <a:spLocks noGrp="1"/>
          </p:cNvSpPr>
          <p:nvPr>
            <p:ph type="body" sz="quarter" idx="11"/>
          </p:nvPr>
        </p:nvSpPr>
        <p:spPr/>
        <p:txBody>
          <a:bodyPr/>
          <a:lstStyle/>
          <a:p>
            <a:r>
              <a:rPr lang="en-US" dirty="0"/>
              <a:t>1</a:t>
            </a:r>
          </a:p>
        </p:txBody>
      </p:sp>
      <p:sp>
        <p:nvSpPr>
          <p:cNvPr id="5" name="Text Placeholder 4">
            <a:extLst>
              <a:ext uri="{FF2B5EF4-FFF2-40B4-BE49-F238E27FC236}">
                <a16:creationId xmlns:a16="http://schemas.microsoft.com/office/drawing/2014/main" id="{AE9FE7D0-6EA7-4406-A508-3B009D2236D4}"/>
              </a:ext>
            </a:extLst>
          </p:cNvPr>
          <p:cNvSpPr>
            <a:spLocks noGrp="1"/>
          </p:cNvSpPr>
          <p:nvPr>
            <p:ph type="body" sz="quarter" idx="12"/>
          </p:nvPr>
        </p:nvSpPr>
        <p:spPr/>
        <p:txBody>
          <a:bodyPr/>
          <a:lstStyle/>
          <a:p>
            <a:r>
              <a:rPr lang="en-US" dirty="0"/>
              <a:t>1</a:t>
            </a:r>
          </a:p>
        </p:txBody>
      </p:sp>
      <p:sp>
        <p:nvSpPr>
          <p:cNvPr id="6" name="Text Placeholder 5">
            <a:extLst>
              <a:ext uri="{FF2B5EF4-FFF2-40B4-BE49-F238E27FC236}">
                <a16:creationId xmlns:a16="http://schemas.microsoft.com/office/drawing/2014/main" id="{3B6D3FE6-5ED9-41C9-BB8E-BB5A45BA42A1}"/>
              </a:ext>
            </a:extLst>
          </p:cNvPr>
          <p:cNvSpPr>
            <a:spLocks noGrp="1"/>
          </p:cNvSpPr>
          <p:nvPr>
            <p:ph type="body" sz="quarter" idx="13"/>
          </p:nvPr>
        </p:nvSpPr>
        <p:spPr/>
        <p:txBody>
          <a:bodyPr/>
          <a:lstStyle/>
          <a:p>
            <a:pPr algn="ctr"/>
            <a:r>
              <a:rPr lang="en-US"/>
              <a:t>Spring 2024 -20025</a:t>
            </a:r>
            <a:endParaRPr lang="en-US" dirty="0"/>
          </a:p>
        </p:txBody>
      </p:sp>
      <p:sp>
        <p:nvSpPr>
          <p:cNvPr id="7" name="Text Placeholder 6">
            <a:extLst>
              <a:ext uri="{FF2B5EF4-FFF2-40B4-BE49-F238E27FC236}">
                <a16:creationId xmlns:a16="http://schemas.microsoft.com/office/drawing/2014/main" id="{978D74E9-ADD8-4095-90A1-6502D4133F8E}"/>
              </a:ext>
            </a:extLst>
          </p:cNvPr>
          <p:cNvSpPr>
            <a:spLocks noGrp="1"/>
          </p:cNvSpPr>
          <p:nvPr>
            <p:ph type="body" sz="quarter" idx="14"/>
          </p:nvPr>
        </p:nvSpPr>
        <p:spPr/>
        <p:txBody>
          <a:bodyPr>
            <a:normAutofit fontScale="85000" lnSpcReduction="20000"/>
          </a:bodyPr>
          <a:lstStyle/>
          <a:p>
            <a:r>
              <a:rPr lang="en-US" dirty="0">
                <a:solidFill>
                  <a:srgbClr val="FF0000"/>
                </a:solidFill>
              </a:rPr>
              <a:t>Dr. Afroza Nahar</a:t>
            </a:r>
          </a:p>
          <a:p>
            <a:r>
              <a:rPr lang="en-US" dirty="0">
                <a:solidFill>
                  <a:srgbClr val="FF0000"/>
                </a:solidFill>
              </a:rPr>
              <a:t> </a:t>
            </a:r>
            <a:r>
              <a:rPr lang="en-US" dirty="0"/>
              <a:t>Professor, </a:t>
            </a:r>
            <a:r>
              <a:rPr lang="en-US" dirty="0">
                <a:solidFill>
                  <a:schemeClr val="tx1"/>
                </a:solidFill>
              </a:rPr>
              <a:t>Department of Computer Science, </a:t>
            </a:r>
          </a:p>
          <a:p>
            <a:r>
              <a:rPr lang="en-US" dirty="0">
                <a:solidFill>
                  <a:schemeClr val="tx1"/>
                </a:solidFill>
              </a:rPr>
              <a:t>Faculty of Science  and Technology.</a:t>
            </a:r>
          </a:p>
          <a:p>
            <a:r>
              <a:rPr lang="en-US" dirty="0">
                <a:solidFill>
                  <a:srgbClr val="FF0000"/>
                </a:solidFill>
                <a:hlinkClick r:id="rId3"/>
              </a:rPr>
              <a:t>afroza@aiub.edu</a:t>
            </a:r>
            <a:r>
              <a:rPr lang="en-US" dirty="0">
                <a:solidFill>
                  <a:srgbClr val="FF0000"/>
                </a:solidFill>
              </a:rPr>
              <a:t>, room no: DN0113</a:t>
            </a:r>
          </a:p>
        </p:txBody>
      </p:sp>
    </p:spTree>
    <p:extLst>
      <p:ext uri="{BB962C8B-B14F-4D97-AF65-F5344CB8AC3E}">
        <p14:creationId xmlns:p14="http://schemas.microsoft.com/office/powerpoint/2010/main" val="552491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2C4B66B-4102-4CEF-BA1F-EDC78CE5E9A4}"/>
              </a:ext>
            </a:extLst>
          </p:cNvPr>
          <p:cNvSpPr>
            <a:spLocks noGrp="1"/>
          </p:cNvSpPr>
          <p:nvPr>
            <p:ph type="ftr" sz="quarter" idx="11"/>
          </p:nvPr>
        </p:nvSpPr>
        <p:spPr/>
        <p:txBody>
          <a:bodyPr/>
          <a:lstStyle/>
          <a:p>
            <a:r>
              <a:rPr lang="en-US" dirty="0"/>
              <a:t>CSC3113-Theory of Computation</a:t>
            </a:r>
          </a:p>
        </p:txBody>
      </p:sp>
      <p:sp>
        <p:nvSpPr>
          <p:cNvPr id="3" name="Subtitle 2">
            <a:extLst>
              <a:ext uri="{FF2B5EF4-FFF2-40B4-BE49-F238E27FC236}">
                <a16:creationId xmlns:a16="http://schemas.microsoft.com/office/drawing/2014/main" id="{106A92DC-5CB6-47F1-991C-FD9CBD204FE2}"/>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BF77F311-76AF-473A-BEED-E7E6035DD22B}"/>
              </a:ext>
            </a:extLst>
          </p:cNvPr>
          <p:cNvSpPr>
            <a:spLocks noGrp="1"/>
          </p:cNvSpPr>
          <p:nvPr>
            <p:ph type="body" sz="quarter" idx="12"/>
          </p:nvPr>
        </p:nvSpPr>
        <p:spPr/>
        <p:txBody>
          <a:bodyPr/>
          <a:lstStyle/>
          <a:p>
            <a:pPr>
              <a:buClrTx/>
              <a:buFont typeface="Wingdings" panose="05000000000000000000" pitchFamily="2" charset="2"/>
              <a:buChar char="q"/>
            </a:pPr>
            <a:r>
              <a:rPr lang="en-US" dirty="0"/>
              <a:t>Mission and Vision</a:t>
            </a:r>
          </a:p>
          <a:p>
            <a:pPr>
              <a:buClrTx/>
              <a:buFont typeface="Wingdings" panose="05000000000000000000" pitchFamily="2" charset="2"/>
              <a:buChar char="q"/>
            </a:pPr>
            <a:r>
              <a:rPr lang="en-US" dirty="0">
                <a:solidFill>
                  <a:srgbClr val="004EA8"/>
                </a:solidFill>
              </a:rPr>
              <a:t>Learning Objective &amp; Outcome</a:t>
            </a:r>
          </a:p>
          <a:p>
            <a:pPr>
              <a:buClrTx/>
              <a:buFont typeface="Wingdings" panose="05000000000000000000" pitchFamily="2" charset="2"/>
              <a:buChar char="q"/>
            </a:pPr>
            <a:r>
              <a:rPr lang="en-US" dirty="0"/>
              <a:t>Class &amp; Course Policies</a:t>
            </a:r>
          </a:p>
          <a:p>
            <a:pPr>
              <a:buClrTx/>
              <a:buFont typeface="Wingdings" panose="05000000000000000000" pitchFamily="2" charset="2"/>
              <a:buChar char="q"/>
            </a:pPr>
            <a:r>
              <a:rPr lang="en-US" dirty="0">
                <a:solidFill>
                  <a:srgbClr val="004EA8"/>
                </a:solidFill>
              </a:rPr>
              <a:t>Exam &amp; Evaluation Policies</a:t>
            </a:r>
          </a:p>
          <a:p>
            <a:pPr>
              <a:buClrTx/>
              <a:buFont typeface="Wingdings" panose="05000000000000000000" pitchFamily="2" charset="2"/>
              <a:buChar char="q"/>
            </a:pPr>
            <a:r>
              <a:rPr lang="en-US" dirty="0"/>
              <a:t>Course Objective</a:t>
            </a:r>
          </a:p>
          <a:p>
            <a:pPr>
              <a:buClrTx/>
              <a:buFont typeface="Wingdings" panose="05000000000000000000" pitchFamily="2" charset="2"/>
              <a:buChar char="q"/>
            </a:pPr>
            <a:r>
              <a:rPr lang="en-US" dirty="0">
                <a:solidFill>
                  <a:srgbClr val="004EA8"/>
                </a:solidFill>
              </a:rPr>
              <a:t>Course Outcome</a:t>
            </a:r>
          </a:p>
          <a:p>
            <a:pPr>
              <a:buClrTx/>
              <a:buFont typeface="Wingdings" panose="05000000000000000000" pitchFamily="2" charset="2"/>
              <a:buChar char="q"/>
            </a:pPr>
            <a:r>
              <a:rPr lang="en-US" dirty="0"/>
              <a:t>Course Outline</a:t>
            </a:r>
          </a:p>
          <a:p>
            <a:pPr>
              <a:buClrTx/>
              <a:buFont typeface="Wingdings" panose="05000000000000000000" pitchFamily="2" charset="2"/>
              <a:buChar char="q"/>
            </a:pPr>
            <a:r>
              <a:rPr lang="en-US" dirty="0">
                <a:solidFill>
                  <a:srgbClr val="004EA8"/>
                </a:solidFill>
              </a:rPr>
              <a:t>Pre-requisite</a:t>
            </a:r>
          </a:p>
          <a:p>
            <a:pPr>
              <a:buClrTx/>
              <a:buFont typeface="Wingdings" panose="05000000000000000000" pitchFamily="2" charset="2"/>
              <a:buChar char="q"/>
            </a:pPr>
            <a:r>
              <a:rPr lang="en-US" dirty="0"/>
              <a:t>Introduction to Theory of Computation</a:t>
            </a:r>
          </a:p>
          <a:p>
            <a:pPr>
              <a:buFont typeface="Wingdings" panose="05000000000000000000" pitchFamily="2" charset="2"/>
              <a:buChar char="q"/>
            </a:pPr>
            <a:endParaRPr lang="en-US" dirty="0"/>
          </a:p>
        </p:txBody>
      </p:sp>
    </p:spTree>
    <p:extLst>
      <p:ext uri="{BB962C8B-B14F-4D97-AF65-F5344CB8AC3E}">
        <p14:creationId xmlns:p14="http://schemas.microsoft.com/office/powerpoint/2010/main" val="3745005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
                                            <p:txEl>
                                              <p:pRg st="6" end="6"/>
                                            </p:txEl>
                                          </p:spTgt>
                                        </p:tgtEl>
                                        <p:attrNameLst>
                                          <p:attrName>style.visibility</p:attrName>
                                        </p:attrNameLst>
                                      </p:cBhvr>
                                      <p:to>
                                        <p:strVal val="visible"/>
                                      </p:to>
                                    </p:set>
                                    <p:animEffect transition="in" filter="fade">
                                      <p:cBhvr>
                                        <p:cTn id="36" dur="500"/>
                                        <p:tgtEl>
                                          <p:spTgt spid="4">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animEffect transition="in" filter="fade">
                                      <p:cBhvr>
                                        <p:cTn id="41" dur="500"/>
                                        <p:tgtEl>
                                          <p:spTgt spid="4">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4">
                                            <p:txEl>
                                              <p:pRg st="8" end="8"/>
                                            </p:txEl>
                                          </p:spTgt>
                                        </p:tgtEl>
                                        <p:attrNameLst>
                                          <p:attrName>style.visibility</p:attrName>
                                        </p:attrNameLst>
                                      </p:cBhvr>
                                      <p:to>
                                        <p:strVal val="visible"/>
                                      </p:to>
                                    </p:set>
                                    <p:animEffect transition="in" filter="fade">
                                      <p:cBhvr>
                                        <p:cTn id="46"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F07A556-F248-41B1-8A63-F983B9CF52DA}"/>
              </a:ext>
            </a:extLst>
          </p:cNvPr>
          <p:cNvSpPr>
            <a:spLocks noGrp="1"/>
          </p:cNvSpPr>
          <p:nvPr>
            <p:ph type="ftr" sz="quarter" idx="11"/>
          </p:nvPr>
        </p:nvSpPr>
        <p:spPr/>
        <p:txBody>
          <a:bodyPr/>
          <a:lstStyle/>
          <a:p>
            <a:r>
              <a:rPr lang="en-US"/>
              <a:t>CSC3113-Theory of Computation</a:t>
            </a:r>
          </a:p>
        </p:txBody>
      </p:sp>
      <p:sp>
        <p:nvSpPr>
          <p:cNvPr id="2" name="Subtitle 1">
            <a:extLst>
              <a:ext uri="{FF2B5EF4-FFF2-40B4-BE49-F238E27FC236}">
                <a16:creationId xmlns:a16="http://schemas.microsoft.com/office/drawing/2014/main" id="{D46CD3E8-BF4E-4186-B16D-177F1F95AED1}"/>
              </a:ext>
            </a:extLst>
          </p:cNvPr>
          <p:cNvSpPr>
            <a:spLocks noGrp="1"/>
          </p:cNvSpPr>
          <p:nvPr>
            <p:ph type="subTitle" idx="1"/>
          </p:nvPr>
        </p:nvSpPr>
        <p:spPr/>
        <p:txBody>
          <a:bodyPr/>
          <a:lstStyle/>
          <a:p>
            <a:r>
              <a:rPr lang="en-US" dirty="0"/>
              <a:t>Welcome &amp; Introduction</a:t>
            </a:r>
          </a:p>
        </p:txBody>
      </p:sp>
      <p:sp>
        <p:nvSpPr>
          <p:cNvPr id="3" name="Text Placeholder 2">
            <a:extLst>
              <a:ext uri="{FF2B5EF4-FFF2-40B4-BE49-F238E27FC236}">
                <a16:creationId xmlns:a16="http://schemas.microsoft.com/office/drawing/2014/main" id="{A657580F-A2A0-41CC-8C10-BD4292BAF3AA}"/>
              </a:ext>
            </a:extLst>
          </p:cNvPr>
          <p:cNvSpPr>
            <a:spLocks noGrp="1"/>
          </p:cNvSpPr>
          <p:nvPr>
            <p:ph type="body" sz="quarter" idx="12"/>
          </p:nvPr>
        </p:nvSpPr>
        <p:spPr/>
        <p:txBody>
          <a:bodyPr/>
          <a:lstStyle/>
          <a:p>
            <a:pPr>
              <a:spcAft>
                <a:spcPts val="1800"/>
              </a:spcAft>
              <a:buClrTx/>
              <a:buFont typeface="Wingdings" panose="05000000000000000000" pitchFamily="2" charset="2"/>
              <a:buChar char="q"/>
            </a:pPr>
            <a:r>
              <a:rPr lang="en-US" dirty="0"/>
              <a:t>To know the vision &amp; mission of AIUB and the FST.</a:t>
            </a:r>
          </a:p>
          <a:p>
            <a:pPr>
              <a:spcAft>
                <a:spcPts val="1800"/>
              </a:spcAft>
              <a:buClrTx/>
              <a:buFont typeface="Wingdings" panose="05000000000000000000" pitchFamily="2" charset="2"/>
              <a:buChar char="q"/>
            </a:pPr>
            <a:r>
              <a:rPr lang="en-US" dirty="0">
                <a:solidFill>
                  <a:srgbClr val="004EA8"/>
                </a:solidFill>
              </a:rPr>
              <a:t>To understand the policies regarding class, course, exam and evaluation.</a:t>
            </a:r>
          </a:p>
          <a:p>
            <a:pPr>
              <a:spcAft>
                <a:spcPts val="1800"/>
              </a:spcAft>
              <a:buClrTx/>
              <a:buFont typeface="Wingdings" panose="05000000000000000000" pitchFamily="2" charset="2"/>
              <a:buChar char="q"/>
            </a:pPr>
            <a:r>
              <a:rPr lang="en-US" dirty="0"/>
              <a:t>To grasp the course content, outline, objective &amp; outcome as a whole.</a:t>
            </a:r>
          </a:p>
          <a:p>
            <a:pPr>
              <a:spcAft>
                <a:spcPts val="1800"/>
              </a:spcAft>
              <a:buClrTx/>
              <a:buFont typeface="Wingdings" panose="05000000000000000000" pitchFamily="2" charset="2"/>
              <a:buChar char="q"/>
            </a:pPr>
            <a:r>
              <a:rPr lang="en-US" dirty="0">
                <a:solidFill>
                  <a:srgbClr val="004EA8"/>
                </a:solidFill>
              </a:rPr>
              <a:t>To prepare with the pre-requisite course/topic for this course.</a:t>
            </a:r>
          </a:p>
          <a:p>
            <a:pPr>
              <a:spcAft>
                <a:spcPts val="1800"/>
              </a:spcAft>
              <a:buClrTx/>
              <a:buFont typeface="Wingdings" panose="05000000000000000000" pitchFamily="2" charset="2"/>
              <a:buChar char="q"/>
            </a:pPr>
            <a:r>
              <a:rPr lang="en-US" dirty="0"/>
              <a:t>Introduction to the course Theory of Computation.</a:t>
            </a:r>
          </a:p>
        </p:txBody>
      </p:sp>
    </p:spTree>
    <p:extLst>
      <p:ext uri="{BB962C8B-B14F-4D97-AF65-F5344CB8AC3E}">
        <p14:creationId xmlns:p14="http://schemas.microsoft.com/office/powerpoint/2010/main" val="471307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15004EC-FF85-4296-B6D6-4524CC255E5D}"/>
              </a:ext>
            </a:extLst>
          </p:cNvPr>
          <p:cNvSpPr>
            <a:spLocks noGrp="1"/>
          </p:cNvSpPr>
          <p:nvPr>
            <p:ph type="ftr" sz="quarter" idx="11"/>
          </p:nvPr>
        </p:nvSpPr>
        <p:spPr/>
        <p:txBody>
          <a:bodyPr/>
          <a:lstStyle/>
          <a:p>
            <a:r>
              <a:rPr lang="en-US"/>
              <a:t>CSC3113-Theory of Computation</a:t>
            </a:r>
          </a:p>
        </p:txBody>
      </p:sp>
      <p:sp>
        <p:nvSpPr>
          <p:cNvPr id="2" name="Subtitle 1">
            <a:extLst>
              <a:ext uri="{FF2B5EF4-FFF2-40B4-BE49-F238E27FC236}">
                <a16:creationId xmlns:a16="http://schemas.microsoft.com/office/drawing/2014/main" id="{004D9AA3-9712-4F7A-947F-35C517CE2B1D}"/>
              </a:ext>
            </a:extLst>
          </p:cNvPr>
          <p:cNvSpPr>
            <a:spLocks noGrp="1"/>
          </p:cNvSpPr>
          <p:nvPr>
            <p:ph type="subTitle" idx="1"/>
          </p:nvPr>
        </p:nvSpPr>
        <p:spPr/>
        <p:txBody>
          <a:bodyPr/>
          <a:lstStyle/>
          <a:p>
            <a:r>
              <a:rPr lang="en-US" dirty="0"/>
              <a:t>Welcome &amp; Introduction</a:t>
            </a:r>
          </a:p>
        </p:txBody>
      </p:sp>
      <p:sp>
        <p:nvSpPr>
          <p:cNvPr id="3" name="Text Placeholder 2">
            <a:extLst>
              <a:ext uri="{FF2B5EF4-FFF2-40B4-BE49-F238E27FC236}">
                <a16:creationId xmlns:a16="http://schemas.microsoft.com/office/drawing/2014/main" id="{4D97C0ED-AFC6-4514-AD50-552DA3738EAF}"/>
              </a:ext>
            </a:extLst>
          </p:cNvPr>
          <p:cNvSpPr>
            <a:spLocks noGrp="1"/>
          </p:cNvSpPr>
          <p:nvPr>
            <p:ph type="body" sz="quarter" idx="12"/>
          </p:nvPr>
        </p:nvSpPr>
        <p:spPr/>
        <p:txBody>
          <a:bodyPr>
            <a:normAutofit fontScale="85000" lnSpcReduction="10000"/>
          </a:bodyPr>
          <a:lstStyle/>
          <a:p>
            <a:pPr>
              <a:buClrTx/>
              <a:buFont typeface="Wingdings" panose="05000000000000000000" pitchFamily="2" charset="2"/>
              <a:buChar char="q"/>
            </a:pPr>
            <a:r>
              <a:rPr lang="en-US" dirty="0">
                <a:solidFill>
                  <a:srgbClr val="FF0000"/>
                </a:solidFill>
              </a:rPr>
              <a:t>Students will understand the vision &amp; mission of the university and the faculty the belong to.</a:t>
            </a:r>
          </a:p>
          <a:p>
            <a:pPr>
              <a:buClrTx/>
              <a:buFont typeface="Wingdings" panose="05000000000000000000" pitchFamily="2" charset="2"/>
              <a:buChar char="q"/>
            </a:pPr>
            <a:r>
              <a:rPr lang="en-US" b="1" dirty="0">
                <a:solidFill>
                  <a:srgbClr val="004EA8"/>
                </a:solidFill>
              </a:rPr>
              <a:t>Students will know the policies regarding – </a:t>
            </a:r>
          </a:p>
          <a:p>
            <a:pPr lvl="1">
              <a:buFont typeface="Wingdings" panose="05000000000000000000" pitchFamily="2" charset="2"/>
              <a:buChar char="Ø"/>
            </a:pPr>
            <a:r>
              <a:rPr lang="en-US" dirty="0"/>
              <a:t>Class attendance; Classroom behavior &amp; interaction; Q/A session rules</a:t>
            </a:r>
          </a:p>
          <a:p>
            <a:pPr lvl="1">
              <a:buFont typeface="Wingdings" panose="05000000000000000000" pitchFamily="2" charset="2"/>
              <a:buChar char="Ø"/>
            </a:pPr>
            <a:r>
              <a:rPr lang="en-US" dirty="0"/>
              <a:t>Outside class interaction, consultation and communication.</a:t>
            </a:r>
          </a:p>
          <a:p>
            <a:pPr lvl="1">
              <a:buFont typeface="Wingdings" panose="05000000000000000000" pitchFamily="2" charset="2"/>
              <a:buChar char="Ø"/>
            </a:pPr>
            <a:r>
              <a:rPr lang="en-US" dirty="0"/>
              <a:t>Exams/viva/assignment… overall assessment policies and marks distribution</a:t>
            </a:r>
          </a:p>
          <a:p>
            <a:pPr>
              <a:buClrTx/>
              <a:buFont typeface="Wingdings" panose="05000000000000000000" pitchFamily="2" charset="2"/>
              <a:buChar char="q"/>
            </a:pPr>
            <a:r>
              <a:rPr lang="en-US" b="1" dirty="0">
                <a:solidFill>
                  <a:srgbClr val="004EA8"/>
                </a:solidFill>
              </a:rPr>
              <a:t>Students will have a clear idea about the – </a:t>
            </a:r>
          </a:p>
          <a:p>
            <a:pPr lvl="1">
              <a:buFont typeface="Wingdings" panose="05000000000000000000" pitchFamily="2" charset="2"/>
              <a:buChar char="Ø"/>
            </a:pPr>
            <a:r>
              <a:rPr lang="en-US" dirty="0"/>
              <a:t>Objective and outcome of the course; Course outline/syllabus</a:t>
            </a:r>
          </a:p>
          <a:p>
            <a:pPr lvl="1">
              <a:buFont typeface="Wingdings" panose="05000000000000000000" pitchFamily="2" charset="2"/>
              <a:buChar char="Ø"/>
            </a:pPr>
            <a:r>
              <a:rPr lang="en-US" dirty="0"/>
              <a:t>Weekly distribution of the topics; Books and references</a:t>
            </a:r>
          </a:p>
          <a:p>
            <a:pPr lvl="1">
              <a:buFont typeface="Wingdings" panose="05000000000000000000" pitchFamily="2" charset="2"/>
              <a:buChar char="Ø"/>
            </a:pPr>
            <a:r>
              <a:rPr lang="en-US" dirty="0"/>
              <a:t>Pre-requisite course/topics provided as a reading material</a:t>
            </a:r>
          </a:p>
          <a:p>
            <a:pPr>
              <a:spcBef>
                <a:spcPts val="1800"/>
              </a:spcBef>
              <a:buClrTx/>
              <a:buFont typeface="Wingdings" panose="05000000000000000000" pitchFamily="2" charset="2"/>
              <a:buChar char="q"/>
            </a:pPr>
            <a:r>
              <a:rPr lang="en-US" b="1" dirty="0">
                <a:solidFill>
                  <a:srgbClr val="004EA8"/>
                </a:solidFill>
              </a:rPr>
              <a:t>A brief introduction about “Theory” and “Computation” in computer science.</a:t>
            </a:r>
          </a:p>
        </p:txBody>
      </p:sp>
    </p:spTree>
    <p:extLst>
      <p:ext uri="{BB962C8B-B14F-4D97-AF65-F5344CB8AC3E}">
        <p14:creationId xmlns:p14="http://schemas.microsoft.com/office/powerpoint/2010/main" val="4055806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500"/>
                                        <p:tgtEl>
                                          <p:spTgt spid="3">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500"/>
                                        <p:tgtEl>
                                          <p:spTgt spid="3">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3651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B74E80-499B-48E8-AED0-54A3C0C2E7CF}"/>
              </a:ext>
            </a:extLst>
          </p:cNvPr>
          <p:cNvSpPr>
            <a:spLocks noGrp="1"/>
          </p:cNvSpPr>
          <p:nvPr>
            <p:ph sz="half" idx="1"/>
          </p:nvPr>
        </p:nvSpPr>
        <p:spPr/>
        <p:txBody>
          <a:bodyPr>
            <a:normAutofit fontScale="92500" lnSpcReduction="10000"/>
          </a:bodyPr>
          <a:lstStyle/>
          <a:p>
            <a:pPr algn="just">
              <a:spcBef>
                <a:spcPts val="0"/>
              </a:spcBef>
              <a:spcAft>
                <a:spcPts val="1200"/>
              </a:spcAft>
              <a:buClrTx/>
              <a:buFont typeface="Wingdings" panose="05000000000000000000" pitchFamily="2" charset="2"/>
              <a:buChar char="q"/>
            </a:pPr>
            <a:r>
              <a:rPr lang="en-US" sz="1600" dirty="0"/>
              <a:t>At least 80% presence. Auto/manually attendance is taken via TEAMS.</a:t>
            </a:r>
          </a:p>
          <a:p>
            <a:pPr algn="just">
              <a:spcBef>
                <a:spcPts val="0"/>
              </a:spcBef>
              <a:spcAft>
                <a:spcPts val="1200"/>
              </a:spcAft>
              <a:buClrTx/>
              <a:buFont typeface="Wingdings" panose="05000000000000000000" pitchFamily="2" charset="2"/>
              <a:buChar char="q"/>
            </a:pPr>
            <a:r>
              <a:rPr lang="en-US" sz="1600" dirty="0">
                <a:solidFill>
                  <a:srgbClr val="004EA8"/>
                </a:solidFill>
              </a:rPr>
              <a:t>Go through the topics before attending the class (from course outline).</a:t>
            </a:r>
          </a:p>
          <a:p>
            <a:pPr algn="just">
              <a:spcBef>
                <a:spcPts val="0"/>
              </a:spcBef>
              <a:spcAft>
                <a:spcPts val="1200"/>
              </a:spcAft>
              <a:buClrTx/>
              <a:buFont typeface="Wingdings" panose="05000000000000000000" pitchFamily="2" charset="2"/>
              <a:buChar char="q"/>
            </a:pPr>
            <a:r>
              <a:rPr lang="en-US" sz="1600" dirty="0"/>
              <a:t>First 10 minutes of the class will be question/answer session of previous class topics.</a:t>
            </a:r>
          </a:p>
          <a:p>
            <a:pPr algn="just">
              <a:spcBef>
                <a:spcPts val="0"/>
              </a:spcBef>
              <a:spcAft>
                <a:spcPts val="1200"/>
              </a:spcAft>
              <a:buClrTx/>
              <a:buFont typeface="Wingdings" panose="05000000000000000000" pitchFamily="2" charset="2"/>
              <a:buChar char="q"/>
            </a:pPr>
            <a:r>
              <a:rPr lang="en-US" sz="1600" dirty="0">
                <a:solidFill>
                  <a:srgbClr val="004EA8"/>
                </a:solidFill>
              </a:rPr>
              <a:t>Every 20-25 minutes of the lecture, you will be given time to ask questions. </a:t>
            </a:r>
          </a:p>
          <a:p>
            <a:pPr algn="just">
              <a:spcBef>
                <a:spcPts val="0"/>
              </a:spcBef>
              <a:spcAft>
                <a:spcPts val="1200"/>
              </a:spcAft>
              <a:buClrTx/>
              <a:buFont typeface="Wingdings" panose="05000000000000000000" pitchFamily="2" charset="2"/>
              <a:buChar char="q"/>
            </a:pPr>
            <a:r>
              <a:rPr lang="en-US" sz="1600" dirty="0"/>
              <a:t>Use the “Raise Hand” option to ask question. </a:t>
            </a:r>
          </a:p>
          <a:p>
            <a:pPr algn="just">
              <a:spcBef>
                <a:spcPts val="0"/>
              </a:spcBef>
              <a:spcAft>
                <a:spcPts val="1200"/>
              </a:spcAft>
              <a:buClrTx/>
              <a:buFont typeface="Wingdings" panose="05000000000000000000" pitchFamily="2" charset="2"/>
              <a:buChar char="q"/>
            </a:pPr>
            <a:r>
              <a:rPr lang="en-US" sz="1600" dirty="0">
                <a:solidFill>
                  <a:srgbClr val="004EA8"/>
                </a:solidFill>
              </a:rPr>
              <a:t>Outside class for any unresolved issue, </a:t>
            </a:r>
          </a:p>
          <a:p>
            <a:pPr lvl="1" algn="just">
              <a:spcBef>
                <a:spcPts val="0"/>
              </a:spcBef>
              <a:spcAft>
                <a:spcPts val="1200"/>
              </a:spcAft>
              <a:buFont typeface="Wingdings" panose="05000000000000000000" pitchFamily="2" charset="2"/>
              <a:buChar char="Ø"/>
            </a:pPr>
            <a:r>
              <a:rPr lang="en-US" sz="1600" dirty="0"/>
              <a:t>Consultation time will be provided. Make use of these times.</a:t>
            </a:r>
          </a:p>
          <a:p>
            <a:pPr lvl="1" algn="just">
              <a:spcBef>
                <a:spcPts val="0"/>
              </a:spcBef>
              <a:spcAft>
                <a:spcPts val="1200"/>
              </a:spcAft>
              <a:buFont typeface="Wingdings" panose="05000000000000000000" pitchFamily="2" charset="2"/>
              <a:buChar char="Ø"/>
            </a:pPr>
            <a:r>
              <a:rPr lang="en-US" sz="1600" dirty="0">
                <a:solidFill>
                  <a:srgbClr val="004EA8"/>
                </a:solidFill>
              </a:rPr>
              <a:t>Use the TEAMS message box for appointment</a:t>
            </a:r>
          </a:p>
          <a:p>
            <a:pPr lvl="1" algn="just">
              <a:spcBef>
                <a:spcPts val="0"/>
              </a:spcBef>
              <a:spcAft>
                <a:spcPts val="1200"/>
              </a:spcAft>
              <a:buFont typeface="Wingdings" panose="05000000000000000000" pitchFamily="2" charset="2"/>
              <a:buChar char="Ø"/>
            </a:pPr>
            <a:r>
              <a:rPr lang="en-US" sz="1600" dirty="0"/>
              <a:t>You may also post your (topic related) questions on the chat/message option in TEAMS course group. Any student is allowed to answer/discuss the questions.</a:t>
            </a:r>
            <a:endParaRPr lang="en-US" sz="1600" b="1" dirty="0"/>
          </a:p>
          <a:p>
            <a:pPr>
              <a:spcBef>
                <a:spcPts val="0"/>
              </a:spcBef>
              <a:spcAft>
                <a:spcPts val="1200"/>
              </a:spcAft>
            </a:pPr>
            <a:endParaRPr lang="en-US" dirty="0"/>
          </a:p>
        </p:txBody>
      </p:sp>
      <p:sp>
        <p:nvSpPr>
          <p:cNvPr id="3" name="Content Placeholder 2">
            <a:extLst>
              <a:ext uri="{FF2B5EF4-FFF2-40B4-BE49-F238E27FC236}">
                <a16:creationId xmlns:a16="http://schemas.microsoft.com/office/drawing/2014/main" id="{DB4FE948-EEAC-4200-911A-8097278BCD6C}"/>
              </a:ext>
            </a:extLst>
          </p:cNvPr>
          <p:cNvSpPr>
            <a:spLocks noGrp="1"/>
          </p:cNvSpPr>
          <p:nvPr>
            <p:ph sz="half" idx="2"/>
          </p:nvPr>
        </p:nvSpPr>
        <p:spPr/>
        <p:txBody>
          <a:bodyPr/>
          <a:lstStyle/>
          <a:p>
            <a:pPr algn="just">
              <a:spcAft>
                <a:spcPts val="1200"/>
              </a:spcAft>
              <a:buFont typeface="Wingdings" panose="05000000000000000000" pitchFamily="2" charset="2"/>
              <a:buChar char="q"/>
            </a:pPr>
            <a:r>
              <a:rPr lang="en-US" sz="1600" b="1" dirty="0">
                <a:solidFill>
                  <a:srgbClr val="FF0000"/>
                </a:solidFill>
              </a:rPr>
              <a:t>REMEMBER: </a:t>
            </a:r>
          </a:p>
          <a:p>
            <a:pPr lvl="1" algn="just">
              <a:spcAft>
                <a:spcPts val="1200"/>
              </a:spcAft>
              <a:buFont typeface="Wingdings" panose="05000000000000000000" pitchFamily="2" charset="2"/>
              <a:buChar char="Ø"/>
            </a:pPr>
            <a:r>
              <a:rPr lang="en-US" sz="1600" b="1" dirty="0"/>
              <a:t>Your feedback is the key to the completion of this course successfully.</a:t>
            </a:r>
          </a:p>
          <a:p>
            <a:pPr lvl="1" algn="just">
              <a:spcAft>
                <a:spcPts val="1200"/>
              </a:spcAft>
              <a:buFont typeface="Wingdings" panose="05000000000000000000" pitchFamily="2" charset="2"/>
              <a:buChar char="Ø"/>
            </a:pPr>
            <a:r>
              <a:rPr lang="en-US" sz="1600" b="1" dirty="0">
                <a:solidFill>
                  <a:srgbClr val="004EA8"/>
                </a:solidFill>
              </a:rPr>
              <a:t>After a topic is completed, prepare &amp; ask QUESTIONS (during/after the class). </a:t>
            </a:r>
          </a:p>
          <a:p>
            <a:pPr lvl="1" algn="just">
              <a:spcAft>
                <a:spcPts val="1200"/>
              </a:spcAft>
              <a:buFont typeface="Wingdings" panose="05000000000000000000" pitchFamily="2" charset="2"/>
              <a:buChar char="Ø"/>
            </a:pPr>
            <a:r>
              <a:rPr lang="en-US" sz="1600" b="1" dirty="0">
                <a:solidFill>
                  <a:srgbClr val="FF0000"/>
                </a:solidFill>
              </a:rPr>
              <a:t>REPETATION</a:t>
            </a:r>
            <a:r>
              <a:rPr lang="en-US" sz="1600" b="1" dirty="0"/>
              <a:t> is never a good solution as the lecture you heard before will be said again. To answer a question the teacher may repeat the topic in a different way as per your question.</a:t>
            </a:r>
            <a:endParaRPr lang="en-US" sz="1600" dirty="0"/>
          </a:p>
          <a:p>
            <a:pPr>
              <a:spcAft>
                <a:spcPts val="1200"/>
              </a:spcAft>
            </a:pPr>
            <a:endParaRPr lang="en-US" dirty="0"/>
          </a:p>
        </p:txBody>
      </p:sp>
      <p:sp>
        <p:nvSpPr>
          <p:cNvPr id="7" name="Footer Placeholder 6">
            <a:extLst>
              <a:ext uri="{FF2B5EF4-FFF2-40B4-BE49-F238E27FC236}">
                <a16:creationId xmlns:a16="http://schemas.microsoft.com/office/drawing/2014/main" id="{9603880A-5061-4B8B-8FDC-CD10915A5515}"/>
              </a:ext>
            </a:extLst>
          </p:cNvPr>
          <p:cNvSpPr>
            <a:spLocks noGrp="1"/>
          </p:cNvSpPr>
          <p:nvPr>
            <p:ph type="ftr" sz="quarter" idx="11"/>
          </p:nvPr>
        </p:nvSpPr>
        <p:spPr/>
        <p:txBody>
          <a:bodyPr/>
          <a:lstStyle/>
          <a:p>
            <a:r>
              <a:rPr lang="en-US"/>
              <a:t>CSC3113-Theory of Computation</a:t>
            </a:r>
          </a:p>
        </p:txBody>
      </p:sp>
    </p:spTree>
    <p:extLst>
      <p:ext uri="{BB962C8B-B14F-4D97-AF65-F5344CB8AC3E}">
        <p14:creationId xmlns:p14="http://schemas.microsoft.com/office/powerpoint/2010/main" val="717317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
                                            <p:txEl>
                                              <p:pRg st="0" end="0"/>
                                            </p:txEl>
                                          </p:spTgt>
                                        </p:tgtEl>
                                        <p:attrNameLst>
                                          <p:attrName>style.visibility</p:attrName>
                                        </p:attrNameLst>
                                      </p:cBhvr>
                                      <p:to>
                                        <p:strVal val="visible"/>
                                      </p:to>
                                    </p:set>
                                    <p:animEffect transition="in" filter="fade">
                                      <p:cBhvr>
                                        <p:cTn id="43" dur="1000"/>
                                        <p:tgtEl>
                                          <p:spTgt spid="3">
                                            <p:txEl>
                                              <p:pRg st="0" end="0"/>
                                            </p:txEl>
                                          </p:spTgt>
                                        </p:tgtEl>
                                      </p:cBhvr>
                                    </p:animEffect>
                                    <p:anim calcmode="lin" valueType="num">
                                      <p:cBhvr>
                                        <p:cTn id="4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
                                            <p:txEl>
                                              <p:pRg st="1" end="1"/>
                                            </p:txEl>
                                          </p:spTgt>
                                        </p:tgtEl>
                                        <p:attrNameLst>
                                          <p:attrName>style.visibility</p:attrName>
                                        </p:attrNameLst>
                                      </p:cBhvr>
                                      <p:to>
                                        <p:strVal val="visible"/>
                                      </p:to>
                                    </p:set>
                                    <p:animEffect transition="in" filter="fade">
                                      <p:cBhvr>
                                        <p:cTn id="50" dur="500"/>
                                        <p:tgtEl>
                                          <p:spTgt spid="3">
                                            <p:txEl>
                                              <p:pRg st="1" end="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
                                            <p:txEl>
                                              <p:pRg st="2" end="2"/>
                                            </p:txEl>
                                          </p:spTgt>
                                        </p:tgtEl>
                                        <p:attrNameLst>
                                          <p:attrName>style.visibility</p:attrName>
                                        </p:attrNameLst>
                                      </p:cBhvr>
                                      <p:to>
                                        <p:strVal val="visible"/>
                                      </p:to>
                                    </p:set>
                                    <p:animEffect transition="in" filter="fade">
                                      <p:cBhvr>
                                        <p:cTn id="55" dur="500"/>
                                        <p:tgtEl>
                                          <p:spTgt spid="3">
                                            <p:txEl>
                                              <p:pRg st="2" end="2"/>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
                                            <p:txEl>
                                              <p:pRg st="3" end="3"/>
                                            </p:txEl>
                                          </p:spTgt>
                                        </p:tgtEl>
                                        <p:attrNameLst>
                                          <p:attrName>style.visibility</p:attrName>
                                        </p:attrNameLst>
                                      </p:cBhvr>
                                      <p:to>
                                        <p:strVal val="visible"/>
                                      </p:to>
                                    </p:set>
                                    <p:animEffect transition="in" filter="fade">
                                      <p:cBhvr>
                                        <p:cTn id="6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B06E18-26FD-4901-8CB4-621DE8113661}"/>
              </a:ext>
            </a:extLst>
          </p:cNvPr>
          <p:cNvSpPr>
            <a:spLocks noGrp="1"/>
          </p:cNvSpPr>
          <p:nvPr>
            <p:ph type="body" idx="1"/>
          </p:nvPr>
        </p:nvSpPr>
        <p:spPr>
          <a:xfrm>
            <a:off x="0" y="1291790"/>
            <a:ext cx="4476198" cy="462059"/>
          </a:xfrm>
        </p:spPr>
        <p:txBody>
          <a:bodyPr/>
          <a:lstStyle/>
          <a:p>
            <a:r>
              <a:rPr lang="en-US" dirty="0">
                <a:solidFill>
                  <a:srgbClr val="FF0000"/>
                </a:solidFill>
              </a:rPr>
              <a:t>Exam Policies</a:t>
            </a:r>
          </a:p>
        </p:txBody>
      </p:sp>
      <p:sp>
        <p:nvSpPr>
          <p:cNvPr id="3" name="Content Placeholder 2">
            <a:extLst>
              <a:ext uri="{FF2B5EF4-FFF2-40B4-BE49-F238E27FC236}">
                <a16:creationId xmlns:a16="http://schemas.microsoft.com/office/drawing/2014/main" id="{54178807-9FA4-42EA-8D19-64CD9D259D94}"/>
              </a:ext>
            </a:extLst>
          </p:cNvPr>
          <p:cNvSpPr>
            <a:spLocks noGrp="1"/>
          </p:cNvSpPr>
          <p:nvPr>
            <p:ph sz="half" idx="2"/>
          </p:nvPr>
        </p:nvSpPr>
        <p:spPr>
          <a:xfrm>
            <a:off x="0" y="1788910"/>
            <a:ext cx="4476198" cy="4675836"/>
          </a:xfrm>
        </p:spPr>
        <p:txBody>
          <a:bodyPr>
            <a:normAutofit fontScale="92500"/>
          </a:bodyPr>
          <a:lstStyle/>
          <a:p>
            <a:pPr algn="just">
              <a:buClrTx/>
              <a:buFont typeface="Wingdings" panose="05000000000000000000" pitchFamily="2" charset="2"/>
              <a:buChar char="q"/>
            </a:pPr>
            <a:r>
              <a:rPr lang="en-US" dirty="0">
                <a:solidFill>
                  <a:srgbClr val="004EA8"/>
                </a:solidFill>
              </a:rPr>
              <a:t>There will be at least one assessment (quiz/assignment/viva) each week. Most assignment &amp; quiz will be problem solving in nature. Quiz may also contain theoretical questions</a:t>
            </a:r>
            <a:r>
              <a:rPr lang="en-US" dirty="0"/>
              <a:t>.</a:t>
            </a:r>
          </a:p>
          <a:p>
            <a:pPr algn="just">
              <a:buClrTx/>
              <a:buFont typeface="Wingdings" panose="05000000000000000000" pitchFamily="2" charset="2"/>
              <a:buChar char="q"/>
            </a:pPr>
            <a:r>
              <a:rPr lang="en-US" dirty="0"/>
              <a:t>Mid Semester assessment and Final Assessment will consist of Assignment,  Exam &amp; Viva on the defined week in the academic calendar.</a:t>
            </a:r>
          </a:p>
          <a:p>
            <a:pPr algn="just">
              <a:buClrTx/>
              <a:buFont typeface="Wingdings" panose="05000000000000000000" pitchFamily="2" charset="2"/>
              <a:buChar char="q"/>
            </a:pPr>
            <a:r>
              <a:rPr lang="en-US" dirty="0"/>
              <a:t> </a:t>
            </a:r>
            <a:r>
              <a:rPr lang="en-US" dirty="0">
                <a:solidFill>
                  <a:srgbClr val="004EA8"/>
                </a:solidFill>
              </a:rPr>
              <a:t>Any plagiarism will be result in grade </a:t>
            </a:r>
            <a:r>
              <a:rPr lang="en-US" b="1" dirty="0">
                <a:solidFill>
                  <a:srgbClr val="FF0000"/>
                </a:solidFill>
              </a:rPr>
              <a:t>“F”.</a:t>
            </a:r>
          </a:p>
        </p:txBody>
      </p:sp>
      <p:sp>
        <p:nvSpPr>
          <p:cNvPr id="4" name="Text Placeholder 3">
            <a:extLst>
              <a:ext uri="{FF2B5EF4-FFF2-40B4-BE49-F238E27FC236}">
                <a16:creationId xmlns:a16="http://schemas.microsoft.com/office/drawing/2014/main" id="{37FBF1C5-3489-4A7E-8266-0CDC236A3794}"/>
              </a:ext>
            </a:extLst>
          </p:cNvPr>
          <p:cNvSpPr>
            <a:spLocks noGrp="1"/>
          </p:cNvSpPr>
          <p:nvPr>
            <p:ph type="body" sz="quarter" idx="3"/>
          </p:nvPr>
        </p:nvSpPr>
        <p:spPr>
          <a:xfrm>
            <a:off x="4638628" y="1291790"/>
            <a:ext cx="4476199" cy="462059"/>
          </a:xfrm>
        </p:spPr>
        <p:txBody>
          <a:bodyPr/>
          <a:lstStyle/>
          <a:p>
            <a:r>
              <a:rPr lang="en-US" dirty="0">
                <a:solidFill>
                  <a:srgbClr val="FF0000"/>
                </a:solidFill>
              </a:rPr>
              <a:t>Marks Distribution</a:t>
            </a:r>
          </a:p>
        </p:txBody>
      </p:sp>
      <p:sp>
        <p:nvSpPr>
          <p:cNvPr id="5" name="Content Placeholder 4">
            <a:extLst>
              <a:ext uri="{FF2B5EF4-FFF2-40B4-BE49-F238E27FC236}">
                <a16:creationId xmlns:a16="http://schemas.microsoft.com/office/drawing/2014/main" id="{2635F4C9-38CA-412C-A9A2-BB7AA2A85CF0}"/>
              </a:ext>
            </a:extLst>
          </p:cNvPr>
          <p:cNvSpPr>
            <a:spLocks noGrp="1"/>
          </p:cNvSpPr>
          <p:nvPr>
            <p:ph sz="quarter" idx="4"/>
          </p:nvPr>
        </p:nvSpPr>
        <p:spPr>
          <a:xfrm>
            <a:off x="4640094" y="1788909"/>
            <a:ext cx="4476196" cy="4640776"/>
          </a:xfrm>
        </p:spPr>
        <p:txBody>
          <a:bodyPr>
            <a:normAutofit/>
          </a:bodyPr>
          <a:lstStyle/>
          <a:p>
            <a:pPr marL="87511" marR="0" indent="-342900" algn="just">
              <a:spcBef>
                <a:spcPts val="0"/>
              </a:spcBef>
              <a:spcAft>
                <a:spcPts val="0"/>
              </a:spcAft>
              <a:buClrTx/>
              <a:buFont typeface="Wingdings" panose="05000000000000000000" pitchFamily="2" charset="2"/>
              <a:buChar char="q"/>
            </a:pPr>
            <a:r>
              <a:rPr lang="en-US" sz="2000" b="1" dirty="0">
                <a:solidFill>
                  <a:srgbClr val="004EA8"/>
                </a:solidFill>
                <a:effectLst/>
                <a:ea typeface="Times New Roman" panose="02020603050405020304" pitchFamily="18" charset="0"/>
                <a:cs typeface="Arial" panose="020B0604020202020204" pitchFamily="34" charset="0"/>
              </a:rPr>
              <a:t>Marking system for Theory Classes </a:t>
            </a:r>
            <a:endParaRPr lang="en-US" sz="2000" dirty="0">
              <a:solidFill>
                <a:srgbClr val="004EA8"/>
              </a:solidFill>
              <a:effectLst/>
              <a:ea typeface="Times New Roman" panose="02020603050405020304" pitchFamily="18" charset="0"/>
            </a:endParaRPr>
          </a:p>
          <a:p>
            <a:pPr lvl="1" algn="just">
              <a:buFont typeface="Wingdings" panose="05000000000000000000" pitchFamily="2" charset="2"/>
              <a:buChar char="Ø"/>
            </a:pPr>
            <a:r>
              <a:rPr lang="en-US" sz="2000" dirty="0">
                <a:effectLst/>
                <a:ea typeface="Times New Roman" panose="02020603050405020304" pitchFamily="18" charset="0"/>
                <a:cs typeface="Arial" panose="020B0604020202020204" pitchFamily="34" charset="0"/>
              </a:rPr>
              <a:t>Attendance/Performance: 10%</a:t>
            </a:r>
            <a:endParaRPr lang="en-US" sz="2000" dirty="0">
              <a:ea typeface="Times New Roman" panose="02020603050405020304" pitchFamily="18" charset="0"/>
            </a:endParaRPr>
          </a:p>
          <a:p>
            <a:pPr lvl="1" algn="just">
              <a:buFont typeface="Wingdings" panose="05000000000000000000" pitchFamily="2" charset="2"/>
              <a:buChar char="Ø"/>
            </a:pPr>
            <a:r>
              <a:rPr lang="en-US" sz="2000" dirty="0">
                <a:effectLst/>
                <a:ea typeface="Times New Roman" panose="02020603050405020304" pitchFamily="18" charset="0"/>
                <a:cs typeface="Arial" panose="020B0604020202020204" pitchFamily="34" charset="0"/>
              </a:rPr>
              <a:t>Quizzes: 40% (best will be counted)</a:t>
            </a:r>
          </a:p>
          <a:p>
            <a:pPr lvl="1" algn="just">
              <a:buFont typeface="Wingdings" panose="05000000000000000000" pitchFamily="2" charset="2"/>
              <a:buChar char="Ø"/>
            </a:pPr>
            <a:r>
              <a:rPr lang="en-US" sz="2000" dirty="0">
                <a:effectLst/>
                <a:ea typeface="Times New Roman" panose="02020603050405020304" pitchFamily="18" charset="0"/>
                <a:cs typeface="Arial" panose="020B0604020202020204" pitchFamily="34" charset="0"/>
              </a:rPr>
              <a:t>Assignments: 10%</a:t>
            </a:r>
            <a:endParaRPr lang="en-US" sz="2000" dirty="0">
              <a:ea typeface="Times New Roman" panose="02020603050405020304" pitchFamily="18" charset="0"/>
            </a:endParaRPr>
          </a:p>
          <a:p>
            <a:pPr lvl="1" algn="just">
              <a:buFont typeface="Wingdings" panose="05000000000000000000" pitchFamily="2" charset="2"/>
              <a:buChar char="Ø"/>
            </a:pPr>
            <a:r>
              <a:rPr lang="en-US" sz="2000" dirty="0">
                <a:effectLst/>
                <a:ea typeface="Times New Roman" panose="02020603050405020304" pitchFamily="18" charset="0"/>
                <a:cs typeface="Arial" panose="020B0604020202020204" pitchFamily="34" charset="0"/>
              </a:rPr>
              <a:t>Midterm/Final term Assessment: 40%</a:t>
            </a:r>
            <a:endParaRPr lang="en-US" sz="2000" dirty="0">
              <a:effectLst/>
              <a:ea typeface="Times New Roman" panose="02020603050405020304" pitchFamily="18" charset="0"/>
            </a:endParaRPr>
          </a:p>
          <a:p>
            <a:pPr marR="0" algn="just">
              <a:spcBef>
                <a:spcPts val="0"/>
              </a:spcBef>
              <a:spcAft>
                <a:spcPts val="0"/>
              </a:spcAft>
              <a:buFont typeface="Wingdings" panose="05000000000000000000" pitchFamily="2" charset="2"/>
              <a:buChar char="q"/>
            </a:pPr>
            <a:r>
              <a:rPr lang="en-US" sz="2000" b="1" dirty="0">
                <a:solidFill>
                  <a:srgbClr val="FF0000"/>
                </a:solidFill>
                <a:effectLst/>
                <a:ea typeface="Times New Roman" panose="02020603050405020304" pitchFamily="18" charset="0"/>
                <a:cs typeface="Arial" panose="020B0604020202020204" pitchFamily="34" charset="0"/>
              </a:rPr>
              <a:t>Total: </a:t>
            </a:r>
            <a:r>
              <a:rPr lang="en-US" sz="2000" dirty="0">
                <a:solidFill>
                  <a:srgbClr val="FF0000"/>
                </a:solidFill>
                <a:effectLst/>
                <a:ea typeface="Times New Roman" panose="02020603050405020304" pitchFamily="18" charset="0"/>
                <a:cs typeface="Arial" panose="020B0604020202020204" pitchFamily="34" charset="0"/>
              </a:rPr>
              <a:t>100%</a:t>
            </a:r>
            <a:endParaRPr lang="en-US" sz="2000" dirty="0">
              <a:solidFill>
                <a:srgbClr val="FF0000"/>
              </a:solidFill>
              <a:effectLst/>
              <a:ea typeface="Times New Roman" panose="02020603050405020304" pitchFamily="18" charset="0"/>
            </a:endParaRPr>
          </a:p>
          <a:p>
            <a:pPr marL="0" marR="0" indent="0" algn="just">
              <a:spcBef>
                <a:spcPts val="0"/>
              </a:spcBef>
              <a:spcAft>
                <a:spcPts val="0"/>
              </a:spcAft>
              <a:buNone/>
            </a:pPr>
            <a:endParaRPr lang="en-US" sz="2000" dirty="0">
              <a:solidFill>
                <a:srgbClr val="004EA8"/>
              </a:solidFill>
              <a:effectLst/>
              <a:ea typeface="Times New Roman" panose="02020603050405020304" pitchFamily="18" charset="0"/>
            </a:endParaRPr>
          </a:p>
          <a:p>
            <a:pPr marL="87511" marR="0" indent="-342900" algn="just">
              <a:spcBef>
                <a:spcPts val="0"/>
              </a:spcBef>
              <a:spcAft>
                <a:spcPts val="0"/>
              </a:spcAft>
              <a:buFont typeface="Wingdings" panose="05000000000000000000" pitchFamily="2" charset="2"/>
              <a:buChar char="q"/>
            </a:pPr>
            <a:r>
              <a:rPr lang="en-US" sz="2000" b="1" dirty="0">
                <a:solidFill>
                  <a:srgbClr val="004EA8"/>
                </a:solidFill>
                <a:effectLst/>
                <a:ea typeface="Times New Roman" panose="02020603050405020304" pitchFamily="18" charset="0"/>
                <a:cs typeface="Arial" panose="020B0604020202020204" pitchFamily="34" charset="0"/>
              </a:rPr>
              <a:t>Final Grade/ Grand Total</a:t>
            </a:r>
            <a:endParaRPr lang="en-US" sz="2000" b="1" dirty="0">
              <a:solidFill>
                <a:srgbClr val="004EA8"/>
              </a:solidFill>
              <a:ea typeface="Times New Roman" panose="02020603050405020304" pitchFamily="18" charset="0"/>
            </a:endParaRPr>
          </a:p>
          <a:p>
            <a:pPr marL="595313" lvl="1" indent="-342900" algn="just">
              <a:spcBef>
                <a:spcPts val="0"/>
              </a:spcBef>
              <a:buFont typeface="Wingdings" panose="05000000000000000000" pitchFamily="2" charset="2"/>
              <a:buChar char="Ø"/>
            </a:pPr>
            <a:r>
              <a:rPr lang="en-US" dirty="0">
                <a:effectLst/>
                <a:ea typeface="Times New Roman" panose="02020603050405020304" pitchFamily="18" charset="0"/>
                <a:cs typeface="Arial" panose="020B0604020202020204" pitchFamily="34" charset="0"/>
              </a:rPr>
              <a:t>Midterm: 40%</a:t>
            </a:r>
            <a:endParaRPr lang="en-US" dirty="0">
              <a:effectLst/>
              <a:ea typeface="Times New Roman" panose="02020603050405020304" pitchFamily="18" charset="0"/>
            </a:endParaRPr>
          </a:p>
          <a:p>
            <a:pPr marL="627063" lvl="1" indent="-342900">
              <a:spcBef>
                <a:spcPts val="0"/>
              </a:spcBef>
              <a:buFont typeface="Wingdings" panose="05000000000000000000" pitchFamily="2" charset="2"/>
              <a:buChar char="Ø"/>
            </a:pPr>
            <a:r>
              <a:rPr lang="en-US" dirty="0">
                <a:effectLst/>
                <a:ea typeface="Times New Roman" panose="02020603050405020304" pitchFamily="18" charset="0"/>
                <a:cs typeface="Arial" panose="020B0604020202020204" pitchFamily="34" charset="0"/>
              </a:rPr>
              <a:t>Final Term: 60%</a:t>
            </a:r>
            <a:endParaRPr lang="en-US" dirty="0">
              <a:effectLst/>
              <a:ea typeface="Times New Roman" panose="02020603050405020304" pitchFamily="18" charset="0"/>
            </a:endParaRPr>
          </a:p>
          <a:p>
            <a:endParaRPr lang="en-US" dirty="0"/>
          </a:p>
        </p:txBody>
      </p:sp>
      <p:sp>
        <p:nvSpPr>
          <p:cNvPr id="7" name="Footer Placeholder 6">
            <a:extLst>
              <a:ext uri="{FF2B5EF4-FFF2-40B4-BE49-F238E27FC236}">
                <a16:creationId xmlns:a16="http://schemas.microsoft.com/office/drawing/2014/main" id="{0F5CCD6A-CD67-43EF-9072-A0AF12863F23}"/>
              </a:ext>
            </a:extLst>
          </p:cNvPr>
          <p:cNvSpPr>
            <a:spLocks noGrp="1"/>
          </p:cNvSpPr>
          <p:nvPr>
            <p:ph type="ftr" sz="quarter" idx="11"/>
          </p:nvPr>
        </p:nvSpPr>
        <p:spPr/>
        <p:txBody>
          <a:bodyPr/>
          <a:lstStyle/>
          <a:p>
            <a:r>
              <a:rPr lang="en-US"/>
              <a:t>CSC3113-Theory of Computation</a:t>
            </a:r>
          </a:p>
        </p:txBody>
      </p:sp>
    </p:spTree>
    <p:extLst>
      <p:ext uri="{BB962C8B-B14F-4D97-AF65-F5344CB8AC3E}">
        <p14:creationId xmlns:p14="http://schemas.microsoft.com/office/powerpoint/2010/main" val="1491572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fade">
                                      <p:cBhvr>
                                        <p:cTn id="27" dur="500"/>
                                        <p:tgtEl>
                                          <p:spTgt spid="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fade">
                                      <p:cBhvr>
                                        <p:cTn id="32" dur="500"/>
                                        <p:tgtEl>
                                          <p:spTgt spid="5">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animEffect transition="in" filter="fade">
                                      <p:cBhvr>
                                        <p:cTn id="37" dur="500"/>
                                        <p:tgtEl>
                                          <p:spTgt spid="5">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4" end="4"/>
                                            </p:txEl>
                                          </p:spTgt>
                                        </p:tgtEl>
                                        <p:attrNameLst>
                                          <p:attrName>style.visibility</p:attrName>
                                        </p:attrNameLst>
                                      </p:cBhvr>
                                      <p:to>
                                        <p:strVal val="visible"/>
                                      </p:to>
                                    </p:set>
                                    <p:animEffect transition="in" filter="fade">
                                      <p:cBhvr>
                                        <p:cTn id="42" dur="500"/>
                                        <p:tgtEl>
                                          <p:spTgt spid="5">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5" end="5"/>
                                            </p:txEl>
                                          </p:spTgt>
                                        </p:tgtEl>
                                        <p:attrNameLst>
                                          <p:attrName>style.visibility</p:attrName>
                                        </p:attrNameLst>
                                      </p:cBhvr>
                                      <p:to>
                                        <p:strVal val="visible"/>
                                      </p:to>
                                    </p:set>
                                    <p:animEffect transition="in" filter="fade">
                                      <p:cBhvr>
                                        <p:cTn id="47" dur="500"/>
                                        <p:tgtEl>
                                          <p:spTgt spid="5">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xEl>
                                              <p:pRg st="7" end="7"/>
                                            </p:txEl>
                                          </p:spTgt>
                                        </p:tgtEl>
                                        <p:attrNameLst>
                                          <p:attrName>style.visibility</p:attrName>
                                        </p:attrNameLst>
                                      </p:cBhvr>
                                      <p:to>
                                        <p:strVal val="visible"/>
                                      </p:to>
                                    </p:set>
                                    <p:animEffect transition="in" filter="fade">
                                      <p:cBhvr>
                                        <p:cTn id="52" dur="500"/>
                                        <p:tgtEl>
                                          <p:spTgt spid="5">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
                                            <p:txEl>
                                              <p:pRg st="8" end="8"/>
                                            </p:txEl>
                                          </p:spTgt>
                                        </p:tgtEl>
                                        <p:attrNameLst>
                                          <p:attrName>style.visibility</p:attrName>
                                        </p:attrNameLst>
                                      </p:cBhvr>
                                      <p:to>
                                        <p:strVal val="visible"/>
                                      </p:to>
                                    </p:set>
                                    <p:animEffect transition="in" filter="fade">
                                      <p:cBhvr>
                                        <p:cTn id="57" dur="500"/>
                                        <p:tgtEl>
                                          <p:spTgt spid="5">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
                                            <p:txEl>
                                              <p:pRg st="9" end="9"/>
                                            </p:txEl>
                                          </p:spTgt>
                                        </p:tgtEl>
                                        <p:attrNameLst>
                                          <p:attrName>style.visibility</p:attrName>
                                        </p:attrNameLst>
                                      </p:cBhvr>
                                      <p:to>
                                        <p:strVal val="visible"/>
                                      </p:to>
                                    </p:set>
                                    <p:animEffect transition="in" filter="fade">
                                      <p:cBhvr>
                                        <p:cTn id="62"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DAE666D-5BF1-4331-BF8B-A906D2C45A35}"/>
              </a:ext>
            </a:extLst>
          </p:cNvPr>
          <p:cNvSpPr>
            <a:spLocks noGrp="1"/>
          </p:cNvSpPr>
          <p:nvPr>
            <p:ph type="ftr" sz="quarter" idx="11"/>
          </p:nvPr>
        </p:nvSpPr>
        <p:spPr/>
        <p:txBody>
          <a:bodyPr/>
          <a:lstStyle/>
          <a:p>
            <a:r>
              <a:rPr lang="en-US"/>
              <a:t>CSC3113-Theory of Computation</a:t>
            </a:r>
          </a:p>
        </p:txBody>
      </p:sp>
      <p:sp>
        <p:nvSpPr>
          <p:cNvPr id="2" name="Subtitle 1">
            <a:extLst>
              <a:ext uri="{FF2B5EF4-FFF2-40B4-BE49-F238E27FC236}">
                <a16:creationId xmlns:a16="http://schemas.microsoft.com/office/drawing/2014/main" id="{6BCF0B67-4C83-48FA-A0A6-F818DCFE76D3}"/>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C13361AA-B314-4391-99B2-D3ADEEF4C82F}"/>
              </a:ext>
            </a:extLst>
          </p:cNvPr>
          <p:cNvSpPr>
            <a:spLocks noGrp="1"/>
          </p:cNvSpPr>
          <p:nvPr>
            <p:ph type="body" sz="quarter" idx="12"/>
          </p:nvPr>
        </p:nvSpPr>
        <p:spPr/>
        <p:txBody>
          <a:bodyPr>
            <a:normAutofit fontScale="92500"/>
          </a:bodyPr>
          <a:lstStyle/>
          <a:p>
            <a:pPr algn="just">
              <a:lnSpc>
                <a:spcPct val="110000"/>
              </a:lnSpc>
              <a:spcBef>
                <a:spcPts val="0"/>
              </a:spcBef>
              <a:spcAft>
                <a:spcPts val="600"/>
              </a:spcAft>
              <a:buClrTx/>
              <a:buFont typeface="Wingdings" panose="05000000000000000000" pitchFamily="2" charset="2"/>
              <a:buChar char="q"/>
            </a:pPr>
            <a:r>
              <a:rPr lang="en-US" b="0" i="0" dirty="0">
                <a:solidFill>
                  <a:srgbClr val="000000"/>
                </a:solidFill>
                <a:effectLst/>
              </a:rPr>
              <a:t>Learn about different mathematical (formal) model for computation.</a:t>
            </a:r>
          </a:p>
          <a:p>
            <a:pPr algn="just">
              <a:lnSpc>
                <a:spcPct val="110000"/>
              </a:lnSpc>
              <a:spcBef>
                <a:spcPts val="0"/>
              </a:spcBef>
              <a:spcAft>
                <a:spcPts val="600"/>
              </a:spcAft>
              <a:buClrTx/>
              <a:buFont typeface="Wingdings" panose="05000000000000000000" pitchFamily="2" charset="2"/>
              <a:buChar char="q"/>
            </a:pPr>
            <a:r>
              <a:rPr lang="en-US" b="0" i="0" dirty="0">
                <a:solidFill>
                  <a:srgbClr val="004EA8"/>
                </a:solidFill>
                <a:effectLst/>
              </a:rPr>
              <a:t>Understand how to reason about computation using abstract, formal models.</a:t>
            </a:r>
          </a:p>
          <a:p>
            <a:pPr algn="just">
              <a:lnSpc>
                <a:spcPct val="110000"/>
              </a:lnSpc>
              <a:spcBef>
                <a:spcPts val="0"/>
              </a:spcBef>
              <a:spcAft>
                <a:spcPts val="600"/>
              </a:spcAft>
              <a:buClrTx/>
              <a:buFont typeface="Wingdings" panose="05000000000000000000" pitchFamily="2" charset="2"/>
              <a:buChar char="q"/>
            </a:pPr>
            <a:r>
              <a:rPr lang="en-US" b="0" i="0" dirty="0">
                <a:solidFill>
                  <a:srgbClr val="000000"/>
                </a:solidFill>
                <a:effectLst/>
              </a:rPr>
              <a:t>Go through the definitions of several specific models of computation including finite automata, context-free grammars, and Turing machines along with the tools for analyzing their power and limitations.</a:t>
            </a:r>
          </a:p>
          <a:p>
            <a:pPr algn="just">
              <a:lnSpc>
                <a:spcPct val="110000"/>
              </a:lnSpc>
              <a:spcBef>
                <a:spcPts val="0"/>
              </a:spcBef>
              <a:spcAft>
                <a:spcPts val="600"/>
              </a:spcAft>
              <a:buClrTx/>
              <a:buFont typeface="Wingdings" panose="05000000000000000000" pitchFamily="2" charset="2"/>
              <a:buChar char="q"/>
            </a:pPr>
            <a:r>
              <a:rPr lang="en-US" b="0" i="0" dirty="0">
                <a:solidFill>
                  <a:srgbClr val="004EA8"/>
                </a:solidFill>
                <a:effectLst/>
              </a:rPr>
              <a:t>Design and analyze how the nature of computation (solvable, unsolvable, efficient problems by computers) can be formalized as precise mathematical problems for different computational devices</a:t>
            </a:r>
            <a:r>
              <a:rPr lang="en-US" b="0" i="0" dirty="0">
                <a:solidFill>
                  <a:srgbClr val="5D20CA"/>
                </a:solidFill>
                <a:effectLst/>
              </a:rPr>
              <a:t>.</a:t>
            </a:r>
          </a:p>
          <a:p>
            <a:pPr algn="just">
              <a:lnSpc>
                <a:spcPct val="110000"/>
              </a:lnSpc>
              <a:spcBef>
                <a:spcPts val="0"/>
              </a:spcBef>
              <a:spcAft>
                <a:spcPts val="600"/>
              </a:spcAft>
              <a:buClrTx/>
              <a:buFont typeface="Wingdings" panose="05000000000000000000" pitchFamily="2" charset="2"/>
              <a:buChar char="q"/>
            </a:pPr>
            <a:r>
              <a:rPr lang="en-US" b="0" i="0" dirty="0">
                <a:solidFill>
                  <a:srgbClr val="000000"/>
                </a:solidFill>
                <a:effectLst/>
              </a:rPr>
              <a:t>Practice creative mathematical problem solving.</a:t>
            </a:r>
            <a:endParaRPr lang="en-US" dirty="0"/>
          </a:p>
        </p:txBody>
      </p:sp>
    </p:spTree>
    <p:extLst>
      <p:ext uri="{BB962C8B-B14F-4D97-AF65-F5344CB8AC3E}">
        <p14:creationId xmlns:p14="http://schemas.microsoft.com/office/powerpoint/2010/main" val="3008106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2209C70-10D2-4E7C-BBBB-BA9561CFD851}"/>
              </a:ext>
            </a:extLst>
          </p:cNvPr>
          <p:cNvSpPr>
            <a:spLocks noGrp="1"/>
          </p:cNvSpPr>
          <p:nvPr>
            <p:ph type="ftr" sz="quarter" idx="11"/>
          </p:nvPr>
        </p:nvSpPr>
        <p:spPr/>
        <p:txBody>
          <a:bodyPr/>
          <a:lstStyle/>
          <a:p>
            <a:r>
              <a:rPr lang="en-US"/>
              <a:t>CSC3113-Theory of Computation</a:t>
            </a:r>
          </a:p>
        </p:txBody>
      </p:sp>
      <p:sp>
        <p:nvSpPr>
          <p:cNvPr id="2" name="Subtitle 1">
            <a:extLst>
              <a:ext uri="{FF2B5EF4-FFF2-40B4-BE49-F238E27FC236}">
                <a16:creationId xmlns:a16="http://schemas.microsoft.com/office/drawing/2014/main" id="{F344AF42-E606-439F-8E29-42483F3A391A}"/>
              </a:ext>
            </a:extLst>
          </p:cNvPr>
          <p:cNvSpPr>
            <a:spLocks noGrp="1"/>
          </p:cNvSpPr>
          <p:nvPr>
            <p:ph type="subTitle" idx="1"/>
          </p:nvPr>
        </p:nvSpPr>
        <p:spPr/>
        <p:txBody>
          <a:bodyPr>
            <a:normAutofit fontScale="92500"/>
          </a:bodyPr>
          <a:lstStyle/>
          <a:p>
            <a:r>
              <a:rPr lang="en-US" sz="2000" dirty="0">
                <a:solidFill>
                  <a:srgbClr val="FF0000"/>
                </a:solidFill>
                <a:effectLst/>
                <a:latin typeface="Times New Roman" panose="02020603050405020304" pitchFamily="18" charset="0"/>
                <a:ea typeface="Times New Roman" panose="02020603050405020304" pitchFamily="18" charset="0"/>
              </a:rPr>
              <a:t>At the end of this course, the following outcome shall have been attained</a:t>
            </a:r>
            <a:endParaRPr lang="en-US" dirty="0">
              <a:solidFill>
                <a:srgbClr val="FF0000"/>
              </a:solidFill>
            </a:endParaRPr>
          </a:p>
        </p:txBody>
      </p:sp>
      <p:sp>
        <p:nvSpPr>
          <p:cNvPr id="3" name="Text Placeholder 2">
            <a:extLst>
              <a:ext uri="{FF2B5EF4-FFF2-40B4-BE49-F238E27FC236}">
                <a16:creationId xmlns:a16="http://schemas.microsoft.com/office/drawing/2014/main" id="{2AFABE9B-C439-4A2F-AEBA-1C689FB0FB04}"/>
              </a:ext>
            </a:extLst>
          </p:cNvPr>
          <p:cNvSpPr>
            <a:spLocks noGrp="1"/>
          </p:cNvSpPr>
          <p:nvPr>
            <p:ph type="body" sz="quarter" idx="12"/>
          </p:nvPr>
        </p:nvSpPr>
        <p:spPr/>
        <p:txBody>
          <a:bodyPr>
            <a:normAutofit fontScale="92500" lnSpcReduction="10000"/>
          </a:bodyPr>
          <a:lstStyle/>
          <a:p>
            <a:pPr marL="316111" marR="0" indent="-342900" algn="just">
              <a:lnSpc>
                <a:spcPct val="110000"/>
              </a:lnSpc>
              <a:spcBef>
                <a:spcPts val="0"/>
              </a:spcBef>
              <a:spcAft>
                <a:spcPts val="600"/>
              </a:spcAft>
              <a:buClrTx/>
              <a:buFont typeface="Wingdings" panose="05000000000000000000" pitchFamily="2" charset="2"/>
              <a:buChar char="q"/>
            </a:pPr>
            <a:r>
              <a:rPr lang="en-US" dirty="0">
                <a:effectLst/>
                <a:ea typeface="Times New Roman" panose="02020603050405020304" pitchFamily="18" charset="0"/>
              </a:rPr>
              <a:t>Basic notations used in computer science literature</a:t>
            </a:r>
          </a:p>
          <a:p>
            <a:pPr marL="316111" marR="0" indent="-342900" algn="just">
              <a:lnSpc>
                <a:spcPct val="110000"/>
              </a:lnSpc>
              <a:spcBef>
                <a:spcPts val="0"/>
              </a:spcBef>
              <a:spcAft>
                <a:spcPts val="600"/>
              </a:spcAft>
              <a:buClrTx/>
              <a:buFont typeface="Wingdings" panose="05000000000000000000" pitchFamily="2" charset="2"/>
              <a:buChar char="q"/>
            </a:pPr>
            <a:r>
              <a:rPr lang="en-US" dirty="0">
                <a:solidFill>
                  <a:srgbClr val="004EA8"/>
                </a:solidFill>
                <a:effectLst/>
                <a:ea typeface="Times New Roman" panose="02020603050405020304" pitchFamily="18" charset="0"/>
              </a:rPr>
              <a:t>Understand the mathematical model of Computation.</a:t>
            </a:r>
          </a:p>
          <a:p>
            <a:pPr marL="316111" marR="0" indent="-342900" algn="just">
              <a:lnSpc>
                <a:spcPct val="110000"/>
              </a:lnSpc>
              <a:spcBef>
                <a:spcPts val="0"/>
              </a:spcBef>
              <a:spcAft>
                <a:spcPts val="600"/>
              </a:spcAft>
              <a:buClrTx/>
              <a:buFont typeface="Wingdings" panose="05000000000000000000" pitchFamily="2" charset="2"/>
              <a:buChar char="q"/>
            </a:pPr>
            <a:r>
              <a:rPr lang="en-US" dirty="0">
                <a:effectLst/>
                <a:ea typeface="Times New Roman" panose="02020603050405020304" pitchFamily="18" charset="0"/>
              </a:rPr>
              <a:t>Use of Computational models to solve problems for different computational devices</a:t>
            </a:r>
          </a:p>
          <a:p>
            <a:pPr marL="316111" indent="-342900" algn="just">
              <a:lnSpc>
                <a:spcPct val="110000"/>
              </a:lnSpc>
              <a:spcBef>
                <a:spcPts val="0"/>
              </a:spcBef>
              <a:spcAft>
                <a:spcPts val="600"/>
              </a:spcAft>
              <a:buClrTx/>
              <a:buFont typeface="Wingdings" panose="05000000000000000000" pitchFamily="2" charset="2"/>
              <a:buChar char="q"/>
            </a:pPr>
            <a:r>
              <a:rPr lang="en-US" dirty="0">
                <a:solidFill>
                  <a:srgbClr val="004EA8"/>
                </a:solidFill>
              </a:rPr>
              <a:t>Learn how to formally reason about computation.</a:t>
            </a:r>
          </a:p>
          <a:p>
            <a:pPr marL="316111" marR="0" indent="-342900" algn="just">
              <a:lnSpc>
                <a:spcPct val="110000"/>
              </a:lnSpc>
              <a:spcBef>
                <a:spcPts val="0"/>
              </a:spcBef>
              <a:spcAft>
                <a:spcPts val="600"/>
              </a:spcAft>
              <a:buClrTx/>
              <a:buFont typeface="Wingdings" panose="05000000000000000000" pitchFamily="2" charset="2"/>
              <a:buChar char="q"/>
            </a:pPr>
            <a:r>
              <a:rPr lang="en-US" b="0" i="0" dirty="0">
                <a:solidFill>
                  <a:srgbClr val="000000"/>
                </a:solidFill>
                <a:effectLst/>
              </a:rPr>
              <a:t>Develop the ability to compose correct, clear, and concise mathematical proofs.</a:t>
            </a:r>
            <a:endParaRPr lang="en-US" dirty="0">
              <a:effectLst/>
              <a:ea typeface="Times New Roman" panose="02020603050405020304" pitchFamily="18" charset="0"/>
            </a:endParaRPr>
          </a:p>
          <a:p>
            <a:pPr marL="316111" marR="0" indent="-342900" algn="just">
              <a:lnSpc>
                <a:spcPct val="110000"/>
              </a:lnSpc>
              <a:spcBef>
                <a:spcPts val="0"/>
              </a:spcBef>
              <a:spcAft>
                <a:spcPts val="600"/>
              </a:spcAft>
              <a:buClrTx/>
              <a:buFont typeface="Wingdings" panose="05000000000000000000" pitchFamily="2" charset="2"/>
              <a:buChar char="q"/>
            </a:pPr>
            <a:r>
              <a:rPr lang="en-US" dirty="0">
                <a:solidFill>
                  <a:srgbClr val="004EA8"/>
                </a:solidFill>
                <a:effectLst/>
                <a:ea typeface="Times New Roman" panose="02020603050405020304" pitchFamily="18" charset="0"/>
              </a:rPr>
              <a:t>Understand Computability</a:t>
            </a:r>
          </a:p>
          <a:p>
            <a:pPr marL="316111" marR="0" indent="-342900" algn="just">
              <a:lnSpc>
                <a:spcPct val="110000"/>
              </a:lnSpc>
              <a:spcBef>
                <a:spcPts val="0"/>
              </a:spcBef>
              <a:spcAft>
                <a:spcPts val="600"/>
              </a:spcAft>
              <a:buClrTx/>
              <a:buFont typeface="Wingdings" panose="05000000000000000000" pitchFamily="2" charset="2"/>
              <a:buChar char="q"/>
            </a:pPr>
            <a:r>
              <a:rPr lang="en-US" dirty="0">
                <a:effectLst/>
                <a:ea typeface="Times New Roman" panose="02020603050405020304" pitchFamily="18" charset="0"/>
              </a:rPr>
              <a:t>Determine Complexity of problems</a:t>
            </a:r>
          </a:p>
          <a:p>
            <a:pPr marL="316111" marR="0" indent="-342900" algn="just">
              <a:lnSpc>
                <a:spcPct val="110000"/>
              </a:lnSpc>
              <a:spcBef>
                <a:spcPts val="0"/>
              </a:spcBef>
              <a:spcAft>
                <a:spcPts val="600"/>
              </a:spcAft>
              <a:buClrTx/>
              <a:buFont typeface="Wingdings" panose="05000000000000000000" pitchFamily="2" charset="2"/>
              <a:buChar char="q"/>
            </a:pPr>
            <a:r>
              <a:rPr lang="en-US" dirty="0">
                <a:solidFill>
                  <a:srgbClr val="004EA8"/>
                </a:solidFill>
              </a:rPr>
              <a:t>Learn the technology-independent foundations of CS</a:t>
            </a:r>
            <a:endParaRPr lang="en-US" dirty="0">
              <a:solidFill>
                <a:srgbClr val="004EA8"/>
              </a:solidFill>
              <a:effectLst/>
              <a:ea typeface="Times New Roman" panose="02020603050405020304" pitchFamily="18" charset="0"/>
            </a:endParaRPr>
          </a:p>
        </p:txBody>
      </p:sp>
    </p:spTree>
    <p:extLst>
      <p:ext uri="{BB962C8B-B14F-4D97-AF65-F5344CB8AC3E}">
        <p14:creationId xmlns:p14="http://schemas.microsoft.com/office/powerpoint/2010/main" val="1211172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803F6A2-5ED1-404B-9856-A8FA5C255915}"/>
              </a:ext>
            </a:extLst>
          </p:cNvPr>
          <p:cNvSpPr>
            <a:spLocks noGrp="1"/>
          </p:cNvSpPr>
          <p:nvPr>
            <p:ph type="ftr" sz="quarter" idx="11"/>
          </p:nvPr>
        </p:nvSpPr>
        <p:spPr/>
        <p:txBody>
          <a:bodyPr/>
          <a:lstStyle/>
          <a:p>
            <a:r>
              <a:rPr lang="en-US"/>
              <a:t>CSC3113-Theory of Computation</a:t>
            </a:r>
          </a:p>
        </p:txBody>
      </p:sp>
      <p:sp>
        <p:nvSpPr>
          <p:cNvPr id="2" name="Subtitle 1">
            <a:extLst>
              <a:ext uri="{FF2B5EF4-FFF2-40B4-BE49-F238E27FC236}">
                <a16:creationId xmlns:a16="http://schemas.microsoft.com/office/drawing/2014/main" id="{74B7B75F-B04F-429B-97B6-44E2C82C2528}"/>
              </a:ext>
            </a:extLst>
          </p:cNvPr>
          <p:cNvSpPr>
            <a:spLocks noGrp="1"/>
          </p:cNvSpPr>
          <p:nvPr>
            <p:ph type="subTitle" idx="1"/>
          </p:nvPr>
        </p:nvSpPr>
        <p:spPr/>
        <p:txBody>
          <a:bodyPr/>
          <a:lstStyle/>
          <a:p>
            <a:r>
              <a:rPr lang="en-US" dirty="0">
                <a:solidFill>
                  <a:srgbClr val="FF0000"/>
                </a:solidFill>
              </a:rPr>
              <a:t>Introduction</a:t>
            </a:r>
          </a:p>
        </p:txBody>
      </p:sp>
      <p:sp>
        <p:nvSpPr>
          <p:cNvPr id="3" name="Text Placeholder 2">
            <a:extLst>
              <a:ext uri="{FF2B5EF4-FFF2-40B4-BE49-F238E27FC236}">
                <a16:creationId xmlns:a16="http://schemas.microsoft.com/office/drawing/2014/main" id="{643D6E3B-0383-4DEC-A3BC-C075F0C224CA}"/>
              </a:ext>
            </a:extLst>
          </p:cNvPr>
          <p:cNvSpPr>
            <a:spLocks noGrp="1"/>
          </p:cNvSpPr>
          <p:nvPr>
            <p:ph type="body" sz="quarter" idx="12"/>
          </p:nvPr>
        </p:nvSpPr>
        <p:spPr/>
        <p:txBody>
          <a:bodyPr>
            <a:normAutofit/>
          </a:bodyPr>
          <a:lstStyle/>
          <a:p>
            <a:pPr algn="just">
              <a:spcBef>
                <a:spcPts val="0"/>
              </a:spcBef>
              <a:spcAft>
                <a:spcPts val="600"/>
              </a:spcAft>
              <a:buClrTx/>
              <a:buFont typeface="Wingdings" panose="05000000000000000000" pitchFamily="2" charset="2"/>
              <a:buChar char="q"/>
            </a:pPr>
            <a:r>
              <a:rPr lang="en-US" b="1" i="0" dirty="0">
                <a:solidFill>
                  <a:srgbClr val="004EA8"/>
                </a:solidFill>
                <a:effectLst/>
              </a:rPr>
              <a:t>Automata and Formal Language Theory:</a:t>
            </a:r>
            <a:r>
              <a:rPr lang="en-US" b="0" i="0" dirty="0">
                <a:solidFill>
                  <a:srgbClr val="004EA8"/>
                </a:solidFill>
                <a:effectLst/>
              </a:rPr>
              <a:t> </a:t>
            </a:r>
            <a:r>
              <a:rPr lang="en-US" b="0" i="0" dirty="0">
                <a:solidFill>
                  <a:srgbClr val="000000"/>
                </a:solidFill>
                <a:effectLst/>
              </a:rPr>
              <a:t>Deterministic finite automata, nondeterministic finite automata, regular expressions; Pumping Lemma, non-regular languages; Pushdown automata and context-free languages.</a:t>
            </a:r>
          </a:p>
          <a:p>
            <a:pPr algn="just">
              <a:spcBef>
                <a:spcPts val="0"/>
              </a:spcBef>
              <a:spcAft>
                <a:spcPts val="600"/>
              </a:spcAft>
              <a:buClrTx/>
              <a:buFont typeface="Wingdings" panose="05000000000000000000" pitchFamily="2" charset="2"/>
              <a:buChar char="q"/>
            </a:pPr>
            <a:r>
              <a:rPr lang="en-US" b="1" i="0" dirty="0">
                <a:solidFill>
                  <a:srgbClr val="004EA8"/>
                </a:solidFill>
                <a:effectLst/>
              </a:rPr>
              <a:t>Computability Theory:</a:t>
            </a:r>
            <a:r>
              <a:rPr lang="en-US" b="0" i="0" dirty="0">
                <a:solidFill>
                  <a:srgbClr val="004EA8"/>
                </a:solidFill>
                <a:effectLst/>
              </a:rPr>
              <a:t> </a:t>
            </a:r>
            <a:r>
              <a:rPr lang="en-US" b="0" i="0" dirty="0">
                <a:solidFill>
                  <a:srgbClr val="000000"/>
                </a:solidFill>
                <a:effectLst/>
              </a:rPr>
              <a:t>Turing Machines and the Church-Turing thesis; Decidability, halting problem; </a:t>
            </a:r>
          </a:p>
          <a:p>
            <a:pPr algn="just">
              <a:spcBef>
                <a:spcPts val="0"/>
              </a:spcBef>
              <a:spcAft>
                <a:spcPts val="600"/>
              </a:spcAft>
              <a:buClrTx/>
              <a:buFont typeface="Wingdings" panose="05000000000000000000" pitchFamily="2" charset="2"/>
              <a:buChar char="q"/>
            </a:pPr>
            <a:r>
              <a:rPr lang="en-US" b="1" i="0" dirty="0">
                <a:solidFill>
                  <a:srgbClr val="004EA8"/>
                </a:solidFill>
                <a:effectLst/>
              </a:rPr>
              <a:t>Complexity Theory:</a:t>
            </a:r>
            <a:r>
              <a:rPr lang="en-US" b="0" i="0" dirty="0">
                <a:solidFill>
                  <a:srgbClr val="004EA8"/>
                </a:solidFill>
                <a:effectLst/>
              </a:rPr>
              <a:t> </a:t>
            </a:r>
            <a:r>
              <a:rPr lang="en-US" b="0" i="0" dirty="0">
                <a:solidFill>
                  <a:srgbClr val="000000"/>
                </a:solidFill>
                <a:effectLst/>
              </a:rPr>
              <a:t>Time complexity, space complexity; Complexity classes P, NP, PSPACE and the P vs. NP question. Polynomial time reductions and NP-completeness.</a:t>
            </a:r>
          </a:p>
          <a:p>
            <a:pPr>
              <a:spcBef>
                <a:spcPts val="0"/>
              </a:spcBef>
              <a:spcAft>
                <a:spcPts val="600"/>
              </a:spcAft>
              <a:buClrTx/>
              <a:buFont typeface="Wingdings" panose="05000000000000000000" pitchFamily="2" charset="2"/>
              <a:buChar char="q"/>
            </a:pPr>
            <a:r>
              <a:rPr lang="en-US" b="1" dirty="0">
                <a:solidFill>
                  <a:srgbClr val="FF0000"/>
                </a:solidFill>
                <a:hlinkClick r:id="rId2" action="ppaction://hlinkfile">
                  <a:extLst>
                    <a:ext uri="{A12FA001-AC4F-418D-AE19-62706E023703}">
                      <ahyp:hlinkClr xmlns:ahyp="http://schemas.microsoft.com/office/drawing/2018/hyperlinkcolor" val="tx"/>
                    </a:ext>
                  </a:extLst>
                </a:hlinkClick>
              </a:rPr>
              <a:t>Week wise topic distribution</a:t>
            </a:r>
            <a:r>
              <a:rPr lang="en-US" dirty="0">
                <a:solidFill>
                  <a:srgbClr val="FF0000"/>
                </a:solidFill>
              </a:rPr>
              <a:t>.</a:t>
            </a:r>
          </a:p>
          <a:p>
            <a:pPr lvl="1">
              <a:spcBef>
                <a:spcPts val="0"/>
              </a:spcBef>
              <a:spcAft>
                <a:spcPts val="600"/>
              </a:spcAft>
              <a:buFont typeface="Wingdings" panose="05000000000000000000" pitchFamily="2" charset="2"/>
              <a:buChar char="q"/>
            </a:pPr>
            <a:endParaRPr lang="en-US" dirty="0">
              <a:solidFill>
                <a:schemeClr val="tx1"/>
              </a:solidFill>
            </a:endParaRPr>
          </a:p>
          <a:p>
            <a:pPr>
              <a:spcBef>
                <a:spcPts val="0"/>
              </a:spcBef>
              <a:spcAft>
                <a:spcPts val="600"/>
              </a:spcAft>
              <a:buFont typeface="Wingdings" panose="05000000000000000000" pitchFamily="2" charset="2"/>
              <a:buChar char="q"/>
            </a:pPr>
            <a:endParaRPr lang="en-US" dirty="0"/>
          </a:p>
        </p:txBody>
      </p:sp>
    </p:spTree>
    <p:extLst>
      <p:ext uri="{BB962C8B-B14F-4D97-AF65-F5344CB8AC3E}">
        <p14:creationId xmlns:p14="http://schemas.microsoft.com/office/powerpoint/2010/main" val="2585851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803F6A2-5ED1-404B-9856-A8FA5C255915}"/>
              </a:ext>
            </a:extLst>
          </p:cNvPr>
          <p:cNvSpPr>
            <a:spLocks noGrp="1"/>
          </p:cNvSpPr>
          <p:nvPr>
            <p:ph type="ftr" sz="quarter" idx="11"/>
          </p:nvPr>
        </p:nvSpPr>
        <p:spPr/>
        <p:txBody>
          <a:bodyPr/>
          <a:lstStyle/>
          <a:p>
            <a:r>
              <a:rPr lang="en-US"/>
              <a:t>CSC3113-Theory of Computation</a:t>
            </a:r>
          </a:p>
        </p:txBody>
      </p:sp>
      <p:sp>
        <p:nvSpPr>
          <p:cNvPr id="2" name="Subtitle 1">
            <a:extLst>
              <a:ext uri="{FF2B5EF4-FFF2-40B4-BE49-F238E27FC236}">
                <a16:creationId xmlns:a16="http://schemas.microsoft.com/office/drawing/2014/main" id="{74B7B75F-B04F-429B-97B6-44E2C82C2528}"/>
              </a:ext>
            </a:extLst>
          </p:cNvPr>
          <p:cNvSpPr>
            <a:spLocks noGrp="1"/>
          </p:cNvSpPr>
          <p:nvPr>
            <p:ph type="subTitle" idx="1"/>
          </p:nvPr>
        </p:nvSpPr>
        <p:spPr/>
        <p:txBody>
          <a:bodyPr/>
          <a:lstStyle/>
          <a:p>
            <a:r>
              <a:rPr lang="en-US" dirty="0"/>
              <a:t>Introduction</a:t>
            </a:r>
          </a:p>
        </p:txBody>
      </p:sp>
      <p:sp>
        <p:nvSpPr>
          <p:cNvPr id="3" name="Text Placeholder 2">
            <a:extLst>
              <a:ext uri="{FF2B5EF4-FFF2-40B4-BE49-F238E27FC236}">
                <a16:creationId xmlns:a16="http://schemas.microsoft.com/office/drawing/2014/main" id="{643D6E3B-0383-4DEC-A3BC-C075F0C224CA}"/>
              </a:ext>
            </a:extLst>
          </p:cNvPr>
          <p:cNvSpPr>
            <a:spLocks noGrp="1"/>
          </p:cNvSpPr>
          <p:nvPr>
            <p:ph type="body" sz="quarter" idx="12"/>
          </p:nvPr>
        </p:nvSpPr>
        <p:spPr/>
        <p:txBody>
          <a:bodyPr>
            <a:normAutofit/>
          </a:bodyPr>
          <a:lstStyle/>
          <a:p>
            <a:pPr>
              <a:buClrTx/>
              <a:buFont typeface="Wingdings" panose="05000000000000000000" pitchFamily="2" charset="2"/>
              <a:buChar char="q"/>
            </a:pPr>
            <a:r>
              <a:rPr lang="en-US" sz="2800" b="1" dirty="0">
                <a:solidFill>
                  <a:srgbClr val="FF0000"/>
                </a:solidFill>
              </a:rPr>
              <a:t>Books &amp; References:</a:t>
            </a:r>
          </a:p>
          <a:p>
            <a:pPr lvl="1" algn="just">
              <a:spcAft>
                <a:spcPts val="1800"/>
              </a:spcAft>
              <a:buFont typeface="Wingdings" panose="05000000000000000000" pitchFamily="2" charset="2"/>
              <a:buChar char="Ø"/>
            </a:pPr>
            <a:r>
              <a:rPr lang="en-US" i="1" dirty="0"/>
              <a:t>Introduction to the Theory of Computation</a:t>
            </a:r>
            <a:r>
              <a:rPr lang="en-US" dirty="0"/>
              <a:t>; (Latest Edition) by Michael </a:t>
            </a:r>
            <a:r>
              <a:rPr lang="en-US" dirty="0" err="1"/>
              <a:t>Sipser</a:t>
            </a:r>
            <a:r>
              <a:rPr lang="en-US" dirty="0"/>
              <a:t>.</a:t>
            </a:r>
          </a:p>
          <a:p>
            <a:pPr lvl="1" algn="just">
              <a:spcAft>
                <a:spcPts val="1800"/>
              </a:spcAft>
              <a:buFont typeface="Wingdings" panose="05000000000000000000" pitchFamily="2" charset="2"/>
              <a:buChar char="Ø"/>
            </a:pPr>
            <a:r>
              <a:rPr lang="en-US" i="1" dirty="0">
                <a:solidFill>
                  <a:srgbClr val="5D20CA"/>
                </a:solidFill>
              </a:rPr>
              <a:t>Introduction to Automata Theory, Languages, and Computation</a:t>
            </a:r>
            <a:r>
              <a:rPr lang="en-US" dirty="0">
                <a:solidFill>
                  <a:srgbClr val="5D20CA"/>
                </a:solidFill>
              </a:rPr>
              <a:t>; (Latest Edition) by John E. Hopcroft, et al.</a:t>
            </a:r>
          </a:p>
          <a:p>
            <a:pPr lvl="1" algn="just">
              <a:spcAft>
                <a:spcPts val="1800"/>
              </a:spcAft>
              <a:buFont typeface="Wingdings" panose="05000000000000000000" pitchFamily="2" charset="2"/>
              <a:buChar char="Ø"/>
            </a:pPr>
            <a:r>
              <a:rPr lang="en-US" i="1" dirty="0"/>
              <a:t>Elements of the Theory of Computation</a:t>
            </a:r>
            <a:r>
              <a:rPr lang="en-US" dirty="0"/>
              <a:t>, (Latest Edition) by Harry R. Lewis, Christos H. Papadimitriou.</a:t>
            </a:r>
          </a:p>
          <a:p>
            <a:pPr lvl="1">
              <a:spcAft>
                <a:spcPts val="1800"/>
              </a:spcAft>
            </a:pPr>
            <a:endParaRPr lang="en-US" dirty="0">
              <a:solidFill>
                <a:schemeClr val="tx1"/>
              </a:solidFill>
            </a:endParaRPr>
          </a:p>
          <a:p>
            <a:endParaRPr lang="en-US" dirty="0"/>
          </a:p>
        </p:txBody>
      </p:sp>
    </p:spTree>
    <p:extLst>
      <p:ext uri="{BB962C8B-B14F-4D97-AF65-F5344CB8AC3E}">
        <p14:creationId xmlns:p14="http://schemas.microsoft.com/office/powerpoint/2010/main" val="4176824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903C60F-41A0-412E-8F04-23BB8F5DEFD4}"/>
              </a:ext>
            </a:extLst>
          </p:cNvPr>
          <p:cNvSpPr>
            <a:spLocks noGrp="1"/>
          </p:cNvSpPr>
          <p:nvPr>
            <p:ph type="ftr" sz="quarter" idx="11"/>
          </p:nvPr>
        </p:nvSpPr>
        <p:spPr/>
        <p:txBody>
          <a:bodyPr/>
          <a:lstStyle/>
          <a:p>
            <a:r>
              <a:rPr lang="en-US"/>
              <a:t>CSC3113-Theory of Computation</a:t>
            </a:r>
          </a:p>
        </p:txBody>
      </p:sp>
      <p:sp>
        <p:nvSpPr>
          <p:cNvPr id="3" name="Subtitle 2">
            <a:extLst>
              <a:ext uri="{FF2B5EF4-FFF2-40B4-BE49-F238E27FC236}">
                <a16:creationId xmlns:a16="http://schemas.microsoft.com/office/drawing/2014/main" id="{F0D8A41B-61AB-4932-9524-99EC17A98469}"/>
              </a:ext>
            </a:extLst>
          </p:cNvPr>
          <p:cNvSpPr>
            <a:spLocks noGrp="1"/>
          </p:cNvSpPr>
          <p:nvPr>
            <p:ph type="subTitle" idx="1"/>
          </p:nvPr>
        </p:nvSpPr>
        <p:spPr/>
        <p:txBody>
          <a:bodyPr>
            <a:normAutofit fontScale="85000" lnSpcReduction="10000"/>
          </a:bodyPr>
          <a:lstStyle/>
          <a:p>
            <a:pPr algn="l"/>
            <a:r>
              <a:rPr lang="en-US" dirty="0">
                <a:solidFill>
                  <a:srgbClr val="FF0000"/>
                </a:solidFill>
              </a:rPr>
              <a:t>Mathematical reasoning and algorithmic thinking is required:</a:t>
            </a:r>
          </a:p>
          <a:p>
            <a:pPr algn="l"/>
            <a:endParaRPr lang="en-US" dirty="0">
              <a:solidFill>
                <a:srgbClr val="FF0000"/>
              </a:solidFill>
            </a:endParaRPr>
          </a:p>
        </p:txBody>
      </p:sp>
      <p:sp>
        <p:nvSpPr>
          <p:cNvPr id="4" name="Text Placeholder 3">
            <a:extLst>
              <a:ext uri="{FF2B5EF4-FFF2-40B4-BE49-F238E27FC236}">
                <a16:creationId xmlns:a16="http://schemas.microsoft.com/office/drawing/2014/main" id="{C4BA2D9B-5A79-4A76-BB86-F18261A35D06}"/>
              </a:ext>
            </a:extLst>
          </p:cNvPr>
          <p:cNvSpPr>
            <a:spLocks noGrp="1"/>
          </p:cNvSpPr>
          <p:nvPr>
            <p:ph type="body" sz="quarter" idx="12"/>
          </p:nvPr>
        </p:nvSpPr>
        <p:spPr/>
        <p:txBody>
          <a:bodyPr>
            <a:normAutofit fontScale="92500" lnSpcReduction="10000"/>
          </a:bodyPr>
          <a:lstStyle/>
          <a:p>
            <a:pPr marL="541139" indent="-342900" algn="just">
              <a:spcBef>
                <a:spcPts val="0"/>
              </a:spcBef>
              <a:spcAft>
                <a:spcPts val="1200"/>
              </a:spcAft>
              <a:buClrTx/>
              <a:buFont typeface="Wingdings" panose="05000000000000000000" pitchFamily="2" charset="2"/>
              <a:buChar char="q"/>
            </a:pPr>
            <a:r>
              <a:rPr lang="en-US" dirty="0"/>
              <a:t>Set theory (sub-set, power set etc.)</a:t>
            </a:r>
          </a:p>
          <a:p>
            <a:pPr marL="541139" indent="-342900" algn="just">
              <a:spcBef>
                <a:spcPts val="0"/>
              </a:spcBef>
              <a:spcAft>
                <a:spcPts val="1200"/>
              </a:spcAft>
              <a:buClrTx/>
              <a:buFont typeface="Wingdings" panose="05000000000000000000" pitchFamily="2" charset="2"/>
              <a:buChar char="q"/>
            </a:pPr>
            <a:r>
              <a:rPr lang="en-US" dirty="0">
                <a:solidFill>
                  <a:srgbClr val="5D20CA"/>
                </a:solidFill>
              </a:rPr>
              <a:t>Sequence, Tuple</a:t>
            </a:r>
          </a:p>
          <a:p>
            <a:pPr marL="541139" indent="-342900" algn="just">
              <a:spcBef>
                <a:spcPts val="0"/>
              </a:spcBef>
              <a:spcAft>
                <a:spcPts val="1200"/>
              </a:spcAft>
              <a:buClrTx/>
              <a:buFont typeface="Wingdings" panose="05000000000000000000" pitchFamily="2" charset="2"/>
              <a:buChar char="q"/>
            </a:pPr>
            <a:r>
              <a:rPr lang="en-US" dirty="0"/>
              <a:t>Function &amp; relation (domain, range etc.)</a:t>
            </a:r>
          </a:p>
          <a:p>
            <a:pPr marL="541139" indent="-342900" algn="just">
              <a:spcBef>
                <a:spcPts val="0"/>
              </a:spcBef>
              <a:spcAft>
                <a:spcPts val="1200"/>
              </a:spcAft>
              <a:buClrTx/>
              <a:buFont typeface="Wingdings" panose="05000000000000000000" pitchFamily="2" charset="2"/>
              <a:buChar char="q"/>
            </a:pPr>
            <a:r>
              <a:rPr lang="en-US" dirty="0">
                <a:solidFill>
                  <a:srgbClr val="5D20CA"/>
                </a:solidFill>
              </a:rPr>
              <a:t>Propositional logic</a:t>
            </a:r>
          </a:p>
          <a:p>
            <a:pPr marL="541139" indent="-342900" algn="just">
              <a:spcBef>
                <a:spcPts val="0"/>
              </a:spcBef>
              <a:spcAft>
                <a:spcPts val="1200"/>
              </a:spcAft>
              <a:buClrTx/>
              <a:buFont typeface="Wingdings" panose="05000000000000000000" pitchFamily="2" charset="2"/>
              <a:buChar char="q"/>
            </a:pPr>
            <a:r>
              <a:rPr lang="en-US" dirty="0"/>
              <a:t>Graph theory, mathematical representation &amp; algorithms</a:t>
            </a:r>
          </a:p>
          <a:p>
            <a:pPr marL="541139" indent="-342900" algn="just">
              <a:spcBef>
                <a:spcPts val="0"/>
              </a:spcBef>
              <a:spcAft>
                <a:spcPts val="1200"/>
              </a:spcAft>
              <a:buClrTx/>
              <a:buFont typeface="Wingdings" panose="05000000000000000000" pitchFamily="2" charset="2"/>
              <a:buChar char="q"/>
            </a:pPr>
            <a:r>
              <a:rPr lang="en-US" dirty="0">
                <a:solidFill>
                  <a:srgbClr val="5D20CA"/>
                </a:solidFill>
              </a:rPr>
              <a:t>Asymptotic notation, NP-completeness</a:t>
            </a:r>
          </a:p>
          <a:p>
            <a:pPr marL="541139" indent="-342900" algn="just">
              <a:spcBef>
                <a:spcPts val="0"/>
              </a:spcBef>
              <a:spcAft>
                <a:spcPts val="1200"/>
              </a:spcAft>
              <a:buClrTx/>
              <a:buFont typeface="Wingdings" panose="05000000000000000000" pitchFamily="2" charset="2"/>
              <a:buChar char="q"/>
            </a:pPr>
            <a:r>
              <a:rPr lang="en-US" dirty="0"/>
              <a:t>Proof by : Construction, Contradiction, Induction</a:t>
            </a:r>
          </a:p>
          <a:p>
            <a:pPr marL="541139" indent="-342900" algn="just">
              <a:spcBef>
                <a:spcPts val="0"/>
              </a:spcBef>
              <a:spcAft>
                <a:spcPts val="1200"/>
              </a:spcAft>
              <a:buFont typeface="Wingdings" panose="05000000000000000000" pitchFamily="2" charset="2"/>
              <a:buChar char="q"/>
            </a:pPr>
            <a:endParaRPr lang="en-US" dirty="0"/>
          </a:p>
          <a:p>
            <a:pPr marL="541139" indent="-342900" algn="just">
              <a:spcBef>
                <a:spcPts val="0"/>
              </a:spcBef>
              <a:spcAft>
                <a:spcPts val="1200"/>
              </a:spcAft>
              <a:buFont typeface="Wingdings" panose="05000000000000000000" pitchFamily="2" charset="2"/>
              <a:buChar char="q"/>
            </a:pPr>
            <a:r>
              <a:rPr lang="en-US" sz="2000" u="sng" dirty="0">
                <a:solidFill>
                  <a:srgbClr val="FF0000"/>
                </a:solidFill>
              </a:rPr>
              <a:t>** some reading material regarding these topics are given at the end.</a:t>
            </a:r>
          </a:p>
          <a:p>
            <a:pPr>
              <a:spcBef>
                <a:spcPts val="0"/>
              </a:spcBef>
              <a:spcAft>
                <a:spcPts val="1200"/>
              </a:spcAft>
              <a:buFont typeface="Wingdings" panose="05000000000000000000" pitchFamily="2" charset="2"/>
              <a:buChar char="q"/>
            </a:pPr>
            <a:endParaRPr lang="en-US" dirty="0"/>
          </a:p>
        </p:txBody>
      </p:sp>
    </p:spTree>
    <p:extLst>
      <p:ext uri="{BB962C8B-B14F-4D97-AF65-F5344CB8AC3E}">
        <p14:creationId xmlns:p14="http://schemas.microsoft.com/office/powerpoint/2010/main" val="3697770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animEffect transition="in" filter="fade">
                                      <p:cBhvr>
                                        <p:cTn id="30" dur="500"/>
                                        <p:tgtEl>
                                          <p:spTgt spid="4">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fade">
                                      <p:cBhvr>
                                        <p:cTn id="35" dur="500"/>
                                        <p:tgtEl>
                                          <p:spTgt spid="4">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
                                            <p:txEl>
                                              <p:pRg st="8" end="8"/>
                                            </p:txEl>
                                          </p:spTgt>
                                        </p:tgtEl>
                                        <p:attrNameLst>
                                          <p:attrName>style.visibility</p:attrName>
                                        </p:attrNameLst>
                                      </p:cBhvr>
                                      <p:to>
                                        <p:strVal val="visible"/>
                                      </p:to>
                                    </p:set>
                                    <p:animEffect transition="in" filter="fade">
                                      <p:cBhvr>
                                        <p:cTn id="40"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D42D7DD-F71E-4433-8EAB-952CC17EBFF6}"/>
              </a:ext>
            </a:extLst>
          </p:cNvPr>
          <p:cNvSpPr>
            <a:spLocks noGrp="1"/>
          </p:cNvSpPr>
          <p:nvPr>
            <p:ph type="ftr" sz="quarter" idx="11"/>
          </p:nvPr>
        </p:nvSpPr>
        <p:spPr/>
        <p:txBody>
          <a:bodyPr/>
          <a:lstStyle/>
          <a:p>
            <a:r>
              <a:rPr lang="en-US" dirty="0"/>
              <a:t>CSC3113-Theory of Computation</a:t>
            </a:r>
          </a:p>
        </p:txBody>
      </p:sp>
      <p:sp>
        <p:nvSpPr>
          <p:cNvPr id="3" name="Text Placeholder 2">
            <a:extLst>
              <a:ext uri="{FF2B5EF4-FFF2-40B4-BE49-F238E27FC236}">
                <a16:creationId xmlns:a16="http://schemas.microsoft.com/office/drawing/2014/main" id="{C8811139-2014-4510-95CC-0DE5F31357C9}"/>
              </a:ext>
            </a:extLst>
          </p:cNvPr>
          <p:cNvSpPr>
            <a:spLocks noGrp="1"/>
          </p:cNvSpPr>
          <p:nvPr>
            <p:ph type="body" sz="quarter" idx="12"/>
          </p:nvPr>
        </p:nvSpPr>
        <p:spPr/>
        <p:txBody>
          <a:bodyPr/>
          <a:lstStyle/>
          <a:p>
            <a:r>
              <a:rPr lang="en-US" dirty="0">
                <a:solidFill>
                  <a:srgbClr val="FF0000"/>
                </a:solidFill>
              </a:rPr>
              <a:t>Why study Theory of Computation?</a:t>
            </a:r>
          </a:p>
        </p:txBody>
      </p:sp>
      <p:sp>
        <p:nvSpPr>
          <p:cNvPr id="4" name="Text Placeholder 3">
            <a:extLst>
              <a:ext uri="{FF2B5EF4-FFF2-40B4-BE49-F238E27FC236}">
                <a16:creationId xmlns:a16="http://schemas.microsoft.com/office/drawing/2014/main" id="{C2F28995-8D13-498F-BEE4-DEAAAD300479}"/>
              </a:ext>
            </a:extLst>
          </p:cNvPr>
          <p:cNvSpPr>
            <a:spLocks noGrp="1"/>
          </p:cNvSpPr>
          <p:nvPr>
            <p:ph type="body" sz="quarter" idx="13"/>
          </p:nvPr>
        </p:nvSpPr>
        <p:spPr>
          <a:xfrm>
            <a:off x="179881" y="914400"/>
            <a:ext cx="8769247" cy="5522917"/>
          </a:xfrm>
        </p:spPr>
        <p:txBody>
          <a:bodyPr>
            <a:normAutofit fontScale="70000" lnSpcReduction="20000"/>
          </a:bodyPr>
          <a:lstStyle/>
          <a:p>
            <a:pPr>
              <a:lnSpc>
                <a:spcPct val="120000"/>
              </a:lnSpc>
              <a:spcBef>
                <a:spcPts val="0"/>
              </a:spcBef>
              <a:spcAft>
                <a:spcPts val="600"/>
              </a:spcAft>
              <a:buClrTx/>
              <a:buFont typeface="Wingdings" panose="05000000000000000000" pitchFamily="2" charset="2"/>
              <a:buChar char="q"/>
            </a:pPr>
            <a:r>
              <a:rPr lang="en-US" sz="2600" b="1" dirty="0">
                <a:solidFill>
                  <a:srgbClr val="0070C0"/>
                </a:solidFill>
              </a:rPr>
              <a:t>Let us consider a scenario – </a:t>
            </a:r>
          </a:p>
          <a:p>
            <a:pPr lvl="1" algn="just">
              <a:lnSpc>
                <a:spcPct val="120000"/>
              </a:lnSpc>
              <a:spcBef>
                <a:spcPts val="0"/>
              </a:spcBef>
              <a:spcAft>
                <a:spcPts val="600"/>
              </a:spcAft>
              <a:buClrTx/>
              <a:buFont typeface="Wingdings" panose="05000000000000000000" pitchFamily="2" charset="2"/>
              <a:buChar char="Ø"/>
            </a:pPr>
            <a:r>
              <a:rPr lang="en-US" dirty="0"/>
              <a:t>You are in a room full of different objects scattered all over the floor. You need to go from one end of the room to another end crossing over these objects. You may step onto the objects in the room or remove the objects from the path to crossover. But some objects may be too hard to step on or may be too heavy (or fixed on the floor) to be removed from the path. </a:t>
            </a:r>
          </a:p>
          <a:p>
            <a:pPr algn="just">
              <a:lnSpc>
                <a:spcPct val="120000"/>
              </a:lnSpc>
              <a:spcBef>
                <a:spcPts val="0"/>
              </a:spcBef>
              <a:spcAft>
                <a:spcPts val="600"/>
              </a:spcAft>
              <a:buClrTx/>
              <a:buFont typeface="Wingdings" panose="05000000000000000000" pitchFamily="2" charset="2"/>
              <a:buChar char="q"/>
            </a:pPr>
            <a:r>
              <a:rPr lang="en-US" b="1" dirty="0">
                <a:solidFill>
                  <a:srgbClr val="0070C0"/>
                </a:solidFill>
              </a:rPr>
              <a:t>Now let us consider 3 conditions – </a:t>
            </a:r>
          </a:p>
          <a:p>
            <a:pPr lvl="1" algn="just">
              <a:lnSpc>
                <a:spcPct val="120000"/>
              </a:lnSpc>
              <a:spcBef>
                <a:spcPts val="0"/>
              </a:spcBef>
              <a:spcAft>
                <a:spcPts val="600"/>
              </a:spcAft>
              <a:buClrTx/>
              <a:buFont typeface="Wingdings" panose="05000000000000000000" pitchFamily="2" charset="2"/>
              <a:buChar char="Ø"/>
            </a:pPr>
            <a:r>
              <a:rPr lang="en-US" dirty="0"/>
              <a:t>If you are crossing the room blindfolded, you would definitely step onto the objects in the room to crossover, but some objects may be too hard to step on which may result in painful experience on your legs.</a:t>
            </a:r>
          </a:p>
          <a:p>
            <a:pPr lvl="1" algn="just">
              <a:lnSpc>
                <a:spcPct val="120000"/>
              </a:lnSpc>
              <a:spcBef>
                <a:spcPts val="0"/>
              </a:spcBef>
              <a:spcAft>
                <a:spcPts val="600"/>
              </a:spcAft>
              <a:buClrTx/>
              <a:buFont typeface="Wingdings" panose="05000000000000000000" pitchFamily="2" charset="2"/>
              <a:buChar char="Ø"/>
            </a:pPr>
            <a:r>
              <a:rPr lang="en-US" dirty="0">
                <a:solidFill>
                  <a:srgbClr val="5D20CA"/>
                </a:solidFill>
              </a:rPr>
              <a:t>If you are crossing with eyes open, you may remove/move away some of the objects while stepping towards the other end but may remove something which shouldn’t be removed or may try to move something which you can never be moved.</a:t>
            </a:r>
          </a:p>
          <a:p>
            <a:pPr lvl="1" algn="just">
              <a:lnSpc>
                <a:spcPct val="120000"/>
              </a:lnSpc>
              <a:spcBef>
                <a:spcPts val="0"/>
              </a:spcBef>
              <a:spcAft>
                <a:spcPts val="600"/>
              </a:spcAft>
              <a:buClrTx/>
              <a:buFont typeface="Wingdings" panose="05000000000000000000" pitchFamily="2" charset="2"/>
              <a:buChar char="Ø"/>
            </a:pPr>
            <a:r>
              <a:rPr lang="en-US" dirty="0"/>
              <a:t>If you are crossing the room with your eyes open and knowing the nature of the objects, you may reach the other end without any problem by removing the objects which can be removed and stepping on the (soft) objects which will not give you pain. Still there may be some instances where you need to step onto some hard objects, but this time you would be prepared as you know from before.</a:t>
            </a:r>
          </a:p>
          <a:p>
            <a:pPr algn="just">
              <a:lnSpc>
                <a:spcPct val="120000"/>
              </a:lnSpc>
              <a:spcBef>
                <a:spcPts val="0"/>
              </a:spcBef>
              <a:spcAft>
                <a:spcPts val="600"/>
              </a:spcAft>
              <a:buClrTx/>
              <a:buFont typeface="Wingdings" panose="05000000000000000000" pitchFamily="2" charset="2"/>
              <a:buChar char="q"/>
            </a:pPr>
            <a:r>
              <a:rPr lang="en-US" b="1" dirty="0">
                <a:solidFill>
                  <a:srgbClr val="0070C0"/>
                </a:solidFill>
              </a:rPr>
              <a:t>This is known as classical difference between “</a:t>
            </a:r>
            <a:r>
              <a:rPr lang="en-US" b="1" dirty="0">
                <a:solidFill>
                  <a:srgbClr val="FF0000"/>
                </a:solidFill>
              </a:rPr>
              <a:t>Walking the path</a:t>
            </a:r>
            <a:r>
              <a:rPr lang="en-US" b="1" dirty="0">
                <a:solidFill>
                  <a:srgbClr val="0070C0"/>
                </a:solidFill>
              </a:rPr>
              <a:t>” and “</a:t>
            </a:r>
            <a:r>
              <a:rPr lang="en-US" b="1" dirty="0">
                <a:solidFill>
                  <a:srgbClr val="FF0000"/>
                </a:solidFill>
              </a:rPr>
              <a:t>Knowing the path</a:t>
            </a:r>
            <a:r>
              <a:rPr lang="en-US" b="1" dirty="0">
                <a:solidFill>
                  <a:srgbClr val="0070C0"/>
                </a:solidFill>
              </a:rPr>
              <a:t>”.</a:t>
            </a:r>
          </a:p>
        </p:txBody>
      </p:sp>
    </p:spTree>
    <p:extLst>
      <p:ext uri="{BB962C8B-B14F-4D97-AF65-F5344CB8AC3E}">
        <p14:creationId xmlns:p14="http://schemas.microsoft.com/office/powerpoint/2010/main" val="2027079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FCB7D81-7626-48A1-8004-71BACEEAB8C7}"/>
              </a:ext>
            </a:extLst>
          </p:cNvPr>
          <p:cNvSpPr>
            <a:spLocks noGrp="1"/>
          </p:cNvSpPr>
          <p:nvPr>
            <p:ph type="ftr" sz="quarter" idx="11"/>
          </p:nvPr>
        </p:nvSpPr>
        <p:spPr/>
        <p:txBody>
          <a:bodyPr/>
          <a:lstStyle/>
          <a:p>
            <a:r>
              <a:rPr lang="en-US"/>
              <a:t>CSC3113-Theory of Computation</a:t>
            </a:r>
          </a:p>
        </p:txBody>
      </p:sp>
      <p:sp>
        <p:nvSpPr>
          <p:cNvPr id="3" name="Text Placeholder 2">
            <a:extLst>
              <a:ext uri="{FF2B5EF4-FFF2-40B4-BE49-F238E27FC236}">
                <a16:creationId xmlns:a16="http://schemas.microsoft.com/office/drawing/2014/main" id="{9F01E96D-FF3B-4CC9-82FE-C225E40A808A}"/>
              </a:ext>
            </a:extLst>
          </p:cNvPr>
          <p:cNvSpPr>
            <a:spLocks noGrp="1"/>
          </p:cNvSpPr>
          <p:nvPr>
            <p:ph type="body" sz="quarter" idx="12"/>
          </p:nvPr>
        </p:nvSpPr>
        <p:spPr/>
        <p:txBody>
          <a:bodyPr/>
          <a:lstStyle/>
          <a:p>
            <a:r>
              <a:rPr lang="en-US" dirty="0">
                <a:solidFill>
                  <a:srgbClr val="FF0000"/>
                </a:solidFill>
              </a:rPr>
              <a:t>…Why study Theory of Computation?</a:t>
            </a:r>
          </a:p>
        </p:txBody>
      </p:sp>
      <p:sp>
        <p:nvSpPr>
          <p:cNvPr id="4" name="Text Placeholder 3">
            <a:extLst>
              <a:ext uri="{FF2B5EF4-FFF2-40B4-BE49-F238E27FC236}">
                <a16:creationId xmlns:a16="http://schemas.microsoft.com/office/drawing/2014/main" id="{6FD6F023-F5E9-45B5-87DB-9847C6680B25}"/>
              </a:ext>
            </a:extLst>
          </p:cNvPr>
          <p:cNvSpPr>
            <a:spLocks noGrp="1"/>
          </p:cNvSpPr>
          <p:nvPr>
            <p:ph type="body" sz="quarter" idx="13"/>
          </p:nvPr>
        </p:nvSpPr>
        <p:spPr/>
        <p:txBody>
          <a:bodyPr>
            <a:noAutofit/>
          </a:bodyPr>
          <a:lstStyle/>
          <a:p>
            <a:pPr algn="just">
              <a:spcBef>
                <a:spcPts val="0"/>
              </a:spcBef>
              <a:spcAft>
                <a:spcPts val="1200"/>
              </a:spcAft>
              <a:buClrTx/>
              <a:buFont typeface="Wingdings" panose="05000000000000000000" pitchFamily="2" charset="2"/>
              <a:buChar char="q"/>
            </a:pPr>
            <a:r>
              <a:rPr lang="en-US" sz="1900" dirty="0"/>
              <a:t>Computer science is all about solving problem using the computational capacities (software/hardware) of a computing devices/tools. So, it is very important to know the model of these computations, capabilities &amp; limitations of these devices/tools, and the complexity of the solutions of the given problem, which is the content of the theory of computation.</a:t>
            </a:r>
          </a:p>
          <a:p>
            <a:pPr algn="just">
              <a:spcBef>
                <a:spcPts val="0"/>
              </a:spcBef>
              <a:spcAft>
                <a:spcPts val="1200"/>
              </a:spcAft>
              <a:buClrTx/>
              <a:buFont typeface="Wingdings" panose="05000000000000000000" pitchFamily="2" charset="2"/>
              <a:buChar char="q"/>
            </a:pPr>
            <a:r>
              <a:rPr lang="en-US" sz="1900" dirty="0"/>
              <a:t>At the end of your graduation you can be a programmer, developer, software engineer or any other CS professionals with clear concept about your favorite areas of computer science (programming/software engineering etc.), without even knowing the theory of computation. </a:t>
            </a:r>
          </a:p>
          <a:p>
            <a:pPr lvl="1" algn="just">
              <a:spcBef>
                <a:spcPts val="0"/>
              </a:spcBef>
              <a:spcAft>
                <a:spcPts val="1200"/>
              </a:spcAft>
              <a:buClrTx/>
              <a:buFont typeface="Wingdings" panose="05000000000000000000" pitchFamily="2" charset="2"/>
              <a:buChar char="Ø"/>
            </a:pPr>
            <a:r>
              <a:rPr lang="en-US" sz="1900" dirty="0">
                <a:solidFill>
                  <a:srgbClr val="0070C0"/>
                </a:solidFill>
              </a:rPr>
              <a:t>But that would be like the first (blindfolded) group, where you would be dependent on the software tools or device configuration given to you to solve the problem. To reach at the pick level of your profession, you will be stepping onto a lot of hard objects where you need to learn some of the concept of theory of computation to complete your solutions and carry on towards your goal.</a:t>
            </a:r>
          </a:p>
          <a:p>
            <a:pPr lvl="1" algn="just">
              <a:spcBef>
                <a:spcPts val="0"/>
              </a:spcBef>
              <a:spcAft>
                <a:spcPts val="1200"/>
              </a:spcAft>
              <a:buClrTx/>
              <a:buFont typeface="Wingdings" panose="05000000000000000000" pitchFamily="2" charset="2"/>
              <a:buChar char="Ø"/>
            </a:pPr>
            <a:r>
              <a:rPr lang="en-US" sz="1900" dirty="0">
                <a:solidFill>
                  <a:srgbClr val="5D20CA"/>
                </a:solidFill>
              </a:rPr>
              <a:t>If you are an alert/talented person and have a reasonable idea about TOC like the second (eyes-open) group, you would still be dependent and need to go through the painful process of re-learning to complete your solutions and achieve your goal.</a:t>
            </a:r>
          </a:p>
        </p:txBody>
      </p:sp>
    </p:spTree>
    <p:extLst>
      <p:ext uri="{BB962C8B-B14F-4D97-AF65-F5344CB8AC3E}">
        <p14:creationId xmlns:p14="http://schemas.microsoft.com/office/powerpoint/2010/main" val="2837118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B693CD8-3D9C-4CF2-9DFB-6FD06C65807D}"/>
              </a:ext>
            </a:extLst>
          </p:cNvPr>
          <p:cNvSpPr>
            <a:spLocks noGrp="1"/>
          </p:cNvSpPr>
          <p:nvPr>
            <p:ph type="ftr" sz="quarter" idx="11"/>
          </p:nvPr>
        </p:nvSpPr>
        <p:spPr/>
        <p:txBody>
          <a:bodyPr/>
          <a:lstStyle/>
          <a:p>
            <a:r>
              <a:rPr lang="en-US"/>
              <a:t>CSC3113-Theory of Computation</a:t>
            </a:r>
          </a:p>
        </p:txBody>
      </p:sp>
      <p:sp>
        <p:nvSpPr>
          <p:cNvPr id="3" name="Text Placeholder 2">
            <a:extLst>
              <a:ext uri="{FF2B5EF4-FFF2-40B4-BE49-F238E27FC236}">
                <a16:creationId xmlns:a16="http://schemas.microsoft.com/office/drawing/2014/main" id="{4D90A792-AF98-44DF-8C53-503FA05448EE}"/>
              </a:ext>
            </a:extLst>
          </p:cNvPr>
          <p:cNvSpPr>
            <a:spLocks noGrp="1"/>
          </p:cNvSpPr>
          <p:nvPr>
            <p:ph type="body" sz="quarter" idx="12"/>
          </p:nvPr>
        </p:nvSpPr>
        <p:spPr/>
        <p:txBody>
          <a:bodyPr/>
          <a:lstStyle/>
          <a:p>
            <a:r>
              <a:rPr lang="en-US" dirty="0">
                <a:solidFill>
                  <a:srgbClr val="FF0000"/>
                </a:solidFill>
              </a:rPr>
              <a:t>…Why study Theory of Computation?</a:t>
            </a:r>
          </a:p>
        </p:txBody>
      </p:sp>
      <p:sp>
        <p:nvSpPr>
          <p:cNvPr id="4" name="Text Placeholder 3">
            <a:extLst>
              <a:ext uri="{FF2B5EF4-FFF2-40B4-BE49-F238E27FC236}">
                <a16:creationId xmlns:a16="http://schemas.microsoft.com/office/drawing/2014/main" id="{1670CFD6-CC15-4C5A-BD3F-6ED1F1315572}"/>
              </a:ext>
            </a:extLst>
          </p:cNvPr>
          <p:cNvSpPr>
            <a:spLocks noGrp="1"/>
          </p:cNvSpPr>
          <p:nvPr>
            <p:ph type="body" sz="quarter" idx="13"/>
          </p:nvPr>
        </p:nvSpPr>
        <p:spPr/>
        <p:txBody>
          <a:bodyPr>
            <a:normAutofit/>
          </a:bodyPr>
          <a:lstStyle/>
          <a:p>
            <a:pPr algn="just">
              <a:spcBef>
                <a:spcPts val="0"/>
              </a:spcBef>
              <a:spcAft>
                <a:spcPts val="1800"/>
              </a:spcAft>
              <a:buClrTx/>
              <a:buFont typeface="Wingdings" panose="05000000000000000000" pitchFamily="2" charset="2"/>
              <a:buChar char="q"/>
            </a:pPr>
            <a:r>
              <a:rPr lang="en-US" sz="2000" dirty="0"/>
              <a:t>If you have a good concept of the theory of computation along with your favorite areas of computer science, you will definitely have a privilege over others to achieve your professional goal. You will not be completely dependent on the given capacities of the devices/tools. As you have the idea of computation, you can come up with your own tools/devices based on the requirement of your solution.</a:t>
            </a:r>
          </a:p>
          <a:p>
            <a:pPr algn="just">
              <a:spcBef>
                <a:spcPts val="0"/>
              </a:spcBef>
              <a:spcAft>
                <a:spcPts val="1800"/>
              </a:spcAft>
              <a:buClrTx/>
              <a:buFont typeface="Wingdings" panose="05000000000000000000" pitchFamily="2" charset="2"/>
              <a:buChar char="q"/>
            </a:pPr>
            <a:r>
              <a:rPr lang="en-US" sz="2000" dirty="0">
                <a:solidFill>
                  <a:srgbClr val="5D20CA"/>
                </a:solidFill>
              </a:rPr>
              <a:t>In present technological world (IoT, </a:t>
            </a:r>
            <a:r>
              <a:rPr lang="en-US" sz="2000" dirty="0" err="1">
                <a:solidFill>
                  <a:srgbClr val="5D20CA"/>
                </a:solidFill>
              </a:rPr>
              <a:t>BigData</a:t>
            </a:r>
            <a:r>
              <a:rPr lang="en-US" sz="2000" dirty="0">
                <a:solidFill>
                  <a:srgbClr val="5D20CA"/>
                </a:solidFill>
              </a:rPr>
              <a:t>, AI, etc.) everything is a blending of hardware and software. To be a better computer professional, you must know the computational models, capabilities, and/or complexities to put a software onto a hardware or engineer a hardware for an intended software</a:t>
            </a:r>
            <a:r>
              <a:rPr lang="en-US" sz="2000" dirty="0"/>
              <a:t>.</a:t>
            </a:r>
          </a:p>
          <a:p>
            <a:pPr algn="just">
              <a:spcBef>
                <a:spcPts val="0"/>
              </a:spcBef>
              <a:spcAft>
                <a:spcPts val="1800"/>
              </a:spcAft>
              <a:buClrTx/>
              <a:buFont typeface="Wingdings" panose="05000000000000000000" pitchFamily="2" charset="2"/>
              <a:buChar char="q"/>
            </a:pPr>
            <a:r>
              <a:rPr lang="en-US" sz="2000" dirty="0"/>
              <a:t>In theory of computation you will learn abstract machines, systems, or model of computation, which will be defined mathematically. Every change or enhancement we made on a mathematical computational model of devices/systems, can surely be implemented as the theory gives us  fundamental capabilities and limitations of these devices/systems. Now the opposite is not possible. You cannot make a device or system first then come up with a theory to sustain it. </a:t>
            </a:r>
          </a:p>
        </p:txBody>
      </p:sp>
    </p:spTree>
    <p:extLst>
      <p:ext uri="{BB962C8B-B14F-4D97-AF65-F5344CB8AC3E}">
        <p14:creationId xmlns:p14="http://schemas.microsoft.com/office/powerpoint/2010/main" val="1867692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C6B610-712B-49B9-AC43-1C627985BDC7}"/>
              </a:ext>
            </a:extLst>
          </p:cNvPr>
          <p:cNvSpPr>
            <a:spLocks noGrp="1"/>
          </p:cNvSpPr>
          <p:nvPr>
            <p:ph type="ftr" sz="quarter" idx="11"/>
          </p:nvPr>
        </p:nvSpPr>
        <p:spPr/>
        <p:txBody>
          <a:bodyPr/>
          <a:lstStyle/>
          <a:p>
            <a:r>
              <a:rPr lang="en-US"/>
              <a:t>CSC3113-Theory of Computation</a:t>
            </a:r>
          </a:p>
        </p:txBody>
      </p:sp>
      <p:sp>
        <p:nvSpPr>
          <p:cNvPr id="3" name="Text Placeholder 2">
            <a:extLst>
              <a:ext uri="{FF2B5EF4-FFF2-40B4-BE49-F238E27FC236}">
                <a16:creationId xmlns:a16="http://schemas.microsoft.com/office/drawing/2014/main" id="{62585403-E531-4B1C-8D1E-58A03C40D908}"/>
              </a:ext>
            </a:extLst>
          </p:cNvPr>
          <p:cNvSpPr>
            <a:spLocks noGrp="1"/>
          </p:cNvSpPr>
          <p:nvPr>
            <p:ph type="body" sz="quarter" idx="12"/>
          </p:nvPr>
        </p:nvSpPr>
        <p:spPr/>
        <p:txBody>
          <a:bodyPr/>
          <a:lstStyle/>
          <a:p>
            <a:r>
              <a:rPr lang="en-US" dirty="0">
                <a:solidFill>
                  <a:srgbClr val="FF0000"/>
                </a:solidFill>
              </a:rPr>
              <a:t>…Why study Theory of Computation?</a:t>
            </a:r>
          </a:p>
        </p:txBody>
      </p:sp>
      <p:sp>
        <p:nvSpPr>
          <p:cNvPr id="4" name="Text Placeholder 3">
            <a:extLst>
              <a:ext uri="{FF2B5EF4-FFF2-40B4-BE49-F238E27FC236}">
                <a16:creationId xmlns:a16="http://schemas.microsoft.com/office/drawing/2014/main" id="{E4F8ED01-4536-4A55-9DF2-53A7A6D8B33B}"/>
              </a:ext>
            </a:extLst>
          </p:cNvPr>
          <p:cNvSpPr>
            <a:spLocks noGrp="1"/>
          </p:cNvSpPr>
          <p:nvPr>
            <p:ph type="body" sz="quarter" idx="13"/>
          </p:nvPr>
        </p:nvSpPr>
        <p:spPr/>
        <p:txBody>
          <a:bodyPr>
            <a:normAutofit fontScale="85000" lnSpcReduction="20000"/>
          </a:bodyPr>
          <a:lstStyle/>
          <a:p>
            <a:pPr algn="just">
              <a:lnSpc>
                <a:spcPct val="110000"/>
              </a:lnSpc>
              <a:spcBef>
                <a:spcPts val="0"/>
              </a:spcBef>
              <a:spcAft>
                <a:spcPts val="600"/>
              </a:spcAft>
              <a:buFont typeface="Wingdings" panose="05000000000000000000" pitchFamily="2" charset="2"/>
              <a:buChar char="q"/>
            </a:pPr>
            <a:r>
              <a:rPr lang="en-US" dirty="0">
                <a:solidFill>
                  <a:srgbClr val="5D20CA"/>
                </a:solidFill>
              </a:rPr>
              <a:t>The importance to study the theory of computation is to </a:t>
            </a:r>
          </a:p>
          <a:p>
            <a:pPr lvl="1" algn="just">
              <a:lnSpc>
                <a:spcPct val="110000"/>
              </a:lnSpc>
              <a:spcBef>
                <a:spcPts val="0"/>
              </a:spcBef>
              <a:spcAft>
                <a:spcPts val="600"/>
              </a:spcAft>
              <a:buFont typeface="Wingdings" panose="05000000000000000000" pitchFamily="2" charset="2"/>
              <a:buChar char="Ø"/>
            </a:pPr>
            <a:r>
              <a:rPr lang="en-US" dirty="0"/>
              <a:t>Better understand the development of formal mathematical models of computation that reflect the real-world of computer.</a:t>
            </a:r>
          </a:p>
          <a:p>
            <a:pPr lvl="1" algn="just">
              <a:lnSpc>
                <a:spcPct val="110000"/>
              </a:lnSpc>
              <a:spcBef>
                <a:spcPts val="0"/>
              </a:spcBef>
              <a:spcAft>
                <a:spcPts val="600"/>
              </a:spcAft>
              <a:buFont typeface="Wingdings" panose="05000000000000000000" pitchFamily="2" charset="2"/>
              <a:buChar char="Ø"/>
            </a:pPr>
            <a:r>
              <a:rPr lang="en-US" dirty="0">
                <a:solidFill>
                  <a:srgbClr val="5D20CA"/>
                </a:solidFill>
              </a:rPr>
              <a:t>To achieve deep understanding about the mathematical properties of computer hardware and software.</a:t>
            </a:r>
          </a:p>
          <a:p>
            <a:pPr lvl="1" algn="just">
              <a:lnSpc>
                <a:spcPct val="110000"/>
              </a:lnSpc>
              <a:spcBef>
                <a:spcPts val="0"/>
              </a:spcBef>
              <a:spcAft>
                <a:spcPts val="600"/>
              </a:spcAft>
              <a:buFont typeface="Wingdings" panose="05000000000000000000" pitchFamily="2" charset="2"/>
              <a:buChar char="Ø"/>
            </a:pPr>
            <a:r>
              <a:rPr lang="en-US" dirty="0"/>
              <a:t>Mathematical definitions of the computation and the algorithm.</a:t>
            </a:r>
          </a:p>
          <a:p>
            <a:pPr lvl="1" algn="just">
              <a:lnSpc>
                <a:spcPct val="110000"/>
              </a:lnSpc>
              <a:spcBef>
                <a:spcPts val="0"/>
              </a:spcBef>
              <a:spcAft>
                <a:spcPts val="600"/>
              </a:spcAft>
              <a:buFont typeface="Wingdings" panose="05000000000000000000" pitchFamily="2" charset="2"/>
              <a:buChar char="Ø"/>
            </a:pPr>
            <a:r>
              <a:rPr lang="en-US" dirty="0">
                <a:solidFill>
                  <a:srgbClr val="5D20CA"/>
                </a:solidFill>
              </a:rPr>
              <a:t>To rectify the limitations of computers and answer what kind of problems can be computed?</a:t>
            </a:r>
          </a:p>
          <a:p>
            <a:pPr>
              <a:lnSpc>
                <a:spcPct val="110000"/>
              </a:lnSpc>
              <a:spcBef>
                <a:spcPts val="0"/>
              </a:spcBef>
              <a:spcAft>
                <a:spcPts val="600"/>
              </a:spcAft>
              <a:buFont typeface="Wingdings" panose="05000000000000000000" pitchFamily="2" charset="2"/>
              <a:buChar char="q"/>
            </a:pPr>
            <a:r>
              <a:rPr lang="en-US" b="1" dirty="0">
                <a:solidFill>
                  <a:srgbClr val="FF0000"/>
                </a:solidFill>
              </a:rPr>
              <a:t>Usability </a:t>
            </a:r>
            <a:r>
              <a:rPr lang="en-US" dirty="0">
                <a:solidFill>
                  <a:srgbClr val="FF0000"/>
                </a:solidFill>
              </a:rPr>
              <a:t>of TOC</a:t>
            </a:r>
            <a:r>
              <a:rPr lang="en-US" b="1" dirty="0">
                <a:solidFill>
                  <a:srgbClr val="FF0000"/>
                </a:solidFill>
              </a:rPr>
              <a:t>:</a:t>
            </a:r>
          </a:p>
          <a:p>
            <a:pPr lvl="1">
              <a:lnSpc>
                <a:spcPct val="110000"/>
              </a:lnSpc>
              <a:spcBef>
                <a:spcPts val="0"/>
              </a:spcBef>
              <a:spcAft>
                <a:spcPts val="600"/>
              </a:spcAft>
              <a:buFont typeface="Wingdings" panose="05000000000000000000" pitchFamily="2" charset="2"/>
              <a:buChar char="Ø"/>
            </a:pPr>
            <a:r>
              <a:rPr lang="en-US" dirty="0"/>
              <a:t>Machines Models (different computational devices/SW tools)</a:t>
            </a:r>
          </a:p>
          <a:p>
            <a:pPr lvl="1">
              <a:lnSpc>
                <a:spcPct val="110000"/>
              </a:lnSpc>
              <a:spcBef>
                <a:spcPts val="0"/>
              </a:spcBef>
              <a:spcAft>
                <a:spcPts val="600"/>
              </a:spcAft>
              <a:buFont typeface="Wingdings" panose="05000000000000000000" pitchFamily="2" charset="2"/>
              <a:buChar char="Ø"/>
            </a:pPr>
            <a:r>
              <a:rPr lang="en-US" dirty="0"/>
              <a:t>Problem/solution Models (machines/algorithms can be used to solve)</a:t>
            </a:r>
          </a:p>
          <a:p>
            <a:pPr lvl="1">
              <a:lnSpc>
                <a:spcPct val="110000"/>
              </a:lnSpc>
              <a:spcBef>
                <a:spcPts val="0"/>
              </a:spcBef>
              <a:spcAft>
                <a:spcPts val="600"/>
              </a:spcAft>
              <a:buFont typeface="Wingdings" panose="05000000000000000000" pitchFamily="2" charset="2"/>
              <a:buChar char="Ø"/>
            </a:pPr>
            <a:r>
              <a:rPr lang="en-US" dirty="0"/>
              <a:t>Theorems about what types of machines can solve what types of problems, and at what cost.</a:t>
            </a:r>
          </a:p>
          <a:p>
            <a:pPr>
              <a:lnSpc>
                <a:spcPct val="110000"/>
              </a:lnSpc>
              <a:spcBef>
                <a:spcPts val="0"/>
              </a:spcBef>
              <a:spcAft>
                <a:spcPts val="600"/>
              </a:spcAft>
              <a:buFont typeface="Wingdings" panose="05000000000000000000" pitchFamily="2" charset="2"/>
              <a:buChar char="q"/>
            </a:pPr>
            <a:r>
              <a:rPr lang="en-US" dirty="0">
                <a:solidFill>
                  <a:srgbClr val="FF0000"/>
                </a:solidFill>
              </a:rPr>
              <a:t>We will work on </a:t>
            </a:r>
            <a:r>
              <a:rPr lang="en-US" b="1" dirty="0">
                <a:solidFill>
                  <a:srgbClr val="FF0000"/>
                </a:solidFill>
              </a:rPr>
              <a:t>Sequential</a:t>
            </a:r>
            <a:r>
              <a:rPr lang="en-US" dirty="0">
                <a:solidFill>
                  <a:srgbClr val="FF0000"/>
                </a:solidFill>
              </a:rPr>
              <a:t> and </a:t>
            </a:r>
            <a:r>
              <a:rPr lang="en-US" b="1" dirty="0">
                <a:solidFill>
                  <a:srgbClr val="FF0000"/>
                </a:solidFill>
              </a:rPr>
              <a:t>single-processor</a:t>
            </a:r>
            <a:r>
              <a:rPr lang="en-US" dirty="0">
                <a:solidFill>
                  <a:srgbClr val="FF0000"/>
                </a:solidFill>
              </a:rPr>
              <a:t> computing, Focus on </a:t>
            </a:r>
            <a:r>
              <a:rPr lang="en-US" b="1" dirty="0">
                <a:solidFill>
                  <a:srgbClr val="FF0000"/>
                </a:solidFill>
              </a:rPr>
              <a:t>decision problems </a:t>
            </a:r>
            <a:r>
              <a:rPr lang="en-US" dirty="0">
                <a:solidFill>
                  <a:srgbClr val="FF0000"/>
                </a:solidFill>
              </a:rPr>
              <a:t>(yes/no answers) on </a:t>
            </a:r>
            <a:r>
              <a:rPr lang="en-US" b="1" dirty="0">
                <a:solidFill>
                  <a:srgbClr val="FF0000"/>
                </a:solidFill>
              </a:rPr>
              <a:t>discrete </a:t>
            </a:r>
            <a:r>
              <a:rPr lang="en-US" dirty="0">
                <a:solidFill>
                  <a:srgbClr val="FF0000"/>
                </a:solidFill>
              </a:rPr>
              <a:t>inputs.</a:t>
            </a:r>
          </a:p>
          <a:p>
            <a:pPr>
              <a:lnSpc>
                <a:spcPct val="110000"/>
              </a:lnSpc>
              <a:spcBef>
                <a:spcPts val="0"/>
              </a:spcBef>
              <a:spcAft>
                <a:spcPts val="600"/>
              </a:spcAft>
              <a:buFont typeface="Wingdings" panose="05000000000000000000" pitchFamily="2" charset="2"/>
              <a:buChar char="q"/>
            </a:pPr>
            <a:r>
              <a:rPr lang="en-US" dirty="0">
                <a:solidFill>
                  <a:srgbClr val="FF0000"/>
                </a:solidFill>
                <a:highlight>
                  <a:srgbClr val="FFFF00"/>
                </a:highlight>
              </a:rPr>
              <a:t>[C, E]</a:t>
            </a:r>
          </a:p>
          <a:p>
            <a:pPr algn="just">
              <a:lnSpc>
                <a:spcPct val="110000"/>
              </a:lnSpc>
              <a:spcBef>
                <a:spcPts val="0"/>
              </a:spcBef>
              <a:spcAft>
                <a:spcPts val="600"/>
              </a:spcAft>
            </a:pPr>
            <a:endParaRPr lang="en-US" dirty="0">
              <a:solidFill>
                <a:srgbClr val="0070C0"/>
              </a:solidFill>
            </a:endParaRPr>
          </a:p>
          <a:p>
            <a:pPr>
              <a:lnSpc>
                <a:spcPct val="110000"/>
              </a:lnSpc>
              <a:spcBef>
                <a:spcPts val="0"/>
              </a:spcBef>
              <a:spcAft>
                <a:spcPts val="600"/>
              </a:spcAft>
            </a:pPr>
            <a:endParaRPr lang="en-US" dirty="0"/>
          </a:p>
        </p:txBody>
      </p:sp>
    </p:spTree>
    <p:extLst>
      <p:ext uri="{BB962C8B-B14F-4D97-AF65-F5344CB8AC3E}">
        <p14:creationId xmlns:p14="http://schemas.microsoft.com/office/powerpoint/2010/main" val="1790684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fade">
                                      <p:cBhvr>
                                        <p:cTn id="11" dur="500"/>
                                        <p:tgtEl>
                                          <p:spTgt spid="4">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500"/>
                                        <p:tgtEl>
                                          <p:spTgt spid="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 calcmode="lin" valueType="num">
                                      <p:cBhvr additive="base">
                                        <p:cTn id="3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animEffect transition="in" filter="fade">
                                      <p:cBhvr>
                                        <p:cTn id="43" dur="500"/>
                                        <p:tgtEl>
                                          <p:spTgt spid="4">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4">
                                            <p:txEl>
                                              <p:pRg st="9" end="9"/>
                                            </p:txEl>
                                          </p:spTgt>
                                        </p:tgtEl>
                                        <p:attrNameLst>
                                          <p:attrName>style.visibility</p:attrName>
                                        </p:attrNameLst>
                                      </p:cBhvr>
                                      <p:to>
                                        <p:strVal val="visible"/>
                                      </p:to>
                                    </p:set>
                                    <p:anim calcmode="lin" valueType="num">
                                      <p:cBhvr additive="base">
                                        <p:cTn id="48"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4">
                                            <p:txEl>
                                              <p:pRg st="10" end="10"/>
                                            </p:txEl>
                                          </p:spTgt>
                                        </p:tgtEl>
                                        <p:attrNameLst>
                                          <p:attrName>style.visibility</p:attrName>
                                        </p:attrNameLst>
                                      </p:cBhvr>
                                      <p:to>
                                        <p:strVal val="visible"/>
                                      </p:to>
                                    </p:set>
                                    <p:anim calcmode="lin" valueType="num">
                                      <p:cBhvr additive="base">
                                        <p:cTn id="54"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B34B9B4-D264-4AD4-A28D-5175FDA7CAC3}"/>
              </a:ext>
            </a:extLst>
          </p:cNvPr>
          <p:cNvSpPr>
            <a:spLocks noGrp="1"/>
          </p:cNvSpPr>
          <p:nvPr>
            <p:ph type="ftr" sz="quarter" idx="11"/>
          </p:nvPr>
        </p:nvSpPr>
        <p:spPr/>
        <p:txBody>
          <a:bodyPr/>
          <a:lstStyle/>
          <a:p>
            <a:r>
              <a:rPr lang="en-US"/>
              <a:t>CSC3113-Theory of Computation</a:t>
            </a:r>
          </a:p>
        </p:txBody>
      </p:sp>
      <p:sp>
        <p:nvSpPr>
          <p:cNvPr id="2" name="Text Placeholder 1">
            <a:extLst>
              <a:ext uri="{FF2B5EF4-FFF2-40B4-BE49-F238E27FC236}">
                <a16:creationId xmlns:a16="http://schemas.microsoft.com/office/drawing/2014/main" id="{B0018EAE-842A-419B-BF7D-9FA1FD22BD51}"/>
              </a:ext>
            </a:extLst>
          </p:cNvPr>
          <p:cNvSpPr>
            <a:spLocks noGrp="1"/>
          </p:cNvSpPr>
          <p:nvPr>
            <p:ph type="body" sz="quarter" idx="12"/>
          </p:nvPr>
        </p:nvSpPr>
        <p:spPr/>
        <p:txBody>
          <a:bodyPr/>
          <a:lstStyle/>
          <a:p>
            <a:r>
              <a:rPr lang="en-US" sz="3600" dirty="0">
                <a:solidFill>
                  <a:srgbClr val="FF0000"/>
                </a:solidFill>
              </a:rPr>
              <a:t>“Theory” of “Computation”</a:t>
            </a:r>
          </a:p>
        </p:txBody>
      </p:sp>
      <p:sp>
        <p:nvSpPr>
          <p:cNvPr id="3" name="Text Placeholder 2">
            <a:extLst>
              <a:ext uri="{FF2B5EF4-FFF2-40B4-BE49-F238E27FC236}">
                <a16:creationId xmlns:a16="http://schemas.microsoft.com/office/drawing/2014/main" id="{55B3D44F-B333-419C-B7D0-080B23B962D4}"/>
              </a:ext>
            </a:extLst>
          </p:cNvPr>
          <p:cNvSpPr>
            <a:spLocks noGrp="1"/>
          </p:cNvSpPr>
          <p:nvPr>
            <p:ph type="body" sz="quarter" idx="13"/>
          </p:nvPr>
        </p:nvSpPr>
        <p:spPr>
          <a:xfrm>
            <a:off x="2" y="1133856"/>
            <a:ext cx="9136063" cy="5303461"/>
          </a:xfrm>
        </p:spPr>
        <p:txBody>
          <a:bodyPr>
            <a:normAutofit/>
          </a:bodyPr>
          <a:lstStyle/>
          <a:p>
            <a:pPr algn="just">
              <a:spcBef>
                <a:spcPts val="0"/>
              </a:spcBef>
              <a:spcAft>
                <a:spcPts val="1800"/>
              </a:spcAft>
              <a:buFont typeface="Wingdings" panose="05000000000000000000" pitchFamily="2" charset="2"/>
              <a:buChar char="q"/>
            </a:pPr>
            <a:r>
              <a:rPr lang="en-US" b="1" dirty="0"/>
              <a:t>Computation:</a:t>
            </a:r>
            <a:r>
              <a:rPr lang="en-US" dirty="0"/>
              <a:t> The processing of information by the unlimited application of a finite set of operations or rules.</a:t>
            </a:r>
          </a:p>
          <a:p>
            <a:pPr algn="just">
              <a:spcBef>
                <a:spcPts val="0"/>
              </a:spcBef>
              <a:spcAft>
                <a:spcPts val="1800"/>
              </a:spcAft>
              <a:buFont typeface="Wingdings" panose="05000000000000000000" pitchFamily="2" charset="2"/>
              <a:buChar char="q"/>
            </a:pPr>
            <a:r>
              <a:rPr lang="en-US" b="1" dirty="0">
                <a:solidFill>
                  <a:srgbClr val="004EA8"/>
                </a:solidFill>
              </a:rPr>
              <a:t>Theory:</a:t>
            </a:r>
            <a:r>
              <a:rPr lang="en-US" dirty="0">
                <a:solidFill>
                  <a:srgbClr val="004EA8"/>
                </a:solidFill>
              </a:rPr>
              <a:t> General ideas that apply to many different systems (Independence from Technology); Expressed simply, abstractly, and precisely.</a:t>
            </a:r>
          </a:p>
          <a:p>
            <a:pPr lvl="1">
              <a:spcBef>
                <a:spcPts val="0"/>
              </a:spcBef>
              <a:spcAft>
                <a:spcPts val="1800"/>
              </a:spcAft>
              <a:buFont typeface="Wingdings" panose="05000000000000000000" pitchFamily="2" charset="2"/>
              <a:buChar char="q"/>
            </a:pPr>
            <a:r>
              <a:rPr lang="en-US" dirty="0"/>
              <a:t>Precision: Can be used to prove formal mathematical theorems</a:t>
            </a:r>
          </a:p>
          <a:p>
            <a:pPr lvl="2">
              <a:spcBef>
                <a:spcPts val="0"/>
              </a:spcBef>
              <a:spcAft>
                <a:spcPts val="1800"/>
              </a:spcAft>
              <a:buClrTx/>
              <a:buFont typeface="Wingdings" panose="05000000000000000000" pitchFamily="2" charset="2"/>
              <a:buChar char="Ø"/>
            </a:pPr>
            <a:r>
              <a:rPr lang="en-US" dirty="0"/>
              <a:t>Positive results (what can be computed): correctness of algorithms and system designs</a:t>
            </a:r>
          </a:p>
          <a:p>
            <a:pPr lvl="2">
              <a:spcBef>
                <a:spcPts val="0"/>
              </a:spcBef>
              <a:spcAft>
                <a:spcPts val="1800"/>
              </a:spcAft>
              <a:buClrTx/>
              <a:buFont typeface="Wingdings" panose="05000000000000000000" pitchFamily="2" charset="2"/>
              <a:buChar char="Ø"/>
            </a:pPr>
            <a:r>
              <a:rPr lang="en-US" dirty="0">
                <a:solidFill>
                  <a:srgbClr val="004EA8"/>
                </a:solidFill>
              </a:rPr>
              <a:t>Negative results (what cannot be computed): proof that there is no algorithm to solve some problem in some setting (with certain cost)</a:t>
            </a:r>
          </a:p>
        </p:txBody>
      </p:sp>
    </p:spTree>
    <p:extLst>
      <p:ext uri="{BB962C8B-B14F-4D97-AF65-F5344CB8AC3E}">
        <p14:creationId xmlns:p14="http://schemas.microsoft.com/office/powerpoint/2010/main" val="4071078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A7EB043-025E-4C67-BBA5-6D7584B55300}"/>
              </a:ext>
            </a:extLst>
          </p:cNvPr>
          <p:cNvSpPr>
            <a:spLocks noGrp="1"/>
          </p:cNvSpPr>
          <p:nvPr>
            <p:ph type="ftr" sz="quarter" idx="11"/>
          </p:nvPr>
        </p:nvSpPr>
        <p:spPr/>
        <p:txBody>
          <a:bodyPr/>
          <a:lstStyle/>
          <a:p>
            <a:r>
              <a:rPr lang="en-US"/>
              <a:t>CSC3113-Theory of Computation</a:t>
            </a:r>
          </a:p>
        </p:txBody>
      </p:sp>
      <p:sp>
        <p:nvSpPr>
          <p:cNvPr id="3" name="Text Placeholder 2">
            <a:extLst>
              <a:ext uri="{FF2B5EF4-FFF2-40B4-BE49-F238E27FC236}">
                <a16:creationId xmlns:a16="http://schemas.microsoft.com/office/drawing/2014/main" id="{59667E9B-A374-4328-B09C-C08B18D934CD}"/>
              </a:ext>
            </a:extLst>
          </p:cNvPr>
          <p:cNvSpPr>
            <a:spLocks noGrp="1"/>
          </p:cNvSpPr>
          <p:nvPr>
            <p:ph type="body" sz="quarter" idx="12"/>
          </p:nvPr>
        </p:nvSpPr>
        <p:spPr/>
        <p:txBody>
          <a:bodyPr/>
          <a:lstStyle/>
          <a:p>
            <a:r>
              <a:rPr lang="en-US" dirty="0">
                <a:solidFill>
                  <a:srgbClr val="FF0000"/>
                </a:solidFill>
              </a:rPr>
              <a:t>Linguistics</a:t>
            </a:r>
          </a:p>
        </p:txBody>
      </p:sp>
      <p:sp>
        <p:nvSpPr>
          <p:cNvPr id="4" name="Text Placeholder 3">
            <a:extLst>
              <a:ext uri="{FF2B5EF4-FFF2-40B4-BE49-F238E27FC236}">
                <a16:creationId xmlns:a16="http://schemas.microsoft.com/office/drawing/2014/main" id="{FB8F50C7-6FBD-4EB1-9001-967B5C9B6FD1}"/>
              </a:ext>
            </a:extLst>
          </p:cNvPr>
          <p:cNvSpPr>
            <a:spLocks noGrp="1"/>
          </p:cNvSpPr>
          <p:nvPr>
            <p:ph type="body" sz="quarter" idx="13"/>
          </p:nvPr>
        </p:nvSpPr>
        <p:spPr/>
        <p:txBody>
          <a:bodyPr>
            <a:normAutofit fontScale="77500" lnSpcReduction="20000"/>
          </a:bodyPr>
          <a:lstStyle/>
          <a:p>
            <a:pPr algn="just">
              <a:lnSpc>
                <a:spcPct val="120000"/>
              </a:lnSpc>
              <a:spcBef>
                <a:spcPts val="0"/>
              </a:spcBef>
              <a:spcAft>
                <a:spcPts val="600"/>
              </a:spcAft>
              <a:buClrTx/>
              <a:buFont typeface="Wingdings" panose="05000000000000000000" pitchFamily="2" charset="2"/>
              <a:buChar char="q"/>
            </a:pPr>
            <a:r>
              <a:rPr lang="en-US" dirty="0"/>
              <a:t>Linguistics is the scientific study of language. It involves the analysis of language form, language meaning, and language in context. </a:t>
            </a:r>
          </a:p>
          <a:p>
            <a:pPr algn="just">
              <a:lnSpc>
                <a:spcPct val="120000"/>
              </a:lnSpc>
              <a:spcBef>
                <a:spcPts val="0"/>
              </a:spcBef>
              <a:spcAft>
                <a:spcPts val="600"/>
              </a:spcAft>
              <a:buClrTx/>
              <a:buFont typeface="Wingdings" panose="05000000000000000000" pitchFamily="2" charset="2"/>
              <a:buChar char="q"/>
            </a:pPr>
            <a:r>
              <a:rPr lang="en-US" dirty="0">
                <a:solidFill>
                  <a:srgbClr val="004EA8"/>
                </a:solidFill>
              </a:rPr>
              <a:t>Language theory is a branch of mathematics concerned with describing languages as a set of operations over an alphabet</a:t>
            </a:r>
            <a:r>
              <a:rPr lang="en-US" dirty="0"/>
              <a:t>.</a:t>
            </a:r>
          </a:p>
          <a:p>
            <a:pPr algn="just">
              <a:lnSpc>
                <a:spcPct val="120000"/>
              </a:lnSpc>
              <a:spcBef>
                <a:spcPts val="0"/>
              </a:spcBef>
              <a:spcAft>
                <a:spcPts val="600"/>
              </a:spcAft>
              <a:buClrTx/>
              <a:buFont typeface="Wingdings" panose="05000000000000000000" pitchFamily="2" charset="2"/>
              <a:buChar char="q"/>
            </a:pPr>
            <a:r>
              <a:rPr lang="en-US" dirty="0"/>
              <a:t>We, the human, communicate with language. In written form, we use different symbols to express. But a machine has no capability to understand such symbols.</a:t>
            </a:r>
          </a:p>
          <a:p>
            <a:pPr algn="just">
              <a:lnSpc>
                <a:spcPct val="120000"/>
              </a:lnSpc>
              <a:spcBef>
                <a:spcPts val="0"/>
              </a:spcBef>
              <a:spcAft>
                <a:spcPts val="600"/>
              </a:spcAft>
              <a:buClrTx/>
              <a:buFont typeface="Wingdings" panose="05000000000000000000" pitchFamily="2" charset="2"/>
              <a:buChar char="q"/>
            </a:pPr>
            <a:r>
              <a:rPr lang="en-US" dirty="0">
                <a:solidFill>
                  <a:srgbClr val="004EA8"/>
                </a:solidFill>
              </a:rPr>
              <a:t>We know from our previous courses, that any computing system works on the format – Input </a:t>
            </a:r>
            <a:r>
              <a:rPr lang="en-US" dirty="0">
                <a:solidFill>
                  <a:srgbClr val="004EA8"/>
                </a:solidFill>
                <a:sym typeface="Wingdings" panose="05000000000000000000" pitchFamily="2" charset="2"/>
              </a:rPr>
              <a:t> Process  Output.</a:t>
            </a:r>
          </a:p>
          <a:p>
            <a:pPr algn="just">
              <a:lnSpc>
                <a:spcPct val="120000"/>
              </a:lnSpc>
              <a:spcBef>
                <a:spcPts val="0"/>
              </a:spcBef>
              <a:spcAft>
                <a:spcPts val="600"/>
              </a:spcAft>
              <a:buClrTx/>
              <a:buFont typeface="Wingdings" panose="05000000000000000000" pitchFamily="2" charset="2"/>
              <a:buChar char="q"/>
            </a:pPr>
            <a:r>
              <a:rPr lang="en-US" dirty="0">
                <a:sym typeface="Wingdings" panose="05000000000000000000" pitchFamily="2" charset="2"/>
              </a:rPr>
              <a:t>And every input we provide is nothing but a stream of symbols (even a picture or video is converted to streams of symbols) that is later converted to numbers and lastly into signals that a device can process.</a:t>
            </a:r>
          </a:p>
          <a:p>
            <a:pPr algn="just">
              <a:lnSpc>
                <a:spcPct val="120000"/>
              </a:lnSpc>
              <a:spcBef>
                <a:spcPts val="0"/>
              </a:spcBef>
              <a:spcAft>
                <a:spcPts val="600"/>
              </a:spcAft>
              <a:buClrTx/>
              <a:buFont typeface="Wingdings" panose="05000000000000000000" pitchFamily="2" charset="2"/>
              <a:buChar char="q"/>
            </a:pPr>
            <a:r>
              <a:rPr lang="en-US" dirty="0">
                <a:solidFill>
                  <a:srgbClr val="004EA8"/>
                </a:solidFill>
                <a:sym typeface="Wingdings" panose="05000000000000000000" pitchFamily="2" charset="2"/>
              </a:rPr>
              <a:t>For every models in this course we will be using the symbols (a-z, 0-9, #, $, etc.) as input and try to come up with a model of computation to process these streams into a meaningful output.</a:t>
            </a:r>
          </a:p>
          <a:p>
            <a:pPr algn="just">
              <a:lnSpc>
                <a:spcPct val="120000"/>
              </a:lnSpc>
              <a:spcBef>
                <a:spcPts val="0"/>
              </a:spcBef>
              <a:spcAft>
                <a:spcPts val="600"/>
              </a:spcAft>
              <a:buClrTx/>
              <a:buFont typeface="Wingdings" panose="05000000000000000000" pitchFamily="2" charset="2"/>
              <a:buChar char="q"/>
            </a:pPr>
            <a:r>
              <a:rPr lang="en-US" dirty="0">
                <a:sym typeface="Wingdings" panose="05000000000000000000" pitchFamily="2" charset="2"/>
              </a:rPr>
              <a:t>Our main focus would be to process a given language using a given configuration of machine/system (mathematical model) and find out if this language can be processed by this machine or not (decision problem).</a:t>
            </a:r>
          </a:p>
          <a:p>
            <a:pPr algn="just">
              <a:lnSpc>
                <a:spcPct val="120000"/>
              </a:lnSpc>
              <a:spcBef>
                <a:spcPts val="0"/>
              </a:spcBef>
              <a:spcAft>
                <a:spcPts val="600"/>
              </a:spcAft>
              <a:buFont typeface="Wingdings" panose="05000000000000000000" pitchFamily="2" charset="2"/>
              <a:buChar char="q"/>
            </a:pPr>
            <a:endParaRPr lang="en-US" dirty="0"/>
          </a:p>
          <a:p>
            <a:pPr>
              <a:lnSpc>
                <a:spcPct val="120000"/>
              </a:lnSpc>
              <a:spcBef>
                <a:spcPts val="0"/>
              </a:spcBef>
              <a:spcAft>
                <a:spcPts val="600"/>
              </a:spcAft>
              <a:buFont typeface="Wingdings" panose="05000000000000000000" pitchFamily="2" charset="2"/>
              <a:buChar char="q"/>
            </a:pPr>
            <a:endParaRPr lang="en-US" dirty="0"/>
          </a:p>
        </p:txBody>
      </p:sp>
    </p:spTree>
    <p:extLst>
      <p:ext uri="{BB962C8B-B14F-4D97-AF65-F5344CB8AC3E}">
        <p14:creationId xmlns:p14="http://schemas.microsoft.com/office/powerpoint/2010/main" val="1333006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9C67E6D-77F8-4336-A01E-FAC982EBC3C6}"/>
              </a:ext>
            </a:extLst>
          </p:cNvPr>
          <p:cNvSpPr>
            <a:spLocks noGrp="1"/>
          </p:cNvSpPr>
          <p:nvPr>
            <p:ph type="ftr" sz="quarter" idx="11"/>
          </p:nvPr>
        </p:nvSpPr>
        <p:spPr/>
        <p:txBody>
          <a:bodyPr/>
          <a:lstStyle/>
          <a:p>
            <a:r>
              <a:rPr lang="en-US"/>
              <a:t>CSC3113-Theory of Computation</a:t>
            </a:r>
          </a:p>
        </p:txBody>
      </p:sp>
      <p:sp>
        <p:nvSpPr>
          <p:cNvPr id="2" name="Text Placeholder 1">
            <a:extLst>
              <a:ext uri="{FF2B5EF4-FFF2-40B4-BE49-F238E27FC236}">
                <a16:creationId xmlns:a16="http://schemas.microsoft.com/office/drawing/2014/main" id="{933CB2BC-F699-49D0-A3B6-CF6F69525B03}"/>
              </a:ext>
            </a:extLst>
          </p:cNvPr>
          <p:cNvSpPr>
            <a:spLocks noGrp="1"/>
          </p:cNvSpPr>
          <p:nvPr>
            <p:ph type="body" sz="quarter" idx="12"/>
          </p:nvPr>
        </p:nvSpPr>
        <p:spPr/>
        <p:txBody>
          <a:bodyPr/>
          <a:lstStyle/>
          <a:p>
            <a:r>
              <a:rPr lang="en-US" dirty="0">
                <a:solidFill>
                  <a:srgbClr val="FF0000"/>
                </a:solidFill>
              </a:rPr>
              <a:t>Theory of Computation</a:t>
            </a:r>
          </a:p>
        </p:txBody>
      </p:sp>
      <p:sp>
        <p:nvSpPr>
          <p:cNvPr id="3" name="Text Placeholder 2">
            <a:extLst>
              <a:ext uri="{FF2B5EF4-FFF2-40B4-BE49-F238E27FC236}">
                <a16:creationId xmlns:a16="http://schemas.microsoft.com/office/drawing/2014/main" id="{79F52278-DC47-42E8-A12B-21FAA86A348D}"/>
              </a:ext>
            </a:extLst>
          </p:cNvPr>
          <p:cNvSpPr>
            <a:spLocks noGrp="1"/>
          </p:cNvSpPr>
          <p:nvPr>
            <p:ph type="body" sz="quarter" idx="13"/>
          </p:nvPr>
        </p:nvSpPr>
        <p:spPr>
          <a:xfrm>
            <a:off x="2" y="987552"/>
            <a:ext cx="9136063" cy="5449765"/>
          </a:xfrm>
        </p:spPr>
        <p:txBody>
          <a:bodyPr>
            <a:normAutofit fontScale="92500" lnSpcReduction="20000"/>
          </a:bodyPr>
          <a:lstStyle/>
          <a:p>
            <a:pPr algn="just">
              <a:lnSpc>
                <a:spcPct val="110000"/>
              </a:lnSpc>
              <a:spcBef>
                <a:spcPts val="0"/>
              </a:spcBef>
              <a:spcAft>
                <a:spcPts val="600"/>
              </a:spcAft>
              <a:buClrTx/>
              <a:buFont typeface="Wingdings" panose="05000000000000000000" pitchFamily="2" charset="2"/>
              <a:buChar char="q"/>
            </a:pPr>
            <a:r>
              <a:rPr lang="en-US" sz="2000" b="1" dirty="0">
                <a:solidFill>
                  <a:srgbClr val="FF0000"/>
                </a:solidFill>
              </a:rPr>
              <a:t>We will deal with – </a:t>
            </a:r>
          </a:p>
          <a:p>
            <a:pPr lvl="1" algn="just">
              <a:lnSpc>
                <a:spcPct val="110000"/>
              </a:lnSpc>
              <a:spcBef>
                <a:spcPts val="0"/>
              </a:spcBef>
              <a:spcAft>
                <a:spcPts val="600"/>
              </a:spcAft>
              <a:buClrTx/>
              <a:buFont typeface="Wingdings" panose="05000000000000000000" pitchFamily="2" charset="2"/>
              <a:buChar char="Ø"/>
            </a:pPr>
            <a:r>
              <a:rPr lang="en-US" sz="2000" dirty="0"/>
              <a:t>Mathematical abstraction of computing devices/systems called a model of computation.</a:t>
            </a:r>
          </a:p>
          <a:p>
            <a:pPr lvl="1" algn="just">
              <a:lnSpc>
                <a:spcPct val="110000"/>
              </a:lnSpc>
              <a:spcBef>
                <a:spcPts val="0"/>
              </a:spcBef>
              <a:spcAft>
                <a:spcPts val="600"/>
              </a:spcAft>
              <a:buClrTx/>
              <a:buFont typeface="Wingdings" panose="05000000000000000000" pitchFamily="2" charset="2"/>
              <a:buChar char="Ø"/>
            </a:pPr>
            <a:r>
              <a:rPr lang="en-US" sz="2000" dirty="0">
                <a:solidFill>
                  <a:srgbClr val="6600CC"/>
                </a:solidFill>
              </a:rPr>
              <a:t>What problems can be solved on a model of computation, using some  computational steps (algorithm</a:t>
            </a:r>
            <a:r>
              <a:rPr lang="en-US" sz="2000" dirty="0"/>
              <a:t>), </a:t>
            </a:r>
          </a:p>
          <a:p>
            <a:pPr lvl="1" algn="just">
              <a:lnSpc>
                <a:spcPct val="110000"/>
              </a:lnSpc>
              <a:spcBef>
                <a:spcPts val="0"/>
              </a:spcBef>
              <a:spcAft>
                <a:spcPts val="600"/>
              </a:spcAft>
              <a:buClrTx/>
              <a:buFont typeface="Wingdings" panose="05000000000000000000" pitchFamily="2" charset="2"/>
              <a:buChar char="Ø"/>
            </a:pPr>
            <a:r>
              <a:rPr lang="en-US" sz="2000" dirty="0"/>
              <a:t>How efficiently they can be solved or to what degree (e.g., approximate solutions versus precise ones). </a:t>
            </a:r>
          </a:p>
          <a:p>
            <a:pPr algn="just">
              <a:lnSpc>
                <a:spcPct val="110000"/>
              </a:lnSpc>
              <a:spcBef>
                <a:spcPts val="0"/>
              </a:spcBef>
              <a:spcAft>
                <a:spcPts val="600"/>
              </a:spcAft>
              <a:buClrTx/>
              <a:buFont typeface="Wingdings" panose="05000000000000000000" pitchFamily="2" charset="2"/>
              <a:buChar char="q"/>
            </a:pPr>
            <a:r>
              <a:rPr lang="en-US" sz="2000" dirty="0">
                <a:solidFill>
                  <a:srgbClr val="6600CC"/>
                </a:solidFill>
              </a:rPr>
              <a:t>Theory of computation (TOC) is based on analysis of the fundamental capabilities and limitations of computing devices/systems.</a:t>
            </a:r>
          </a:p>
          <a:p>
            <a:pPr algn="just">
              <a:lnSpc>
                <a:spcPct val="110000"/>
              </a:lnSpc>
              <a:spcBef>
                <a:spcPts val="0"/>
              </a:spcBef>
              <a:spcAft>
                <a:spcPts val="600"/>
              </a:spcAft>
              <a:buClrTx/>
              <a:buFont typeface="Wingdings" panose="05000000000000000000" pitchFamily="2" charset="2"/>
              <a:buChar char="q"/>
            </a:pPr>
            <a:r>
              <a:rPr lang="en-US" sz="2000" dirty="0"/>
              <a:t>The objective is to </a:t>
            </a:r>
            <a:r>
              <a:rPr lang="en-US" sz="2000" b="1" dirty="0"/>
              <a:t>Build</a:t>
            </a:r>
            <a:r>
              <a:rPr lang="en-US" sz="2000" dirty="0"/>
              <a:t> a </a:t>
            </a:r>
            <a:r>
              <a:rPr lang="en-US" sz="2000" b="1" dirty="0"/>
              <a:t>theory</a:t>
            </a:r>
            <a:r>
              <a:rPr lang="en-US" sz="2000" dirty="0"/>
              <a:t> out of the </a:t>
            </a:r>
            <a:r>
              <a:rPr lang="en-US" sz="2000" b="1" dirty="0"/>
              <a:t>idea</a:t>
            </a:r>
            <a:r>
              <a:rPr lang="en-US" sz="2000" dirty="0"/>
              <a:t> of </a:t>
            </a:r>
            <a:r>
              <a:rPr lang="en-US" sz="2000" b="1" dirty="0"/>
              <a:t>computation</a:t>
            </a:r>
            <a:r>
              <a:rPr lang="en-US" sz="2000" dirty="0"/>
              <a:t>.</a:t>
            </a:r>
          </a:p>
          <a:p>
            <a:pPr>
              <a:lnSpc>
                <a:spcPct val="110000"/>
              </a:lnSpc>
              <a:spcBef>
                <a:spcPts val="0"/>
              </a:spcBef>
              <a:spcAft>
                <a:spcPts val="600"/>
              </a:spcAft>
              <a:buClrTx/>
              <a:buFont typeface="Wingdings" panose="05000000000000000000" pitchFamily="2" charset="2"/>
              <a:buChar char="q"/>
            </a:pPr>
            <a:r>
              <a:rPr lang="en-US" sz="2000" b="1" dirty="0">
                <a:solidFill>
                  <a:srgbClr val="FF0000"/>
                </a:solidFill>
              </a:rPr>
              <a:t>Three areas are explored for this purpose –</a:t>
            </a:r>
          </a:p>
          <a:p>
            <a:pPr lvl="1">
              <a:lnSpc>
                <a:spcPct val="110000"/>
              </a:lnSpc>
              <a:spcBef>
                <a:spcPts val="0"/>
              </a:spcBef>
              <a:spcAft>
                <a:spcPts val="600"/>
              </a:spcAft>
              <a:buClrTx/>
              <a:buFont typeface="Wingdings" panose="05000000000000000000" pitchFamily="2" charset="2"/>
              <a:buChar char="Ø"/>
            </a:pPr>
            <a:r>
              <a:rPr lang="en-US" sz="2000" dirty="0"/>
              <a:t>Automata (formal languages)</a:t>
            </a:r>
          </a:p>
          <a:p>
            <a:pPr lvl="1">
              <a:lnSpc>
                <a:spcPct val="110000"/>
              </a:lnSpc>
              <a:spcBef>
                <a:spcPts val="0"/>
              </a:spcBef>
              <a:spcAft>
                <a:spcPts val="600"/>
              </a:spcAft>
              <a:buClrTx/>
              <a:buFont typeface="Wingdings" panose="05000000000000000000" pitchFamily="2" charset="2"/>
              <a:buChar char="Ø"/>
            </a:pPr>
            <a:r>
              <a:rPr lang="en-US" sz="2000" dirty="0"/>
              <a:t>Computability </a:t>
            </a:r>
          </a:p>
          <a:p>
            <a:pPr lvl="1">
              <a:lnSpc>
                <a:spcPct val="110000"/>
              </a:lnSpc>
              <a:spcBef>
                <a:spcPts val="0"/>
              </a:spcBef>
              <a:spcAft>
                <a:spcPts val="600"/>
              </a:spcAft>
              <a:buClrTx/>
              <a:buFont typeface="Wingdings" panose="05000000000000000000" pitchFamily="2" charset="2"/>
              <a:buChar char="Ø"/>
            </a:pPr>
            <a:r>
              <a:rPr lang="en-US" sz="2000" dirty="0"/>
              <a:t>Complexity</a:t>
            </a:r>
          </a:p>
          <a:p>
            <a:pPr algn="just">
              <a:lnSpc>
                <a:spcPct val="110000"/>
              </a:lnSpc>
              <a:spcBef>
                <a:spcPts val="0"/>
              </a:spcBef>
              <a:spcAft>
                <a:spcPts val="600"/>
              </a:spcAft>
              <a:buClrTx/>
              <a:buFont typeface="Wingdings" panose="05000000000000000000" pitchFamily="2" charset="2"/>
              <a:buChar char="q"/>
            </a:pPr>
            <a:r>
              <a:rPr lang="en-US" sz="2000" dirty="0">
                <a:solidFill>
                  <a:srgbClr val="004EA8"/>
                </a:solidFill>
              </a:rPr>
              <a:t>Though these ideas and models are mathematical in nature, each of these three areas has different interpretation of the analysis. And the solution also very according to the interpretation.</a:t>
            </a:r>
          </a:p>
          <a:p>
            <a:pPr>
              <a:lnSpc>
                <a:spcPct val="110000"/>
              </a:lnSpc>
              <a:spcBef>
                <a:spcPts val="0"/>
              </a:spcBef>
              <a:spcAft>
                <a:spcPts val="600"/>
              </a:spcAft>
              <a:buClrTx/>
              <a:buFont typeface="Wingdings" panose="05000000000000000000" pitchFamily="2" charset="2"/>
              <a:buChar char="q"/>
            </a:pPr>
            <a:endParaRPr lang="en-US" dirty="0"/>
          </a:p>
        </p:txBody>
      </p:sp>
    </p:spTree>
    <p:extLst>
      <p:ext uri="{BB962C8B-B14F-4D97-AF65-F5344CB8AC3E}">
        <p14:creationId xmlns:p14="http://schemas.microsoft.com/office/powerpoint/2010/main" val="8258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A40FCF3-B6D9-4094-B9D8-9DF6AFFB7ABC}"/>
              </a:ext>
            </a:extLst>
          </p:cNvPr>
          <p:cNvSpPr>
            <a:spLocks noGrp="1"/>
          </p:cNvSpPr>
          <p:nvPr>
            <p:ph type="ftr" sz="quarter" idx="11"/>
          </p:nvPr>
        </p:nvSpPr>
        <p:spPr/>
        <p:txBody>
          <a:bodyPr/>
          <a:lstStyle/>
          <a:p>
            <a:r>
              <a:rPr lang="en-US" dirty="0"/>
              <a:t>CSC3113-Theory of Computation</a:t>
            </a:r>
          </a:p>
        </p:txBody>
      </p:sp>
      <p:sp>
        <p:nvSpPr>
          <p:cNvPr id="3" name="Text Placeholder 2">
            <a:extLst>
              <a:ext uri="{FF2B5EF4-FFF2-40B4-BE49-F238E27FC236}">
                <a16:creationId xmlns:a16="http://schemas.microsoft.com/office/drawing/2014/main" id="{B8DD3A40-DADB-48EB-B506-54E1917AC69C}"/>
              </a:ext>
            </a:extLst>
          </p:cNvPr>
          <p:cNvSpPr>
            <a:spLocks noGrp="1"/>
          </p:cNvSpPr>
          <p:nvPr>
            <p:ph type="body" sz="quarter" idx="12"/>
          </p:nvPr>
        </p:nvSpPr>
        <p:spPr/>
        <p:txBody>
          <a:bodyPr/>
          <a:lstStyle/>
          <a:p>
            <a:r>
              <a:rPr lang="en-US" sz="3600" b="1" dirty="0">
                <a:solidFill>
                  <a:srgbClr val="FF0000"/>
                </a:solidFill>
              </a:rPr>
              <a:t>Automata Theory</a:t>
            </a:r>
          </a:p>
        </p:txBody>
      </p:sp>
      <p:sp>
        <p:nvSpPr>
          <p:cNvPr id="4" name="Text Placeholder 3">
            <a:extLst>
              <a:ext uri="{FF2B5EF4-FFF2-40B4-BE49-F238E27FC236}">
                <a16:creationId xmlns:a16="http://schemas.microsoft.com/office/drawing/2014/main" id="{0299779A-9ACD-4715-8B20-60E5527C7A68}"/>
              </a:ext>
            </a:extLst>
          </p:cNvPr>
          <p:cNvSpPr>
            <a:spLocks noGrp="1"/>
          </p:cNvSpPr>
          <p:nvPr>
            <p:ph type="body" sz="quarter" idx="13"/>
          </p:nvPr>
        </p:nvSpPr>
        <p:spPr/>
        <p:txBody>
          <a:bodyPr>
            <a:normAutofit fontScale="85000" lnSpcReduction="20000"/>
          </a:bodyPr>
          <a:lstStyle/>
          <a:p>
            <a:pPr algn="just">
              <a:lnSpc>
                <a:spcPct val="120000"/>
              </a:lnSpc>
              <a:spcBef>
                <a:spcPts val="0"/>
              </a:spcBef>
              <a:spcAft>
                <a:spcPts val="600"/>
              </a:spcAft>
              <a:buClrTx/>
              <a:buFont typeface="Wingdings" panose="05000000000000000000" pitchFamily="2" charset="2"/>
              <a:buChar char="q"/>
            </a:pPr>
            <a:r>
              <a:rPr lang="en-US" dirty="0"/>
              <a:t>Automata comes from the Greek word (</a:t>
            </a:r>
            <a:r>
              <a:rPr lang="en-US" dirty="0" err="1"/>
              <a:t>Αυτόμ</a:t>
            </a:r>
            <a:r>
              <a:rPr lang="en-US" dirty="0"/>
              <a:t>ατα) which means that something is doing something by itself. </a:t>
            </a:r>
          </a:p>
          <a:p>
            <a:pPr algn="just">
              <a:lnSpc>
                <a:spcPct val="120000"/>
              </a:lnSpc>
              <a:spcBef>
                <a:spcPts val="0"/>
              </a:spcBef>
              <a:spcAft>
                <a:spcPts val="600"/>
              </a:spcAft>
              <a:buClrTx/>
              <a:buFont typeface="Wingdings" panose="05000000000000000000" pitchFamily="2" charset="2"/>
              <a:buChar char="q"/>
            </a:pPr>
            <a:r>
              <a:rPr lang="en-US" dirty="0">
                <a:solidFill>
                  <a:srgbClr val="6600CC"/>
                </a:solidFill>
              </a:rPr>
              <a:t>Automata deals with the study of abstract (mathematical model) machines or systems (definition and properties) and the computational problems (defined in terms of formal languages) that can be solved (recognized) using these machines. </a:t>
            </a:r>
          </a:p>
          <a:p>
            <a:pPr lvl="1" algn="just">
              <a:lnSpc>
                <a:spcPct val="120000"/>
              </a:lnSpc>
              <a:spcBef>
                <a:spcPts val="0"/>
              </a:spcBef>
              <a:spcAft>
                <a:spcPts val="600"/>
              </a:spcAft>
              <a:buFont typeface="Wingdings" panose="05000000000000000000" pitchFamily="2" charset="2"/>
              <a:buChar char="Ø"/>
            </a:pPr>
            <a:r>
              <a:rPr lang="en-US" dirty="0"/>
              <a:t>An automaton can be a finite representation of a formal language that may be an infinite set (language theory). Formal languages are the preferred mode of specification (input) for any problem that must be computed (processed).</a:t>
            </a:r>
          </a:p>
          <a:p>
            <a:pPr lvl="1" algn="just">
              <a:lnSpc>
                <a:spcPct val="120000"/>
              </a:lnSpc>
              <a:spcBef>
                <a:spcPts val="0"/>
              </a:spcBef>
              <a:spcAft>
                <a:spcPts val="600"/>
              </a:spcAft>
              <a:buClrTx/>
              <a:buFont typeface="Wingdings" panose="05000000000000000000" pitchFamily="2" charset="2"/>
              <a:buChar char="Ø"/>
            </a:pPr>
            <a:r>
              <a:rPr lang="en-US" dirty="0">
                <a:solidFill>
                  <a:srgbClr val="6600CC"/>
                </a:solidFill>
              </a:rPr>
              <a:t>Automata are used as theoretical models for computing machines (input, process, output),  </a:t>
            </a:r>
          </a:p>
          <a:p>
            <a:pPr lvl="1" algn="just">
              <a:lnSpc>
                <a:spcPct val="120000"/>
              </a:lnSpc>
              <a:spcBef>
                <a:spcPts val="0"/>
              </a:spcBef>
              <a:spcAft>
                <a:spcPts val="600"/>
              </a:spcAft>
              <a:buFont typeface="Wingdings" panose="05000000000000000000" pitchFamily="2" charset="2"/>
              <a:buChar char="Ø"/>
            </a:pPr>
            <a:r>
              <a:rPr lang="en-US" dirty="0"/>
              <a:t>These abstract computing machines are used for proofs about computability (solvability).</a:t>
            </a:r>
          </a:p>
          <a:p>
            <a:pPr algn="just">
              <a:lnSpc>
                <a:spcPct val="120000"/>
              </a:lnSpc>
              <a:spcBef>
                <a:spcPts val="0"/>
              </a:spcBef>
              <a:spcAft>
                <a:spcPts val="600"/>
              </a:spcAft>
              <a:buClrTx/>
              <a:buFont typeface="Wingdings" panose="05000000000000000000" pitchFamily="2" charset="2"/>
              <a:buChar char="q"/>
            </a:pPr>
            <a:r>
              <a:rPr lang="en-US" dirty="0"/>
              <a:t>Such models include –</a:t>
            </a:r>
          </a:p>
          <a:p>
            <a:pPr lvl="1" algn="just">
              <a:lnSpc>
                <a:spcPct val="120000"/>
              </a:lnSpc>
              <a:spcBef>
                <a:spcPts val="0"/>
              </a:spcBef>
              <a:spcAft>
                <a:spcPts val="600"/>
              </a:spcAft>
              <a:buFont typeface="Wingdings" panose="05000000000000000000" pitchFamily="2" charset="2"/>
              <a:buChar char="Ø"/>
            </a:pPr>
            <a:r>
              <a:rPr lang="en-US" b="1" i="1" dirty="0">
                <a:solidFill>
                  <a:schemeClr val="tx1"/>
                </a:solidFill>
              </a:rPr>
              <a:t>finite automaton</a:t>
            </a:r>
            <a:r>
              <a:rPr lang="en-US" dirty="0">
                <a:solidFill>
                  <a:schemeClr val="tx1"/>
                </a:solidFill>
              </a:rPr>
              <a:t>, </a:t>
            </a:r>
            <a:r>
              <a:rPr lang="en-US" dirty="0">
                <a:solidFill>
                  <a:srgbClr val="5D20CA"/>
                </a:solidFill>
              </a:rPr>
              <a:t>used in text processing, compilers, and hardware design</a:t>
            </a:r>
          </a:p>
          <a:p>
            <a:pPr lvl="1" algn="just">
              <a:lnSpc>
                <a:spcPct val="120000"/>
              </a:lnSpc>
              <a:spcBef>
                <a:spcPts val="0"/>
              </a:spcBef>
              <a:spcAft>
                <a:spcPts val="600"/>
              </a:spcAft>
              <a:buFont typeface="Wingdings" panose="05000000000000000000" pitchFamily="2" charset="2"/>
              <a:buChar char="Ø"/>
            </a:pPr>
            <a:r>
              <a:rPr lang="en-US" b="1" i="1" dirty="0">
                <a:solidFill>
                  <a:srgbClr val="5D20CA"/>
                </a:solidFill>
              </a:rPr>
              <a:t>Context-free grammar</a:t>
            </a:r>
            <a:r>
              <a:rPr lang="en-US" b="1" dirty="0">
                <a:solidFill>
                  <a:srgbClr val="5D20CA"/>
                </a:solidFill>
              </a:rPr>
              <a:t>, </a:t>
            </a:r>
            <a:r>
              <a:rPr lang="en-US" dirty="0"/>
              <a:t>used in programming languages and artificial intelligence</a:t>
            </a:r>
          </a:p>
          <a:p>
            <a:pPr>
              <a:lnSpc>
                <a:spcPct val="120000"/>
              </a:lnSpc>
              <a:spcBef>
                <a:spcPts val="0"/>
              </a:spcBef>
              <a:spcAft>
                <a:spcPts val="600"/>
              </a:spcAft>
            </a:pPr>
            <a:endParaRPr lang="en-US" dirty="0"/>
          </a:p>
        </p:txBody>
      </p:sp>
    </p:spTree>
    <p:extLst>
      <p:ext uri="{BB962C8B-B14F-4D97-AF65-F5344CB8AC3E}">
        <p14:creationId xmlns:p14="http://schemas.microsoft.com/office/powerpoint/2010/main" val="3383359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2F4DE4D-57BF-4C60-AEA6-18B5B2E4AE5C}"/>
              </a:ext>
            </a:extLst>
          </p:cNvPr>
          <p:cNvSpPr>
            <a:spLocks noGrp="1"/>
          </p:cNvSpPr>
          <p:nvPr>
            <p:ph type="ftr" sz="quarter" idx="11"/>
          </p:nvPr>
        </p:nvSpPr>
        <p:spPr/>
        <p:txBody>
          <a:bodyPr/>
          <a:lstStyle/>
          <a:p>
            <a:r>
              <a:rPr lang="en-US"/>
              <a:t>CSC3113-Theory of Computation</a:t>
            </a:r>
          </a:p>
        </p:txBody>
      </p:sp>
      <p:sp>
        <p:nvSpPr>
          <p:cNvPr id="3" name="Text Placeholder 2">
            <a:extLst>
              <a:ext uri="{FF2B5EF4-FFF2-40B4-BE49-F238E27FC236}">
                <a16:creationId xmlns:a16="http://schemas.microsoft.com/office/drawing/2014/main" id="{AC1C6897-3F2F-4B05-8DC5-E6DA46FC7703}"/>
              </a:ext>
            </a:extLst>
          </p:cNvPr>
          <p:cNvSpPr>
            <a:spLocks noGrp="1"/>
          </p:cNvSpPr>
          <p:nvPr>
            <p:ph type="body" sz="quarter" idx="12"/>
          </p:nvPr>
        </p:nvSpPr>
        <p:spPr/>
        <p:txBody>
          <a:bodyPr/>
          <a:lstStyle/>
          <a:p>
            <a:r>
              <a:rPr lang="en-US" sz="3600" b="1" dirty="0">
                <a:solidFill>
                  <a:srgbClr val="FF0000"/>
                </a:solidFill>
              </a:rPr>
              <a:t>Computability Theory</a:t>
            </a:r>
          </a:p>
        </p:txBody>
      </p:sp>
      <p:sp>
        <p:nvSpPr>
          <p:cNvPr id="4" name="Text Placeholder 3">
            <a:extLst>
              <a:ext uri="{FF2B5EF4-FFF2-40B4-BE49-F238E27FC236}">
                <a16:creationId xmlns:a16="http://schemas.microsoft.com/office/drawing/2014/main" id="{403B590B-15CD-411A-A998-E556D16038AF}"/>
              </a:ext>
            </a:extLst>
          </p:cNvPr>
          <p:cNvSpPr>
            <a:spLocks noGrp="1"/>
          </p:cNvSpPr>
          <p:nvPr>
            <p:ph type="body" sz="quarter" idx="13"/>
          </p:nvPr>
        </p:nvSpPr>
        <p:spPr/>
        <p:txBody>
          <a:bodyPr/>
          <a:lstStyle/>
          <a:p>
            <a:pPr algn="just">
              <a:spcBef>
                <a:spcPts val="0"/>
              </a:spcBef>
              <a:spcAft>
                <a:spcPts val="1200"/>
              </a:spcAft>
              <a:buClrTx/>
              <a:buFont typeface="Wingdings" panose="05000000000000000000" pitchFamily="2" charset="2"/>
              <a:buChar char="q"/>
            </a:pPr>
            <a:r>
              <a:rPr lang="en-US" dirty="0"/>
              <a:t>Deals with certain basic problems that cannot be solved by computers (how do we know/prove?).</a:t>
            </a:r>
          </a:p>
          <a:p>
            <a:pPr lvl="1" algn="just">
              <a:spcBef>
                <a:spcPts val="0"/>
              </a:spcBef>
              <a:spcAft>
                <a:spcPts val="1200"/>
              </a:spcAft>
              <a:buClrTx/>
              <a:buFont typeface="Wingdings" panose="05000000000000000000" pitchFamily="2" charset="2"/>
              <a:buChar char="Ø"/>
            </a:pPr>
            <a:r>
              <a:rPr lang="en-US" dirty="0">
                <a:solidFill>
                  <a:srgbClr val="6600CC"/>
                </a:solidFill>
              </a:rPr>
              <a:t>For example – Problem of determining whether a mathematical statement is true or false. No computer algorithm can perform this task, at least, no algorithm is known till now.</a:t>
            </a:r>
          </a:p>
          <a:p>
            <a:pPr algn="just">
              <a:spcBef>
                <a:spcPts val="0"/>
              </a:spcBef>
              <a:spcAft>
                <a:spcPts val="1200"/>
              </a:spcAft>
              <a:buClrTx/>
              <a:buFont typeface="Wingdings" panose="05000000000000000000" pitchFamily="2" charset="2"/>
              <a:buChar char="q"/>
            </a:pPr>
            <a:r>
              <a:rPr lang="en-US" dirty="0"/>
              <a:t>Development of ideas concerning theoretical models of computers that eventually would help to lead to the construction of actual computers.</a:t>
            </a:r>
          </a:p>
          <a:p>
            <a:pPr algn="just">
              <a:spcBef>
                <a:spcPts val="0"/>
              </a:spcBef>
              <a:spcAft>
                <a:spcPts val="1200"/>
              </a:spcAft>
              <a:buClrTx/>
              <a:buFont typeface="Wingdings" panose="05000000000000000000" pitchFamily="2" charset="2"/>
              <a:buChar char="q"/>
            </a:pPr>
            <a:r>
              <a:rPr lang="en-US" dirty="0">
                <a:solidFill>
                  <a:srgbClr val="6600CC"/>
                </a:solidFill>
              </a:rPr>
              <a:t>In computability theory, the classification of problems is by those that are solvable and those that are not.</a:t>
            </a:r>
          </a:p>
          <a:p>
            <a:pPr>
              <a:spcBef>
                <a:spcPts val="0"/>
              </a:spcBef>
              <a:spcAft>
                <a:spcPts val="1200"/>
              </a:spcAft>
              <a:buClrTx/>
              <a:buFont typeface="Wingdings" panose="05000000000000000000" pitchFamily="2" charset="2"/>
              <a:buChar char="q"/>
            </a:pPr>
            <a:endParaRPr lang="en-US" dirty="0"/>
          </a:p>
        </p:txBody>
      </p:sp>
    </p:spTree>
    <p:extLst>
      <p:ext uri="{BB962C8B-B14F-4D97-AF65-F5344CB8AC3E}">
        <p14:creationId xmlns:p14="http://schemas.microsoft.com/office/powerpoint/2010/main" val="1235747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CE1FA8-E801-4B93-87E9-B8E1E2FEC3DF}"/>
              </a:ext>
            </a:extLst>
          </p:cNvPr>
          <p:cNvSpPr>
            <a:spLocks noGrp="1"/>
          </p:cNvSpPr>
          <p:nvPr>
            <p:ph type="ftr" sz="quarter" idx="11"/>
          </p:nvPr>
        </p:nvSpPr>
        <p:spPr/>
        <p:txBody>
          <a:bodyPr/>
          <a:lstStyle/>
          <a:p>
            <a:r>
              <a:rPr lang="en-US"/>
              <a:t>CSC3113-Theory of Computation</a:t>
            </a:r>
          </a:p>
        </p:txBody>
      </p:sp>
      <p:sp>
        <p:nvSpPr>
          <p:cNvPr id="3" name="Text Placeholder 2">
            <a:extLst>
              <a:ext uri="{FF2B5EF4-FFF2-40B4-BE49-F238E27FC236}">
                <a16:creationId xmlns:a16="http://schemas.microsoft.com/office/drawing/2014/main" id="{D0C7ED10-557E-4425-84BE-3B9ECFF7A62B}"/>
              </a:ext>
            </a:extLst>
          </p:cNvPr>
          <p:cNvSpPr>
            <a:spLocks noGrp="1"/>
          </p:cNvSpPr>
          <p:nvPr>
            <p:ph type="body" sz="quarter" idx="12"/>
          </p:nvPr>
        </p:nvSpPr>
        <p:spPr/>
        <p:txBody>
          <a:bodyPr/>
          <a:lstStyle/>
          <a:p>
            <a:r>
              <a:rPr lang="en-US" sz="3600" b="1" dirty="0">
                <a:solidFill>
                  <a:srgbClr val="FF0000"/>
                </a:solidFill>
              </a:rPr>
              <a:t>Complexity Theory</a:t>
            </a:r>
            <a:endParaRPr lang="en-US" sz="3600" dirty="0">
              <a:solidFill>
                <a:srgbClr val="FF0000"/>
              </a:solidFill>
            </a:endParaRPr>
          </a:p>
        </p:txBody>
      </p:sp>
      <p:sp>
        <p:nvSpPr>
          <p:cNvPr id="4" name="Text Placeholder 3">
            <a:extLst>
              <a:ext uri="{FF2B5EF4-FFF2-40B4-BE49-F238E27FC236}">
                <a16:creationId xmlns:a16="http://schemas.microsoft.com/office/drawing/2014/main" id="{4D79C7E8-C0CE-47CC-8D37-664F9A7C773A}"/>
              </a:ext>
            </a:extLst>
          </p:cNvPr>
          <p:cNvSpPr>
            <a:spLocks noGrp="1"/>
          </p:cNvSpPr>
          <p:nvPr>
            <p:ph type="body" sz="quarter" idx="13"/>
          </p:nvPr>
        </p:nvSpPr>
        <p:spPr/>
        <p:txBody>
          <a:bodyPr>
            <a:normAutofit fontScale="92500" lnSpcReduction="20000"/>
          </a:bodyPr>
          <a:lstStyle/>
          <a:p>
            <a:pPr algn="just">
              <a:lnSpc>
                <a:spcPct val="110000"/>
              </a:lnSpc>
              <a:spcBef>
                <a:spcPts val="0"/>
              </a:spcBef>
              <a:spcAft>
                <a:spcPts val="1200"/>
              </a:spcAft>
              <a:buClrTx/>
              <a:buFont typeface="Wingdings" panose="05000000000000000000" pitchFamily="2" charset="2"/>
              <a:buChar char="q"/>
            </a:pPr>
            <a:r>
              <a:rPr lang="en-US" dirty="0"/>
              <a:t>Deals with the method and ideas to decide if problems are computationally hard and/or easy.</a:t>
            </a:r>
          </a:p>
          <a:p>
            <a:pPr algn="just">
              <a:lnSpc>
                <a:spcPct val="110000"/>
              </a:lnSpc>
              <a:spcBef>
                <a:spcPts val="0"/>
              </a:spcBef>
              <a:spcAft>
                <a:spcPts val="1200"/>
              </a:spcAft>
              <a:buClrTx/>
              <a:buFont typeface="Wingdings" panose="05000000000000000000" pitchFamily="2" charset="2"/>
              <a:buChar char="q"/>
            </a:pPr>
            <a:r>
              <a:rPr lang="en-US" dirty="0">
                <a:solidFill>
                  <a:srgbClr val="6600CC"/>
                </a:solidFill>
              </a:rPr>
              <a:t>There are elegant schemes for classifying problems according to their computational difficulties. For example –</a:t>
            </a:r>
          </a:p>
          <a:p>
            <a:pPr marL="800100" lvl="1" indent="-342900" algn="just">
              <a:lnSpc>
                <a:spcPct val="110000"/>
              </a:lnSpc>
              <a:spcBef>
                <a:spcPts val="0"/>
              </a:spcBef>
              <a:spcAft>
                <a:spcPts val="1200"/>
              </a:spcAft>
              <a:buClrTx/>
              <a:buFont typeface="Wingdings" panose="05000000000000000000" pitchFamily="2" charset="2"/>
              <a:buChar char="Ø"/>
            </a:pPr>
            <a:r>
              <a:rPr lang="en-US" dirty="0"/>
              <a:t>Try to alter the aspects of the problem which is at the root of the difficulty so that the problem is more easily solvable.</a:t>
            </a:r>
          </a:p>
          <a:p>
            <a:pPr marL="800100" lvl="1" indent="-342900" algn="just">
              <a:lnSpc>
                <a:spcPct val="110000"/>
              </a:lnSpc>
              <a:spcBef>
                <a:spcPts val="0"/>
              </a:spcBef>
              <a:spcAft>
                <a:spcPts val="1200"/>
              </a:spcAft>
              <a:buClrTx/>
              <a:buFont typeface="Wingdings" panose="05000000000000000000" pitchFamily="2" charset="2"/>
              <a:buChar char="Ø"/>
            </a:pPr>
            <a:r>
              <a:rPr lang="en-US" dirty="0">
                <a:solidFill>
                  <a:srgbClr val="6600CC"/>
                </a:solidFill>
              </a:rPr>
              <a:t>Settle for less than a perfect solution to the problem. In certain cases finding solutions that only approximate the perfect one is relatively easy.</a:t>
            </a:r>
          </a:p>
          <a:p>
            <a:pPr marL="800100" lvl="1" indent="-342900" algn="just">
              <a:lnSpc>
                <a:spcPct val="110000"/>
              </a:lnSpc>
              <a:spcBef>
                <a:spcPts val="0"/>
              </a:spcBef>
              <a:spcAft>
                <a:spcPts val="1200"/>
              </a:spcAft>
              <a:buClrTx/>
              <a:buFont typeface="Wingdings" panose="05000000000000000000" pitchFamily="2" charset="2"/>
              <a:buChar char="Ø"/>
            </a:pPr>
            <a:r>
              <a:rPr lang="en-US" dirty="0"/>
              <a:t>Some problems are hard only in the worst-case situation, but easy most of the time.</a:t>
            </a:r>
          </a:p>
          <a:p>
            <a:pPr algn="just">
              <a:lnSpc>
                <a:spcPct val="110000"/>
              </a:lnSpc>
              <a:spcBef>
                <a:spcPts val="0"/>
              </a:spcBef>
              <a:spcAft>
                <a:spcPts val="1200"/>
              </a:spcAft>
              <a:buClrTx/>
              <a:buFont typeface="Wingdings" panose="05000000000000000000" pitchFamily="2" charset="2"/>
              <a:buChar char="q"/>
            </a:pPr>
            <a:r>
              <a:rPr lang="en-US" dirty="0">
                <a:solidFill>
                  <a:srgbClr val="6600CC"/>
                </a:solidFill>
              </a:rPr>
              <a:t>Cryptography is one of the examples which requires computational problems that are hard, rather than easy, because secret codes should be hard to break without the secret key or password.</a:t>
            </a:r>
          </a:p>
          <a:p>
            <a:pPr>
              <a:lnSpc>
                <a:spcPct val="110000"/>
              </a:lnSpc>
              <a:spcBef>
                <a:spcPts val="0"/>
              </a:spcBef>
              <a:spcAft>
                <a:spcPts val="1200"/>
              </a:spcAft>
              <a:buClrTx/>
              <a:buFont typeface="Wingdings" panose="05000000000000000000" pitchFamily="2" charset="2"/>
              <a:buChar char="q"/>
            </a:pPr>
            <a:endParaRPr lang="en-US" dirty="0"/>
          </a:p>
        </p:txBody>
      </p:sp>
    </p:spTree>
    <p:extLst>
      <p:ext uri="{BB962C8B-B14F-4D97-AF65-F5344CB8AC3E}">
        <p14:creationId xmlns:p14="http://schemas.microsoft.com/office/powerpoint/2010/main" val="4078240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fade">
                                      <p:cBhvr>
                                        <p:cTn id="11" dur="500"/>
                                        <p:tgtEl>
                                          <p:spTgt spid="4">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500"/>
                                        <p:tgtEl>
                                          <p:spTgt spid="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500"/>
                                        <p:tgtEl>
                                          <p:spTgt spid="4">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8BA2FA-B35A-40B6-9CA9-BA8C84B6F74C}"/>
              </a:ext>
            </a:extLst>
          </p:cNvPr>
          <p:cNvSpPr>
            <a:spLocks noGrp="1"/>
          </p:cNvSpPr>
          <p:nvPr>
            <p:ph type="ftr" sz="quarter" idx="11"/>
          </p:nvPr>
        </p:nvSpPr>
        <p:spPr/>
        <p:txBody>
          <a:bodyPr/>
          <a:lstStyle/>
          <a:p>
            <a:r>
              <a:rPr lang="en-US"/>
              <a:t>CSC3113-Theory of Computation</a:t>
            </a:r>
          </a:p>
        </p:txBody>
      </p:sp>
      <p:sp>
        <p:nvSpPr>
          <p:cNvPr id="3" name="Text Placeholder 2">
            <a:extLst>
              <a:ext uri="{FF2B5EF4-FFF2-40B4-BE49-F238E27FC236}">
                <a16:creationId xmlns:a16="http://schemas.microsoft.com/office/drawing/2014/main" id="{8E77BA05-1F18-4ECF-A8D6-5971792129D1}"/>
              </a:ext>
            </a:extLst>
          </p:cNvPr>
          <p:cNvSpPr>
            <a:spLocks noGrp="1"/>
          </p:cNvSpPr>
          <p:nvPr>
            <p:ph type="body" sz="quarter" idx="12"/>
          </p:nvPr>
        </p:nvSpPr>
        <p:spPr/>
        <p:txBody>
          <a:bodyPr/>
          <a:lstStyle/>
          <a:p>
            <a:r>
              <a:rPr lang="en-US" dirty="0">
                <a:solidFill>
                  <a:srgbClr val="FF0000"/>
                </a:solidFill>
              </a:rPr>
              <a:t>Linking to other areas of science</a:t>
            </a:r>
          </a:p>
        </p:txBody>
      </p:sp>
      <p:sp>
        <p:nvSpPr>
          <p:cNvPr id="4" name="Text Placeholder 3">
            <a:extLst>
              <a:ext uri="{FF2B5EF4-FFF2-40B4-BE49-F238E27FC236}">
                <a16:creationId xmlns:a16="http://schemas.microsoft.com/office/drawing/2014/main" id="{60387915-74D9-42F8-8720-12373F1846A8}"/>
              </a:ext>
            </a:extLst>
          </p:cNvPr>
          <p:cNvSpPr>
            <a:spLocks noGrp="1"/>
          </p:cNvSpPr>
          <p:nvPr>
            <p:ph type="body" sz="quarter" idx="13"/>
          </p:nvPr>
        </p:nvSpPr>
        <p:spPr/>
        <p:txBody>
          <a:bodyPr/>
          <a:lstStyle/>
          <a:p>
            <a:pPr>
              <a:spcBef>
                <a:spcPts val="0"/>
              </a:spcBef>
              <a:spcAft>
                <a:spcPts val="1200"/>
              </a:spcAft>
              <a:buClrTx/>
              <a:buFont typeface="Wingdings" panose="05000000000000000000" pitchFamily="2" charset="2"/>
              <a:buChar char="q"/>
            </a:pPr>
            <a:r>
              <a:rPr lang="it-IT" dirty="0"/>
              <a:t>Finite automata arise in compilers, AI, coding, chemistry.</a:t>
            </a:r>
          </a:p>
          <a:p>
            <a:pPr>
              <a:spcBef>
                <a:spcPts val="0"/>
              </a:spcBef>
              <a:spcAft>
                <a:spcPts val="1200"/>
              </a:spcAft>
              <a:buClrTx/>
              <a:buFont typeface="Wingdings" panose="05000000000000000000" pitchFamily="2" charset="2"/>
              <a:buChar char="q"/>
            </a:pPr>
            <a:r>
              <a:rPr lang="en-US" dirty="0"/>
              <a:t>Hard problems are essential to cryptography</a:t>
            </a:r>
            <a:r>
              <a:rPr lang="it-IT" dirty="0"/>
              <a:t>.</a:t>
            </a:r>
          </a:p>
          <a:p>
            <a:pPr>
              <a:spcBef>
                <a:spcPts val="0"/>
              </a:spcBef>
              <a:spcAft>
                <a:spcPts val="1200"/>
              </a:spcAft>
              <a:buClrTx/>
              <a:buFont typeface="Wingdings" panose="05000000000000000000" pitchFamily="2" charset="2"/>
              <a:buChar char="q"/>
            </a:pPr>
            <a:r>
              <a:rPr lang="en-US" dirty="0"/>
              <a:t>Computation occurs in cells/DNA, the brain, economic systems, physical systems, social networks, etc.</a:t>
            </a:r>
          </a:p>
          <a:p>
            <a:pPr>
              <a:spcBef>
                <a:spcPts val="0"/>
              </a:spcBef>
              <a:spcAft>
                <a:spcPts val="1200"/>
              </a:spcAft>
              <a:buClrTx/>
              <a:buFont typeface="Wingdings" panose="05000000000000000000" pitchFamily="2" charset="2"/>
              <a:buChar char="q"/>
            </a:pPr>
            <a:r>
              <a:rPr lang="en-US" dirty="0"/>
              <a:t>Following is a link where you will find many more areas that is linked with this course.</a:t>
            </a:r>
          </a:p>
          <a:p>
            <a:pPr>
              <a:spcBef>
                <a:spcPts val="0"/>
              </a:spcBef>
              <a:spcAft>
                <a:spcPts val="1200"/>
              </a:spcAft>
              <a:buFont typeface="Wingdings" panose="05000000000000000000" pitchFamily="2" charset="2"/>
              <a:buChar char="q"/>
            </a:pPr>
            <a:r>
              <a:rPr lang="en-US" dirty="0"/>
              <a:t>    </a:t>
            </a:r>
            <a:r>
              <a:rPr lang="es-ES" dirty="0">
                <a:hlinkClick r:id="rId2"/>
              </a:rPr>
              <a:t>https://cstheory.stackexchange.com/a/14818</a:t>
            </a:r>
            <a:endParaRPr lang="es-ES" dirty="0"/>
          </a:p>
          <a:p>
            <a:pPr>
              <a:spcBef>
                <a:spcPts val="0"/>
              </a:spcBef>
              <a:spcAft>
                <a:spcPts val="1200"/>
              </a:spcAft>
              <a:buFont typeface="Wingdings" panose="05000000000000000000" pitchFamily="2" charset="2"/>
              <a:buChar char="q"/>
            </a:pPr>
            <a:endParaRPr lang="en-US" dirty="0"/>
          </a:p>
        </p:txBody>
      </p:sp>
    </p:spTree>
    <p:extLst>
      <p:ext uri="{BB962C8B-B14F-4D97-AF65-F5344CB8AC3E}">
        <p14:creationId xmlns:p14="http://schemas.microsoft.com/office/powerpoint/2010/main" val="542139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fade">
                                      <p:cBhvr>
                                        <p:cTn id="11" dur="500"/>
                                        <p:tgtEl>
                                          <p:spTgt spid="4">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500"/>
                                        <p:tgtEl>
                                          <p:spTgt spid="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500"/>
                                        <p:tgtEl>
                                          <p:spTgt spid="4">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fade">
                                      <p:cBhvr>
                                        <p:cTn id="26"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78690E7-FA3A-4ADC-8720-B292D2C03BB4}"/>
              </a:ext>
            </a:extLst>
          </p:cNvPr>
          <p:cNvSpPr>
            <a:spLocks noGrp="1"/>
          </p:cNvSpPr>
          <p:nvPr>
            <p:ph type="ftr" sz="quarter" idx="11"/>
          </p:nvPr>
        </p:nvSpPr>
        <p:spPr/>
        <p:txBody>
          <a:bodyPr/>
          <a:lstStyle/>
          <a:p>
            <a:r>
              <a:rPr lang="en-US"/>
              <a:t>CSC3113-Theory of Computation</a:t>
            </a:r>
          </a:p>
        </p:txBody>
      </p:sp>
      <p:sp>
        <p:nvSpPr>
          <p:cNvPr id="3" name="Subtitle 2">
            <a:extLst>
              <a:ext uri="{FF2B5EF4-FFF2-40B4-BE49-F238E27FC236}">
                <a16:creationId xmlns:a16="http://schemas.microsoft.com/office/drawing/2014/main" id="{57BF996A-F514-4BCC-8B4C-6F67F757C134}"/>
              </a:ext>
            </a:extLst>
          </p:cNvPr>
          <p:cNvSpPr>
            <a:spLocks noGrp="1"/>
          </p:cNvSpPr>
          <p:nvPr>
            <p:ph type="subTitle" idx="1"/>
          </p:nvPr>
        </p:nvSpPr>
        <p:spPr/>
        <p:txBody>
          <a:bodyPr/>
          <a:lstStyle/>
          <a:p>
            <a:endParaRPr lang="en-US" dirty="0"/>
          </a:p>
        </p:txBody>
      </p:sp>
      <p:sp>
        <p:nvSpPr>
          <p:cNvPr id="4" name="Text Placeholder 3">
            <a:extLst>
              <a:ext uri="{FF2B5EF4-FFF2-40B4-BE49-F238E27FC236}">
                <a16:creationId xmlns:a16="http://schemas.microsoft.com/office/drawing/2014/main" id="{73A90512-6A74-4BCA-8D7E-ACB6CA489866}"/>
              </a:ext>
            </a:extLst>
          </p:cNvPr>
          <p:cNvSpPr>
            <a:spLocks noGrp="1"/>
          </p:cNvSpPr>
          <p:nvPr>
            <p:ph type="body" sz="quarter" idx="12"/>
          </p:nvPr>
        </p:nvSpPr>
        <p:spPr>
          <a:xfrm>
            <a:off x="90132" y="2081276"/>
            <a:ext cx="8940800" cy="4146550"/>
          </a:xfrm>
        </p:spPr>
        <p:txBody>
          <a:bodyPr/>
          <a:lstStyle/>
          <a:p>
            <a:pPr>
              <a:spcBef>
                <a:spcPts val="0"/>
              </a:spcBef>
              <a:spcAft>
                <a:spcPts val="1800"/>
              </a:spcAft>
              <a:buFont typeface="Wingdings" panose="05000000000000000000" pitchFamily="2" charset="2"/>
              <a:buChar char="q"/>
            </a:pPr>
            <a:r>
              <a:rPr lang="en-US" dirty="0"/>
              <a:t>Introduction to Theory of Computation, </a:t>
            </a:r>
            <a:r>
              <a:rPr lang="en-US" dirty="0" err="1"/>
              <a:t>Sipser</a:t>
            </a:r>
            <a:r>
              <a:rPr lang="en-US" dirty="0"/>
              <a:t>, (3</a:t>
            </a:r>
            <a:r>
              <a:rPr lang="en-US" baseline="30000" dirty="0"/>
              <a:t>rd</a:t>
            </a:r>
            <a:r>
              <a:rPr lang="en-US" dirty="0"/>
              <a:t> ed), </a:t>
            </a:r>
            <a:r>
              <a:rPr lang="en-US" dirty="0">
                <a:hlinkClick r:id="rId2" action="ppaction://hlinkfile"/>
              </a:rPr>
              <a:t>Chapter 1</a:t>
            </a:r>
            <a:r>
              <a:rPr lang="en-US" dirty="0"/>
              <a:t>.</a:t>
            </a:r>
          </a:p>
          <a:p>
            <a:pPr>
              <a:spcBef>
                <a:spcPts val="0"/>
              </a:spcBef>
              <a:spcAft>
                <a:spcPts val="1800"/>
              </a:spcAft>
              <a:buFont typeface="Wingdings" panose="05000000000000000000" pitchFamily="2" charset="2"/>
              <a:buChar char="q"/>
            </a:pPr>
            <a:r>
              <a:rPr lang="en-US" dirty="0"/>
              <a:t>Elements of the Theory of Computation, Papadimitriou (2</a:t>
            </a:r>
            <a:r>
              <a:rPr lang="en-US" baseline="30000" dirty="0"/>
              <a:t>nd</a:t>
            </a:r>
            <a:r>
              <a:rPr lang="en-US" dirty="0"/>
              <a:t> ed), </a:t>
            </a:r>
            <a:r>
              <a:rPr lang="en-US" dirty="0">
                <a:hlinkClick r:id="rId3" action="ppaction://hlinkfile"/>
              </a:rPr>
              <a:t>Chapter 1</a:t>
            </a:r>
            <a:r>
              <a:rPr lang="en-US" dirty="0"/>
              <a:t>.</a:t>
            </a:r>
          </a:p>
          <a:p>
            <a:pPr>
              <a:spcBef>
                <a:spcPts val="0"/>
              </a:spcBef>
              <a:spcAft>
                <a:spcPts val="1800"/>
              </a:spcAft>
              <a:buFont typeface="Wingdings" panose="05000000000000000000" pitchFamily="2" charset="2"/>
              <a:buChar char="q"/>
            </a:pPr>
            <a:r>
              <a:rPr lang="en-US" dirty="0"/>
              <a:t>AIUB Lectures, Mashiour Rahman, </a:t>
            </a:r>
            <a:r>
              <a:rPr lang="en-US" dirty="0">
                <a:hlinkClick r:id="rId4" action="ppaction://hlinkfile"/>
              </a:rPr>
              <a:t>Compilation</a:t>
            </a:r>
            <a:r>
              <a:rPr lang="en-US" dirty="0"/>
              <a:t>.</a:t>
            </a:r>
          </a:p>
        </p:txBody>
      </p:sp>
    </p:spTree>
    <p:extLst>
      <p:ext uri="{BB962C8B-B14F-4D97-AF65-F5344CB8AC3E}">
        <p14:creationId xmlns:p14="http://schemas.microsoft.com/office/powerpoint/2010/main" val="3450515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C5C933-AD38-446A-85E4-E06C2A7BC45B}"/>
              </a:ext>
            </a:extLst>
          </p:cNvPr>
          <p:cNvSpPr>
            <a:spLocks noGrp="1"/>
          </p:cNvSpPr>
          <p:nvPr>
            <p:ph type="ftr" sz="quarter" idx="11"/>
          </p:nvPr>
        </p:nvSpPr>
        <p:spPr/>
        <p:txBody>
          <a:bodyPr/>
          <a:lstStyle/>
          <a:p>
            <a:r>
              <a:rPr lang="en-US"/>
              <a:t>CSC3113-Theory of Computation</a:t>
            </a:r>
          </a:p>
        </p:txBody>
      </p:sp>
      <p:sp>
        <p:nvSpPr>
          <p:cNvPr id="3" name="Text Placeholder 2">
            <a:extLst>
              <a:ext uri="{FF2B5EF4-FFF2-40B4-BE49-F238E27FC236}">
                <a16:creationId xmlns:a16="http://schemas.microsoft.com/office/drawing/2014/main" id="{1B924CA5-8B59-44B4-9489-1DBBF84D4966}"/>
              </a:ext>
            </a:extLst>
          </p:cNvPr>
          <p:cNvSpPr>
            <a:spLocks noGrp="1"/>
          </p:cNvSpPr>
          <p:nvPr>
            <p:ph type="body" sz="quarter" idx="12"/>
          </p:nvPr>
        </p:nvSpPr>
        <p:spPr/>
        <p:txBody>
          <a:bodyPr/>
          <a:lstStyle/>
          <a:p>
            <a:endParaRPr lang="en-US"/>
          </a:p>
        </p:txBody>
      </p:sp>
      <p:sp>
        <p:nvSpPr>
          <p:cNvPr id="8" name="Picture Placeholder 7">
            <a:extLst>
              <a:ext uri="{FF2B5EF4-FFF2-40B4-BE49-F238E27FC236}">
                <a16:creationId xmlns:a16="http://schemas.microsoft.com/office/drawing/2014/main" id="{9A0251BC-CD4F-4D3C-9DC9-10351A1A32AC}"/>
              </a:ext>
            </a:extLst>
          </p:cNvPr>
          <p:cNvSpPr>
            <a:spLocks noGrp="1"/>
          </p:cNvSpPr>
          <p:nvPr>
            <p:ph type="pic" sz="quarter" idx="13"/>
          </p:nvPr>
        </p:nvSpPr>
        <p:spPr/>
        <p:txBody>
          <a:bodyPr/>
          <a:lstStyle/>
          <a:p>
            <a:endParaRPr lang="en-US"/>
          </a:p>
        </p:txBody>
      </p:sp>
      <p:pic>
        <p:nvPicPr>
          <p:cNvPr id="9" name="Picture 8">
            <a:extLst>
              <a:ext uri="{FF2B5EF4-FFF2-40B4-BE49-F238E27FC236}">
                <a16:creationId xmlns:a16="http://schemas.microsoft.com/office/drawing/2014/main" id="{2DD1FE98-BA13-453F-AF4A-1670979F3B27}"/>
              </a:ext>
            </a:extLst>
          </p:cNvPr>
          <p:cNvPicPr>
            <a:picLocks noChangeAspect="1"/>
          </p:cNvPicPr>
          <p:nvPr/>
        </p:nvPicPr>
        <p:blipFill>
          <a:blip r:embed="rId2"/>
          <a:stretch>
            <a:fillRect/>
          </a:stretch>
        </p:blipFill>
        <p:spPr>
          <a:xfrm>
            <a:off x="3452968" y="2304659"/>
            <a:ext cx="2183334" cy="2855129"/>
          </a:xfrm>
          <a:prstGeom prst="rect">
            <a:avLst/>
          </a:prstGeom>
        </p:spPr>
      </p:pic>
    </p:spTree>
    <p:extLst>
      <p:ext uri="{BB962C8B-B14F-4D97-AF65-F5344CB8AC3E}">
        <p14:creationId xmlns:p14="http://schemas.microsoft.com/office/powerpoint/2010/main" val="1609735597"/>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IUB 2020" id="{F1C6E3EC-85B0-4703-97BE-959ED79328EC}" vid="{D0BC6CCC-6CBE-48E7-BAFD-BAA31B8EAA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docProps/app.xml><?xml version="1.0" encoding="utf-8"?>
<Properties xmlns="http://schemas.openxmlformats.org/officeDocument/2006/extended-properties" xmlns:vt="http://schemas.openxmlformats.org/officeDocument/2006/docPropsVTypes">
  <Template>AIUB 2020</Template>
  <TotalTime>2536</TotalTime>
  <Words>2874</Words>
  <Application>Microsoft Office PowerPoint</Application>
  <PresentationFormat>On-screen Show (4:3)</PresentationFormat>
  <Paragraphs>206</Paragraphs>
  <Slides>25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 Black</vt:lpstr>
      <vt:lpstr>Calibri</vt:lpstr>
      <vt:lpstr>Corbel</vt:lpstr>
      <vt:lpstr>Times New Roman</vt:lpstr>
      <vt:lpstr>Wingdings</vt:lpstr>
      <vt:lpstr>AIUB 2020</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Prof. Dr. Afroza Nahar</cp:lastModifiedBy>
  <cp:revision>161</cp:revision>
  <dcterms:created xsi:type="dcterms:W3CDTF">2020-07-02T04:17:10Z</dcterms:created>
  <dcterms:modified xsi:type="dcterms:W3CDTF">2025-02-25T08:20:12Z</dcterms:modified>
</cp:coreProperties>
</file>