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8"/>
  </p:notesMasterIdLst>
  <p:sldIdLst>
    <p:sldId id="256" r:id="rId2"/>
    <p:sldId id="257" r:id="rId3"/>
    <p:sldId id="291" r:id="rId4"/>
    <p:sldId id="323" r:id="rId5"/>
    <p:sldId id="276" r:id="rId6"/>
    <p:sldId id="259" r:id="rId7"/>
    <p:sldId id="258" r:id="rId8"/>
    <p:sldId id="273" r:id="rId9"/>
    <p:sldId id="274" r:id="rId10"/>
    <p:sldId id="275" r:id="rId11"/>
    <p:sldId id="271" r:id="rId12"/>
    <p:sldId id="272" r:id="rId13"/>
    <p:sldId id="261" r:id="rId14"/>
    <p:sldId id="262" r:id="rId15"/>
    <p:sldId id="286" r:id="rId16"/>
    <p:sldId id="263" r:id="rId17"/>
    <p:sldId id="264" r:id="rId18"/>
    <p:sldId id="277" r:id="rId19"/>
    <p:sldId id="279" r:id="rId20"/>
    <p:sldId id="265" r:id="rId21"/>
    <p:sldId id="266" r:id="rId22"/>
    <p:sldId id="289" r:id="rId23"/>
    <p:sldId id="288" r:id="rId24"/>
    <p:sldId id="269" r:id="rId25"/>
    <p:sldId id="270" r:id="rId26"/>
    <p:sldId id="280" r:id="rId27"/>
    <p:sldId id="292" r:id="rId28"/>
    <p:sldId id="293" r:id="rId29"/>
    <p:sldId id="294" r:id="rId30"/>
    <p:sldId id="295" r:id="rId31"/>
    <p:sldId id="313" r:id="rId32"/>
    <p:sldId id="315" r:id="rId33"/>
    <p:sldId id="316" r:id="rId34"/>
    <p:sldId id="317" r:id="rId35"/>
    <p:sldId id="298" r:id="rId36"/>
    <p:sldId id="299" r:id="rId37"/>
    <p:sldId id="300" r:id="rId38"/>
    <p:sldId id="301" r:id="rId39"/>
    <p:sldId id="302" r:id="rId40"/>
    <p:sldId id="303" r:id="rId41"/>
    <p:sldId id="304" r:id="rId42"/>
    <p:sldId id="287" r:id="rId43"/>
    <p:sldId id="305" r:id="rId44"/>
    <p:sldId id="306" r:id="rId45"/>
    <p:sldId id="307" r:id="rId46"/>
    <p:sldId id="308" r:id="rId4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C46008-CA06-4336-A2C6-AD2B784A6723}" v="3" dt="2025-04-08T09:28:46.374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65" autoAdjust="0"/>
    <p:restoredTop sz="94660"/>
  </p:normalViewPr>
  <p:slideViewPr>
    <p:cSldViewPr>
      <p:cViewPr varScale="1">
        <p:scale>
          <a:sx n="44" d="100"/>
          <a:sy n="44" d="100"/>
        </p:scale>
        <p:origin x="146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55" Type="http://schemas.openxmlformats.org/officeDocument/2006/relationships/customXml" Target="../customXml/item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6/11/relationships/changesInfo" Target="changesInfos/changesInfo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56" Type="http://schemas.openxmlformats.org/officeDocument/2006/relationships/customXml" Target="../customXml/item2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57" Type="http://schemas.openxmlformats.org/officeDocument/2006/relationships/customXml" Target="../customXml/item3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of. Dr. Afroza Nahar" userId="9d1ccd36-b394-4689-9b8e-4086784d03ec" providerId="ADAL" clId="{ADC46008-CA06-4336-A2C6-AD2B784A6723}"/>
    <pc:docChg chg="modSld">
      <pc:chgData name="Prof. Dr. Afroza Nahar" userId="9d1ccd36-b394-4689-9b8e-4086784d03ec" providerId="ADAL" clId="{ADC46008-CA06-4336-A2C6-AD2B784A6723}" dt="2025-04-08T09:28:46.374" v="2"/>
      <pc:docMkLst>
        <pc:docMk/>
      </pc:docMkLst>
      <pc:sldChg chg="modSp">
        <pc:chgData name="Prof. Dr. Afroza Nahar" userId="9d1ccd36-b394-4689-9b8e-4086784d03ec" providerId="ADAL" clId="{ADC46008-CA06-4336-A2C6-AD2B784A6723}" dt="2025-04-08T09:27:50.330" v="1" actId="20577"/>
        <pc:sldMkLst>
          <pc:docMk/>
          <pc:sldMk cId="380052832" sldId="292"/>
        </pc:sldMkLst>
        <pc:spChg chg="mod">
          <ac:chgData name="Prof. Dr. Afroza Nahar" userId="9d1ccd36-b394-4689-9b8e-4086784d03ec" providerId="ADAL" clId="{ADC46008-CA06-4336-A2C6-AD2B784A6723}" dt="2025-04-08T09:27:50.330" v="1" actId="20577"/>
          <ac:spMkLst>
            <pc:docMk/>
            <pc:sldMk cId="380052832" sldId="292"/>
            <ac:spMk id="3" creationId="{DBAD1D3C-C78A-4930-8550-3F394B8745A4}"/>
          </ac:spMkLst>
        </pc:spChg>
      </pc:sldChg>
      <pc:sldChg chg="modAnim">
        <pc:chgData name="Prof. Dr. Afroza Nahar" userId="9d1ccd36-b394-4689-9b8e-4086784d03ec" providerId="ADAL" clId="{ADC46008-CA06-4336-A2C6-AD2B784A6723}" dt="2025-04-08T09:28:46.374" v="2"/>
        <pc:sldMkLst>
          <pc:docMk/>
          <pc:sldMk cId="2666675939" sldId="293"/>
        </pc:sldMkLst>
      </pc:sldChg>
    </pc:docChg>
  </pc:docChgLst>
  <pc:docChgLst>
    <pc:chgData name="Prof. Dr. Afroza Nahar" userId="9d1ccd36-b394-4689-9b8e-4086784d03ec" providerId="ADAL" clId="{B6CF76D1-8D7C-4F10-BE2B-3E92F5B99224}"/>
    <pc:docChg chg="undo custSel addSld delSld">
      <pc:chgData name="Prof. Dr. Afroza Nahar" userId="9d1ccd36-b394-4689-9b8e-4086784d03ec" providerId="ADAL" clId="{B6CF76D1-8D7C-4F10-BE2B-3E92F5B99224}" dt="2024-11-24T09:48:09.847" v="11" actId="47"/>
      <pc:docMkLst>
        <pc:docMk/>
      </pc:docMkLst>
      <pc:sldChg chg="del">
        <pc:chgData name="Prof. Dr. Afroza Nahar" userId="9d1ccd36-b394-4689-9b8e-4086784d03ec" providerId="ADAL" clId="{B6CF76D1-8D7C-4F10-BE2B-3E92F5B99224}" dt="2024-11-24T09:47:46.128" v="4" actId="47"/>
        <pc:sldMkLst>
          <pc:docMk/>
          <pc:sldMk cId="1475805020" sldId="296"/>
        </pc:sldMkLst>
      </pc:sldChg>
      <pc:sldChg chg="add del">
        <pc:chgData name="Prof. Dr. Afroza Nahar" userId="9d1ccd36-b394-4689-9b8e-4086784d03ec" providerId="ADAL" clId="{B6CF76D1-8D7C-4F10-BE2B-3E92F5B99224}" dt="2024-11-24T09:47:24.569" v="2" actId="47"/>
        <pc:sldMkLst>
          <pc:docMk/>
          <pc:sldMk cId="3364414880" sldId="298"/>
        </pc:sldMkLst>
      </pc:sldChg>
      <pc:sldChg chg="add del">
        <pc:chgData name="Prof. Dr. Afroza Nahar" userId="9d1ccd36-b394-4689-9b8e-4086784d03ec" providerId="ADAL" clId="{B6CF76D1-8D7C-4F10-BE2B-3E92F5B99224}" dt="2024-11-24T09:48:09.847" v="11" actId="47"/>
        <pc:sldMkLst>
          <pc:docMk/>
          <pc:sldMk cId="1894328866" sldId="308"/>
        </pc:sldMkLst>
      </pc:sldChg>
      <pc:sldChg chg="add del">
        <pc:chgData name="Prof. Dr. Afroza Nahar" userId="9d1ccd36-b394-4689-9b8e-4086784d03ec" providerId="ADAL" clId="{B6CF76D1-8D7C-4F10-BE2B-3E92F5B99224}" dt="2024-11-24T09:47:26.100" v="3" actId="47"/>
        <pc:sldMkLst>
          <pc:docMk/>
          <pc:sldMk cId="1503594536" sldId="317"/>
        </pc:sldMkLst>
      </pc:sldChg>
      <pc:sldChg chg="del">
        <pc:chgData name="Prof. Dr. Afroza Nahar" userId="9d1ccd36-b394-4689-9b8e-4086784d03ec" providerId="ADAL" clId="{B6CF76D1-8D7C-4F10-BE2B-3E92F5B99224}" dt="2024-11-24T09:48:05.597" v="5" actId="47"/>
        <pc:sldMkLst>
          <pc:docMk/>
          <pc:sldMk cId="2016242020" sldId="318"/>
        </pc:sldMkLst>
      </pc:sldChg>
      <pc:sldChg chg="del">
        <pc:chgData name="Prof. Dr. Afroza Nahar" userId="9d1ccd36-b394-4689-9b8e-4086784d03ec" providerId="ADAL" clId="{B6CF76D1-8D7C-4F10-BE2B-3E92F5B99224}" dt="2024-11-24T09:48:06.107" v="6" actId="47"/>
        <pc:sldMkLst>
          <pc:docMk/>
          <pc:sldMk cId="3519981031" sldId="319"/>
        </pc:sldMkLst>
      </pc:sldChg>
      <pc:sldChg chg="del">
        <pc:chgData name="Prof. Dr. Afroza Nahar" userId="9d1ccd36-b394-4689-9b8e-4086784d03ec" providerId="ADAL" clId="{B6CF76D1-8D7C-4F10-BE2B-3E92F5B99224}" dt="2024-11-24T09:48:06.490" v="7" actId="47"/>
        <pc:sldMkLst>
          <pc:docMk/>
          <pc:sldMk cId="3387657373" sldId="320"/>
        </pc:sldMkLst>
      </pc:sldChg>
      <pc:sldChg chg="del">
        <pc:chgData name="Prof. Dr. Afroza Nahar" userId="9d1ccd36-b394-4689-9b8e-4086784d03ec" providerId="ADAL" clId="{B6CF76D1-8D7C-4F10-BE2B-3E92F5B99224}" dt="2024-11-24T09:48:06.850" v="8" actId="47"/>
        <pc:sldMkLst>
          <pc:docMk/>
          <pc:sldMk cId="1317303828" sldId="321"/>
        </pc:sldMkLst>
      </pc:sldChg>
      <pc:sldChg chg="del">
        <pc:chgData name="Prof. Dr. Afroza Nahar" userId="9d1ccd36-b394-4689-9b8e-4086784d03ec" providerId="ADAL" clId="{B6CF76D1-8D7C-4F10-BE2B-3E92F5B99224}" dt="2024-11-24T09:48:07.256" v="9" actId="47"/>
        <pc:sldMkLst>
          <pc:docMk/>
          <pc:sldMk cId="584824602" sldId="322"/>
        </pc:sldMkLst>
      </pc:sldChg>
      <pc:sldMasterChg chg="addSldLayout delSldLayout">
        <pc:chgData name="Prof. Dr. Afroza Nahar" userId="9d1ccd36-b394-4689-9b8e-4086784d03ec" providerId="ADAL" clId="{B6CF76D1-8D7C-4F10-BE2B-3E92F5B99224}" dt="2024-11-24T09:48:09.847" v="11" actId="47"/>
        <pc:sldMasterMkLst>
          <pc:docMk/>
          <pc:sldMasterMk cId="1431750202" sldId="2147483648"/>
        </pc:sldMasterMkLst>
        <pc:sldLayoutChg chg="add del">
          <pc:chgData name="Prof. Dr. Afroza Nahar" userId="9d1ccd36-b394-4689-9b8e-4086784d03ec" providerId="ADAL" clId="{B6CF76D1-8D7C-4F10-BE2B-3E92F5B99224}" dt="2024-11-24T09:48:09.847" v="11" actId="47"/>
          <pc:sldLayoutMkLst>
            <pc:docMk/>
            <pc:sldMasterMk cId="1431750202" sldId="2147483648"/>
            <pc:sldLayoutMk cId="3692114272" sldId="2147483664"/>
          </pc:sldLayoutMkLst>
        </pc:sldLayoutChg>
      </pc:sldMasterChg>
    </pc:docChg>
  </pc:docChgLst>
  <pc:docChgLst>
    <pc:chgData name="Prof. Dr. Afroza Nahar" userId="9d1ccd36-b394-4689-9b8e-4086784d03ec" providerId="ADAL" clId="{D2BE899A-E9AF-4D5E-B867-A06C9F9773EE}"/>
    <pc:docChg chg="modSld">
      <pc:chgData name="Prof. Dr. Afroza Nahar" userId="9d1ccd36-b394-4689-9b8e-4086784d03ec" providerId="ADAL" clId="{D2BE899A-E9AF-4D5E-B867-A06C9F9773EE}" dt="2025-03-24T05:50:30.589" v="51" actId="20577"/>
      <pc:docMkLst>
        <pc:docMk/>
      </pc:docMkLst>
      <pc:sldChg chg="modSp mod">
        <pc:chgData name="Prof. Dr. Afroza Nahar" userId="9d1ccd36-b394-4689-9b8e-4086784d03ec" providerId="ADAL" clId="{D2BE899A-E9AF-4D5E-B867-A06C9F9773EE}" dt="2025-03-24T04:03:49.247" v="9" actId="6549"/>
        <pc:sldMkLst>
          <pc:docMk/>
          <pc:sldMk cId="552491392" sldId="256"/>
        </pc:sldMkLst>
        <pc:spChg chg="mod">
          <ac:chgData name="Prof. Dr. Afroza Nahar" userId="9d1ccd36-b394-4689-9b8e-4086784d03ec" providerId="ADAL" clId="{D2BE899A-E9AF-4D5E-B867-A06C9F9773EE}" dt="2025-03-24T04:03:49.247" v="9" actId="6549"/>
          <ac:spMkLst>
            <pc:docMk/>
            <pc:sldMk cId="552491392" sldId="256"/>
            <ac:spMk id="6" creationId="{3B6D3FE6-5ED9-41C9-BB8E-BB5A45BA42A1}"/>
          </ac:spMkLst>
        </pc:spChg>
      </pc:sldChg>
      <pc:sldChg chg="modSp mod">
        <pc:chgData name="Prof. Dr. Afroza Nahar" userId="9d1ccd36-b394-4689-9b8e-4086784d03ec" providerId="ADAL" clId="{D2BE899A-E9AF-4D5E-B867-A06C9F9773EE}" dt="2025-03-24T05:05:51.705" v="33" actId="5793"/>
        <pc:sldMkLst>
          <pc:docMk/>
          <pc:sldMk cId="2517801555" sldId="257"/>
        </pc:sldMkLst>
        <pc:spChg chg="mod">
          <ac:chgData name="Prof. Dr. Afroza Nahar" userId="9d1ccd36-b394-4689-9b8e-4086784d03ec" providerId="ADAL" clId="{D2BE899A-E9AF-4D5E-B867-A06C9F9773EE}" dt="2025-03-24T05:05:51.705" v="33" actId="5793"/>
          <ac:spMkLst>
            <pc:docMk/>
            <pc:sldMk cId="2517801555" sldId="257"/>
            <ac:spMk id="3" creationId="{00000000-0000-0000-0000-000000000000}"/>
          </ac:spMkLst>
        </pc:spChg>
      </pc:sldChg>
      <pc:sldChg chg="modSp">
        <pc:chgData name="Prof. Dr. Afroza Nahar" userId="9d1ccd36-b394-4689-9b8e-4086784d03ec" providerId="ADAL" clId="{D2BE899A-E9AF-4D5E-B867-A06C9F9773EE}" dt="2025-03-24T05:50:30.589" v="51" actId="20577"/>
        <pc:sldMkLst>
          <pc:docMk/>
          <pc:sldMk cId="1203347045" sldId="264"/>
        </pc:sldMkLst>
        <pc:spChg chg="mod">
          <ac:chgData name="Prof. Dr. Afroza Nahar" userId="9d1ccd36-b394-4689-9b8e-4086784d03ec" providerId="ADAL" clId="{D2BE899A-E9AF-4D5E-B867-A06C9F9773EE}" dt="2025-03-24T05:50:30.589" v="51" actId="20577"/>
          <ac:spMkLst>
            <pc:docMk/>
            <pc:sldMk cId="1203347045" sldId="264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5AB4D0-56E3-4541-8470-1F625F4D423C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1AC4C0-3DCF-4801-873B-F4635E3F32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1AC4C0-3DCF-4801-873B-F4635E3F321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7422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1AC4C0-3DCF-4801-873B-F4635E3F321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1190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1AC4C0-3DCF-4801-873B-F4635E3F321A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3801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1AC4C0-3DCF-4801-873B-F4635E3F321A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927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1AC4C0-3DCF-4801-873B-F4635E3F321A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1229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96867-01A4-4EFE-80D6-3C4235C8B7F0}" type="datetime1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558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4354" y="0"/>
            <a:ext cx="8229600" cy="1143000"/>
          </a:xfrm>
        </p:spPr>
        <p:txBody>
          <a:bodyPr>
            <a:normAutofit/>
          </a:bodyPr>
          <a:lstStyle>
            <a:lvl1pPr algn="l">
              <a:defRPr sz="4400"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010" y="1295400"/>
            <a:ext cx="8954589" cy="4876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00" y="6492875"/>
            <a:ext cx="2133600" cy="365125"/>
          </a:xfrm>
        </p:spPr>
        <p:txBody>
          <a:bodyPr/>
          <a:lstStyle/>
          <a:p>
            <a:fld id="{1CEF4D7D-4511-4919-9F3D-7E2B073B2EA7}" type="datetime1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92875"/>
            <a:ext cx="2895600" cy="365125"/>
          </a:xfrm>
        </p:spPr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34200" y="6492875"/>
            <a:ext cx="2133600" cy="365125"/>
          </a:xfrm>
        </p:spPr>
        <p:txBody>
          <a:bodyPr/>
          <a:lstStyle/>
          <a:p>
            <a:fld id="{CD9D67FB-C08C-4542-9935-852146865378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 descr="Image result for AIUB logo">
            <a:extLst>
              <a:ext uri="{FF2B5EF4-FFF2-40B4-BE49-F238E27FC236}">
                <a16:creationId xmlns:a16="http://schemas.microsoft.com/office/drawing/2014/main" id="{BBAD0EFA-6593-E3EF-AE18-A1A29A72BF0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0520" y="71967"/>
            <a:ext cx="1097280" cy="1104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9181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00" y="6416675"/>
            <a:ext cx="2133600" cy="365125"/>
          </a:xfrm>
        </p:spPr>
        <p:txBody>
          <a:bodyPr/>
          <a:lstStyle/>
          <a:p>
            <a:fld id="{626FBDFE-0C2B-4B0E-88A4-7CFFBB6EEC7F}" type="datetime1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16675"/>
            <a:ext cx="2895600" cy="365125"/>
          </a:xfrm>
        </p:spPr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34200" y="6416675"/>
            <a:ext cx="2133600" cy="365125"/>
          </a:xfrm>
        </p:spPr>
        <p:txBody>
          <a:bodyPr/>
          <a:lstStyle/>
          <a:p>
            <a:fld id="{CD9D67FB-C08C-4542-9935-8521468653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135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1143000"/>
          </a:xfrm>
        </p:spPr>
        <p:txBody>
          <a:bodyPr/>
          <a:lstStyle>
            <a:lvl1pPr algn="l"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200" y="6477000"/>
            <a:ext cx="2133600" cy="365125"/>
          </a:xfrm>
        </p:spPr>
        <p:txBody>
          <a:bodyPr/>
          <a:lstStyle/>
          <a:p>
            <a:fld id="{53FDF108-6BE4-4C95-A5F8-A02D2527FD86}" type="datetime1">
              <a:rPr lang="en-US" smtClean="0"/>
              <a:t>4/10/2025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477000"/>
            <a:ext cx="2895600" cy="365125"/>
          </a:xfrm>
        </p:spPr>
        <p:txBody>
          <a:bodyPr/>
          <a:lstStyle/>
          <a:p>
            <a:r>
              <a:rPr lang="en-US"/>
              <a:t>Dr. Afroza Nahar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934200" y="6492875"/>
            <a:ext cx="2133600" cy="365125"/>
          </a:xfrm>
        </p:spPr>
        <p:txBody>
          <a:bodyPr/>
          <a:lstStyle/>
          <a:p>
            <a:fld id="{CD9D67FB-C08C-4542-9935-852146865378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 descr="Image result for AIUB logo">
            <a:extLst>
              <a:ext uri="{FF2B5EF4-FFF2-40B4-BE49-F238E27FC236}">
                <a16:creationId xmlns:a16="http://schemas.microsoft.com/office/drawing/2014/main" id="{33E7CA2F-343A-5B8D-A318-6789CE0FDF3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0520" y="71967"/>
            <a:ext cx="1097280" cy="1104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9827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94" y="4354"/>
            <a:ext cx="8229600" cy="1143000"/>
          </a:xfrm>
        </p:spPr>
        <p:txBody>
          <a:bodyPr/>
          <a:lstStyle>
            <a:lvl1pPr algn="l"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6200" y="6492875"/>
            <a:ext cx="2133600" cy="365125"/>
          </a:xfrm>
        </p:spPr>
        <p:txBody>
          <a:bodyPr/>
          <a:lstStyle/>
          <a:p>
            <a:fld id="{61113402-2FF5-49AA-B1E2-BDDF6A80F9A0}" type="datetime1">
              <a:rPr lang="en-US" smtClean="0"/>
              <a:t>4/10/2025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479812"/>
            <a:ext cx="2895600" cy="365125"/>
          </a:xfrm>
        </p:spPr>
        <p:txBody>
          <a:bodyPr/>
          <a:lstStyle/>
          <a:p>
            <a:r>
              <a:rPr lang="en-US"/>
              <a:t>Dr. Afroza Nahar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858000" y="6479812"/>
            <a:ext cx="2133600" cy="365125"/>
          </a:xfrm>
        </p:spPr>
        <p:txBody>
          <a:bodyPr/>
          <a:lstStyle/>
          <a:p>
            <a:fld id="{CD9D67FB-C08C-4542-9935-852146865378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2" descr="Image result for AIUB logo">
            <a:extLst>
              <a:ext uri="{FF2B5EF4-FFF2-40B4-BE49-F238E27FC236}">
                <a16:creationId xmlns:a16="http://schemas.microsoft.com/office/drawing/2014/main" id="{55733A70-B1C9-EBCB-CDA9-C5801502637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0520" y="71967"/>
            <a:ext cx="1097280" cy="1104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3812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1143000"/>
          </a:xfrm>
        </p:spPr>
        <p:txBody>
          <a:bodyPr/>
          <a:lstStyle>
            <a:lvl1pPr algn="l"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6200" y="6455864"/>
            <a:ext cx="2133600" cy="365125"/>
          </a:xfrm>
        </p:spPr>
        <p:txBody>
          <a:bodyPr/>
          <a:lstStyle/>
          <a:p>
            <a:fld id="{B3CF2CFE-E1CC-4A50-810C-E6B95EEA5286}" type="datetime1">
              <a:rPr lang="en-US" smtClean="0"/>
              <a:t>4/10/2025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455864"/>
            <a:ext cx="2895600" cy="365125"/>
          </a:xfrm>
        </p:spPr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55864"/>
            <a:ext cx="2133600" cy="365125"/>
          </a:xfrm>
        </p:spPr>
        <p:txBody>
          <a:bodyPr/>
          <a:lstStyle/>
          <a:p>
            <a:fld id="{CD9D67FB-C08C-4542-9935-852146865378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2" descr="Image result for AIUB logo">
            <a:extLst>
              <a:ext uri="{FF2B5EF4-FFF2-40B4-BE49-F238E27FC236}">
                <a16:creationId xmlns:a16="http://schemas.microsoft.com/office/drawing/2014/main" id="{D92E2CFB-A4F7-A67F-6201-C02AF920A0E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0520" y="71967"/>
            <a:ext cx="1097280" cy="1104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3867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C9CAC-F3FD-48E0-A8F9-8BFB7EC54230}" type="datetime1">
              <a:rPr lang="en-US" smtClean="0"/>
              <a:t>4/10/2025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2" descr="Image result for AIUB logo">
            <a:extLst>
              <a:ext uri="{FF2B5EF4-FFF2-40B4-BE49-F238E27FC236}">
                <a16:creationId xmlns:a16="http://schemas.microsoft.com/office/drawing/2014/main" id="{D70664AB-560F-8B8E-FC46-533869CAAC6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0520" y="71967"/>
            <a:ext cx="1097280" cy="1104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7003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6FE7F-C877-415A-8B1A-ECEA037576AA}" type="datetime1">
              <a:rPr lang="en-US" smtClean="0"/>
              <a:t>4/10/2025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 descr="Image result for AIUB logo">
            <a:extLst>
              <a:ext uri="{FF2B5EF4-FFF2-40B4-BE49-F238E27FC236}">
                <a16:creationId xmlns:a16="http://schemas.microsoft.com/office/drawing/2014/main" id="{22895BFC-7E8C-6C9C-AA4B-6D33C44B740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0520" y="71967"/>
            <a:ext cx="1097280" cy="1104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7401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A135C-1280-45BF-8EB9-5B8D581DDA24}" type="datetime1">
              <a:rPr lang="en-US" smtClean="0"/>
              <a:t>4/10/2025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 descr="Image result for AIUB logo">
            <a:extLst>
              <a:ext uri="{FF2B5EF4-FFF2-40B4-BE49-F238E27FC236}">
                <a16:creationId xmlns:a16="http://schemas.microsoft.com/office/drawing/2014/main" id="{8CC3C57F-5B5D-0D96-8668-89BA8E789CB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0520" y="71967"/>
            <a:ext cx="1097280" cy="1104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7290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834" y="17417"/>
            <a:ext cx="8229600" cy="1143000"/>
          </a:xfrm>
        </p:spPr>
        <p:txBody>
          <a:bodyPr/>
          <a:lstStyle>
            <a:lvl1pPr algn="l"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15C8B-85B6-4937-89A4-944228573198}" type="datetime1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96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A61CE-E831-499D-9E1D-35FB52A66D49}" type="datetime1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2298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B7713156-D27E-4AF4-94F2-64DA84439B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0099801"/>
              </p:ext>
            </p:extLst>
          </p:nvPr>
        </p:nvGraphicFramePr>
        <p:xfrm>
          <a:off x="404103" y="5723590"/>
          <a:ext cx="8335798" cy="1026114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49748">
                  <a:extLst>
                    <a:ext uri="{9D8B030D-6E8A-4147-A177-3AD203B41FA5}">
                      <a16:colId xmlns:a16="http://schemas.microsoft.com/office/drawing/2014/main" val="704821588"/>
                    </a:ext>
                  </a:extLst>
                </a:gridCol>
                <a:gridCol w="6986050">
                  <a:extLst>
                    <a:ext uri="{9D8B030D-6E8A-4147-A177-3AD203B41FA5}">
                      <a16:colId xmlns:a16="http://schemas.microsoft.com/office/drawing/2014/main" val="2999519864"/>
                    </a:ext>
                  </a:extLst>
                </a:gridCol>
              </a:tblGrid>
              <a:tr h="1026114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Instructor:</a:t>
                      </a: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9501735"/>
                  </a:ext>
                </a:extLst>
              </a:tr>
            </a:tbl>
          </a:graphicData>
        </a:graphic>
      </p:graphicFrame>
      <p:grpSp>
        <p:nvGrpSpPr>
          <p:cNvPr id="8" name="Group 16"/>
          <p:cNvGrpSpPr/>
          <p:nvPr/>
        </p:nvGrpSpPr>
        <p:grpSpPr>
          <a:xfrm>
            <a:off x="132160" y="1891732"/>
            <a:ext cx="8951676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13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13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13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241" y="3323341"/>
            <a:ext cx="7635519" cy="2126836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normAutofit/>
          </a:bodyPr>
          <a:lstStyle>
            <a:lvl1pPr>
              <a:defRPr sz="36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>
              <a:lnSpc>
                <a:spcPts val="2588"/>
              </a:lnSpc>
            </a:pPr>
            <a:r>
              <a:rPr lang="en-US"/>
              <a:t>Click to edit Master 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320957" y="5549853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13"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5010" y="427012"/>
            <a:ext cx="1419654" cy="1484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3A100AAA-E928-457A-89C7-E75CA43EBB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7004263"/>
              </p:ext>
            </p:extLst>
          </p:nvPr>
        </p:nvGraphicFramePr>
        <p:xfrm>
          <a:off x="404102" y="2717512"/>
          <a:ext cx="8335798" cy="44486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25844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990714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514007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944380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424065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2204188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444862"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Lecture: #</a:t>
                      </a: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Week: #</a:t>
                      </a: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Semester:</a:t>
                      </a: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</a:tbl>
          </a:graphicData>
        </a:graphic>
      </p:graphicFrame>
      <p:sp>
        <p:nvSpPr>
          <p:cNvPr id="31" name="Content Placeholder 30">
            <a:extLst>
              <a:ext uri="{FF2B5EF4-FFF2-40B4-BE49-F238E27FC236}">
                <a16:creationId xmlns:a16="http://schemas.microsoft.com/office/drawing/2014/main" id="{1AE39945-A5C9-4738-8042-EE14774BD72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32160" y="2050473"/>
            <a:ext cx="8951676" cy="585800"/>
          </a:xfrm>
          <a:solidFill>
            <a:schemeClr val="bg2">
              <a:lumMod val="75000"/>
            </a:schemeClr>
          </a:solidFill>
        </p:spPr>
        <p:txBody>
          <a:bodyPr anchor="ctr">
            <a:noAutofit/>
          </a:bodyPr>
          <a:lstStyle>
            <a:lvl1pPr marL="0" indent="0">
              <a:buNone/>
              <a:defRPr sz="2400" b="1" cap="sm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Course Code: Course Name</a:t>
            </a:r>
          </a:p>
        </p:txBody>
      </p:sp>
      <p:sp>
        <p:nvSpPr>
          <p:cNvPr id="1025" name="Text Placeholder 1024">
            <a:extLst>
              <a:ext uri="{FF2B5EF4-FFF2-40B4-BE49-F238E27FC236}">
                <a16:creationId xmlns:a16="http://schemas.microsoft.com/office/drawing/2014/main" id="{1D66F559-4E11-46F3-907B-3977362398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91400" y="2717513"/>
            <a:ext cx="514493" cy="407988"/>
          </a:xfrm>
          <a:solidFill>
            <a:schemeClr val="bg2">
              <a:lumMod val="50000"/>
            </a:schemeClr>
          </a:solidFill>
        </p:spPr>
        <p:txBody>
          <a:bodyPr anchor="t">
            <a:normAutofit/>
          </a:bodyPr>
          <a:lstStyle>
            <a:lvl1pPr marL="0" indent="0" algn="l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NO.</a:t>
            </a:r>
          </a:p>
        </p:txBody>
      </p:sp>
      <p:sp>
        <p:nvSpPr>
          <p:cNvPr id="35" name="Text Placeholder 1024">
            <a:extLst>
              <a:ext uri="{FF2B5EF4-FFF2-40B4-BE49-F238E27FC236}">
                <a16:creationId xmlns:a16="http://schemas.microsoft.com/office/drawing/2014/main" id="{5FE0D7C2-73EA-4871-ACB3-22D6161B53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22414" y="2717513"/>
            <a:ext cx="514493" cy="407988"/>
          </a:xfrm>
          <a:solidFill>
            <a:schemeClr val="bg2">
              <a:lumMod val="50000"/>
            </a:schemeClr>
          </a:solidFill>
        </p:spPr>
        <p:txBody>
          <a:bodyPr anchor="t">
            <a:normAutofit/>
          </a:bodyPr>
          <a:lstStyle>
            <a:lvl1pPr marL="0" indent="0" algn="l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NO.</a:t>
            </a:r>
          </a:p>
        </p:txBody>
      </p:sp>
      <p:sp>
        <p:nvSpPr>
          <p:cNvPr id="36" name="Text Placeholder 1024">
            <a:extLst>
              <a:ext uri="{FF2B5EF4-FFF2-40B4-BE49-F238E27FC236}">
                <a16:creationId xmlns:a16="http://schemas.microsoft.com/office/drawing/2014/main" id="{686BCCD1-33DA-4ED5-A212-D0854B67FD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45010" y="2735949"/>
            <a:ext cx="2294889" cy="407988"/>
          </a:xfrm>
          <a:solidFill>
            <a:schemeClr val="bg2">
              <a:lumMod val="50000"/>
            </a:schemeClr>
          </a:solidFill>
        </p:spPr>
        <p:txBody>
          <a:bodyPr anchor="t">
            <a:normAutofit/>
          </a:bodyPr>
          <a:lstStyle>
            <a:lvl1pPr marL="0" indent="0" algn="l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Semester Year</a:t>
            </a:r>
          </a:p>
        </p:txBody>
      </p:sp>
      <p:sp>
        <p:nvSpPr>
          <p:cNvPr id="37" name="Text Placeholder 1024">
            <a:extLst>
              <a:ext uri="{FF2B5EF4-FFF2-40B4-BE49-F238E27FC236}">
                <a16:creationId xmlns:a16="http://schemas.microsoft.com/office/drawing/2014/main" id="{8D52C2CD-9D3F-4285-BE56-11CB615F5B5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13833" y="5723594"/>
            <a:ext cx="7026066" cy="1012257"/>
          </a:xfrm>
          <a:noFill/>
        </p:spPr>
        <p:txBody>
          <a:bodyPr anchor="t">
            <a:normAutofit/>
          </a:bodyPr>
          <a:lstStyle>
            <a:lvl1pPr marL="0" indent="0" algn="l">
              <a:buNone/>
              <a:defRPr sz="1600"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Instructor Name, Designation &amp; Contact</a:t>
            </a:r>
          </a:p>
        </p:txBody>
      </p:sp>
      <p:pic>
        <p:nvPicPr>
          <p:cNvPr id="1028" name="Picture 1027" descr="A close up of a sign&#10;&#10;Description automatically generated">
            <a:extLst>
              <a:ext uri="{FF2B5EF4-FFF2-40B4-BE49-F238E27FC236}">
                <a16:creationId xmlns:a16="http://schemas.microsoft.com/office/drawing/2014/main" id="{E4EBCEBE-46C0-4E9A-81AE-CFC8FE0F1E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4301" y="436096"/>
            <a:ext cx="5091004" cy="1456019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0BFBF0B-56F3-4D8D-AAF0-AA58ACAFC1A1}"/>
              </a:ext>
            </a:extLst>
          </p:cNvPr>
          <p:cNvSpPr txBox="1"/>
          <p:nvPr/>
        </p:nvSpPr>
        <p:spPr>
          <a:xfrm>
            <a:off x="33408" y="105918"/>
            <a:ext cx="9110592" cy="40395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025" b="1" cap="small" baseline="0" dirty="0">
                <a:solidFill>
                  <a:schemeClr val="bg2">
                    <a:lumMod val="50000"/>
                  </a:schemeClr>
                </a:solidFill>
              </a:rPr>
              <a:t>American International University-Bangladesh</a:t>
            </a:r>
          </a:p>
        </p:txBody>
      </p:sp>
    </p:spTree>
    <p:extLst>
      <p:ext uri="{BB962C8B-B14F-4D97-AF65-F5344CB8AC3E}">
        <p14:creationId xmlns:p14="http://schemas.microsoft.com/office/powerpoint/2010/main" val="23746999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ectur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9587" y="6450891"/>
            <a:ext cx="6124902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CSC3113: Theory of Computation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BCCA9BA-A048-49BB-8213-AEE11065F3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0"/>
            <a:ext cx="8324850" cy="693738"/>
          </a:xfrm>
        </p:spPr>
        <p:txBody>
          <a:bodyPr anchor="ctr">
            <a:noAutofit/>
          </a:bodyPr>
          <a:lstStyle>
            <a:lvl1pPr marL="0" indent="0">
              <a:buNone/>
              <a:defRPr sz="3600" b="1" i="0" cap="small" baseline="0"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D8E7E68-2955-4F78-A94B-30ADF2A5D4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" y="846142"/>
            <a:ext cx="9136063" cy="55911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226701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General Lectur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9587" y="6450891"/>
            <a:ext cx="6124902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CSC3113: Theory of Computation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5733" y="1067510"/>
            <a:ext cx="9144000" cy="151690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13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13"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13"/>
            </a:p>
          </p:txBody>
        </p:sp>
      </p:grp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BCCA9BA-A048-49BB-8213-AEE11065F3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0"/>
            <a:ext cx="8324850" cy="693738"/>
          </a:xfrm>
        </p:spPr>
        <p:txBody>
          <a:bodyPr anchor="ctr">
            <a:noAutofit/>
          </a:bodyPr>
          <a:lstStyle>
            <a:lvl1pPr marL="0" indent="0">
              <a:buNone/>
              <a:defRPr sz="3600" b="1" i="0" cap="small" baseline="0">
                <a:solidFill>
                  <a:srgbClr val="FF0000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D8E7E68-2955-4F78-A94B-30ADF2A5D4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" y="1647825"/>
            <a:ext cx="9136063" cy="55911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  <a:p>
            <a:pPr marL="514350" marR="0" lvl="1" indent="-257175" algn="l" defTabSz="51435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prstClr val="black">
                  <a:lumMod val="75000"/>
                  <a:lumOff val="25000"/>
                </a:prstClr>
              </a:buClr>
              <a:buSzPct val="90000"/>
              <a:buFont typeface="Wingdings" pitchFamily="2" charset="2"/>
              <a:buChar char="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Second level</a:t>
            </a:r>
          </a:p>
          <a:p>
            <a:pPr marL="709017" marR="0" lvl="2" indent="-194667" algn="l" defTabSz="51435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Char char="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Third level</a:t>
            </a:r>
          </a:p>
          <a:p>
            <a:pPr marL="900113" marR="0" lvl="3" indent="-191096" algn="l" defTabSz="51435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prstClr val="black">
                  <a:lumMod val="75000"/>
                  <a:lumOff val="25000"/>
                </a:prstClr>
              </a:buClr>
              <a:buSzPct val="90000"/>
              <a:buFont typeface="Wingdings" pitchFamily="2" charset="2"/>
              <a:buChar char=""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Fourth level</a:t>
            </a:r>
          </a:p>
          <a:p>
            <a:pPr marL="1091208" marR="0" lvl="4" indent="-186631" algn="l" defTabSz="51435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Char char="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8441885"/>
      </p:ext>
    </p:extLst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9587" y="6450891"/>
            <a:ext cx="6124902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CSC3113: Theory of Computation</a:t>
            </a:r>
          </a:p>
        </p:txBody>
      </p: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5E84C61F-F79E-4F04-8E91-8F8FAFEA8F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4444" y="14279"/>
            <a:ext cx="811917" cy="816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B5591777-D5A7-4013-A826-DE1813C764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0"/>
            <a:ext cx="8324850" cy="693738"/>
          </a:xfrm>
        </p:spPr>
        <p:txBody>
          <a:bodyPr anchor="ctr">
            <a:noAutofit/>
          </a:bodyPr>
          <a:lstStyle>
            <a:lvl1pPr marL="0" indent="0">
              <a:buNone/>
              <a:defRPr sz="3600" b="1" i="0" cap="small" baseline="0">
                <a:solidFill>
                  <a:srgbClr val="FF0000"/>
                </a:solidFill>
                <a:latin typeface="+mj-lt"/>
              </a:defRPr>
            </a:lvl1pPr>
          </a:lstStyle>
          <a:p>
            <a:pPr marL="0" marR="0" lvl="0" indent="0" algn="l" defTabSz="514350" rtl="0" eaLnBrk="1" fontAlgn="auto" latinLnBrk="0" hangingPunct="1">
              <a:lnSpc>
                <a:spcPct val="100000"/>
              </a:lnSpc>
              <a:spcBef>
                <a:spcPts val="169"/>
              </a:spcBef>
              <a:spcAft>
                <a:spcPts val="0"/>
              </a:spcAft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lang="en-US" dirty="0"/>
              <a:t>Click to add TITLE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791C99F-131D-5678-E93F-B62BE131E3E2}"/>
              </a:ext>
            </a:extLst>
          </p:cNvPr>
          <p:cNvGrpSpPr/>
          <p:nvPr userDrawn="1"/>
        </p:nvGrpSpPr>
        <p:grpSpPr>
          <a:xfrm>
            <a:off x="5733" y="1067510"/>
            <a:ext cx="9144000" cy="151690"/>
            <a:chOff x="284163" y="1577847"/>
            <a:chExt cx="8576373" cy="13741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CBBF3A0-BCD9-37B0-380A-595E96B0A3D3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13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A866D06-1AEF-A75A-BAF9-A10918D6BB2D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13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8A196E9-3A2D-0F94-E2D1-6CA34272B271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13"/>
            </a:p>
          </p:txBody>
        </p:sp>
      </p:grpSp>
    </p:spTree>
    <p:extLst>
      <p:ext uri="{BB962C8B-B14F-4D97-AF65-F5344CB8AC3E}">
        <p14:creationId xmlns:p14="http://schemas.microsoft.com/office/powerpoint/2010/main" val="42708173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Refe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1154" y="6437036"/>
            <a:ext cx="6124902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CSC3113: Theory of Computation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-794" y="4"/>
            <a:ext cx="9144000" cy="1468437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vert="horz" lIns="51435" tIns="25718" rIns="102870" bIns="205740" rtlCol="0" anchor="b" anchorCtr="0">
            <a:normAutofit/>
          </a:bodyPr>
          <a:lstStyle/>
          <a:p>
            <a:pPr algn="l" defTabSz="514350" rtl="0" eaLnBrk="1" latinLnBrk="0" hangingPunct="1">
              <a:spcBef>
                <a:spcPct val="0"/>
              </a:spcBef>
              <a:buNone/>
            </a:pPr>
            <a:endParaRPr sz="2363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90194" y="1906546"/>
            <a:ext cx="8951676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13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13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13"/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2130" y="1463152"/>
            <a:ext cx="8951676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51435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400" b="1" kern="1200" cap="small" baseline="0">
                <a:solidFill>
                  <a:schemeClr val="bg2">
                    <a:lumMod val="50000"/>
                  </a:schemeClr>
                </a:solidFill>
                <a:latin typeface="Arial Black" panose="020B0A04020102020204" pitchFamily="34" charset="0"/>
                <a:ea typeface="+mn-ea"/>
                <a:cs typeface="+mn-cs"/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Outline subtitle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5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13"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4346" y="39914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396FECD-FE63-4645-83B6-B26F0B10853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1602" y="2044700"/>
            <a:ext cx="8940800" cy="414655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Lecture Outline</a:t>
            </a:r>
          </a:p>
          <a:p>
            <a:pPr marL="514350" marR="0" lvl="1" indent="-257175" algn="l" defTabSz="51435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prstClr val="black">
                  <a:lumMod val="75000"/>
                  <a:lumOff val="25000"/>
                </a:prstClr>
              </a:buClr>
              <a:buSzPct val="90000"/>
              <a:buFont typeface="Wingdings" pitchFamily="2" charset="2"/>
              <a:buChar char="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Second level</a:t>
            </a:r>
          </a:p>
          <a:p>
            <a:pPr marL="709017" marR="0" lvl="2" indent="-194667" algn="l" defTabSz="51435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Char char="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Third level</a:t>
            </a:r>
          </a:p>
          <a:p>
            <a:pPr marL="900113" marR="0" lvl="3" indent="-191096" algn="l" defTabSz="51435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prstClr val="black">
                  <a:lumMod val="75000"/>
                  <a:lumOff val="25000"/>
                </a:prstClr>
              </a:buClr>
              <a:buSzPct val="90000"/>
              <a:buFont typeface="Wingdings" pitchFamily="2" charset="2"/>
              <a:buChar char=""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Fourth level</a:t>
            </a:r>
          </a:p>
          <a:p>
            <a:pPr marL="1091208" marR="0" lvl="4" indent="-186631" algn="l" defTabSz="51435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Char char="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Fifth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B82D4F-7F31-400E-B94B-1E51FA392DBC}"/>
              </a:ext>
            </a:extLst>
          </p:cNvPr>
          <p:cNvSpPr txBox="1"/>
          <p:nvPr/>
        </p:nvSpPr>
        <p:spPr>
          <a:xfrm>
            <a:off x="101602" y="99196"/>
            <a:ext cx="7621950" cy="1261884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 rtlCol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1000" b="1" i="0" cap="small" baseline="0" dirty="0">
              <a:solidFill>
                <a:schemeClr val="bg1"/>
              </a:solidFill>
            </a:endParaRP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4000" b="1" i="0" cap="small" baseline="0" dirty="0">
                <a:solidFill>
                  <a:schemeClr val="bg1"/>
                </a:solidFill>
              </a:rPr>
              <a:t>References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endParaRPr lang="en-US" sz="1000" b="1" i="0" cap="small" baseline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2114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D3A86E-4051-4565-9BA3-72D0E984B416}" type="datetime1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Dr. Afroza Nahar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9D67FB-C08C-4542-9935-852146865378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 descr="Image result for AIUB logo">
            <a:extLst>
              <a:ext uri="{FF2B5EF4-FFF2-40B4-BE49-F238E27FC236}">
                <a16:creationId xmlns:a16="http://schemas.microsoft.com/office/drawing/2014/main" id="{AAE71148-FC26-A99F-B3FD-605E71643BA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0520" y="71967"/>
            <a:ext cx="1097280" cy="1104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ABAB7077-D2A4-F5EA-7FF1-85247327AC6A}"/>
              </a:ext>
            </a:extLst>
          </p:cNvPr>
          <p:cNvGrpSpPr/>
          <p:nvPr userDrawn="1"/>
        </p:nvGrpSpPr>
        <p:grpSpPr>
          <a:xfrm>
            <a:off x="5733" y="1067510"/>
            <a:ext cx="9144000" cy="91440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0C0A460-698D-EFCE-8080-50E06B3EE373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13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3B10B80-976D-2C4E-38B5-15B6FDF2FCC3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13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994C4C9-60BA-777A-B3AA-3C40CBFF721B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13"/>
            </a:p>
          </p:txBody>
        </p:sp>
      </p:grpSp>
    </p:spTree>
    <p:extLst>
      <p:ext uri="{BB962C8B-B14F-4D97-AF65-F5344CB8AC3E}">
        <p14:creationId xmlns:p14="http://schemas.microsoft.com/office/powerpoint/2010/main" val="1431750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afroza@aiub.edu" TargetMode="Externa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hyperlink" Target="RE-TOC_Sipser.pdf" TargetMode="Externa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14EA1-FF1F-4C8C-953C-BFA5AD0EAB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Regular Expression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53A0D-C7B3-4808-ABAF-AC6AFB2BEBE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solidFill>
            <a:srgbClr val="0070C0"/>
          </a:solidFill>
        </p:spPr>
        <p:txBody>
          <a:bodyPr/>
          <a:lstStyle/>
          <a:p>
            <a:r>
              <a:rPr lang="en-US" dirty="0"/>
              <a:t>CSC3113: Theory of Computation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64B0C3-2693-43F6-99F9-2EECD2D065A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solidFill>
            <a:schemeClr val="accent1"/>
          </a:solidFill>
        </p:spPr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9FE7D0-6EA7-4406-A508-3B009D2236D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solidFill>
            <a:schemeClr val="accent1"/>
          </a:solidFill>
        </p:spPr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B6D3FE6-5ED9-41C9-BB8E-BB5A45BA42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solidFill>
            <a:schemeClr val="accent1"/>
          </a:solidFill>
        </p:spPr>
        <p:txBody>
          <a:bodyPr/>
          <a:lstStyle/>
          <a:p>
            <a:pPr algn="ctr"/>
            <a:r>
              <a:rPr lang="en-US" dirty="0"/>
              <a:t>SPRING  2024-2025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78D74E9-ADD8-4095-90A1-6502D4133F8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Dr. Afroza Nahar</a:t>
            </a:r>
            <a:r>
              <a:rPr lang="en-US" dirty="0">
                <a:solidFill>
                  <a:schemeClr val="tx1"/>
                </a:solidFill>
              </a:rPr>
              <a:t>,  Professor</a:t>
            </a:r>
          </a:p>
          <a:p>
            <a:r>
              <a:rPr lang="en-US" dirty="0">
                <a:solidFill>
                  <a:schemeClr val="tx1"/>
                </a:solidFill>
              </a:rPr>
              <a:t>Department of Computer Science, Faculty of Science &amp; Technology.</a:t>
            </a:r>
          </a:p>
          <a:p>
            <a:r>
              <a:rPr lang="en-US" dirty="0">
                <a:solidFill>
                  <a:srgbClr val="FF0000"/>
                </a:solidFill>
                <a:hlinkClick r:id="rId2"/>
              </a:rPr>
              <a:t>afroza@aiub.edu</a:t>
            </a:r>
            <a:r>
              <a:rPr lang="en-US" dirty="0">
                <a:solidFill>
                  <a:srgbClr val="FF0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524913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5400" dirty="0"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4000" dirty="0"/>
              <a:t>Regular Expressions  (RE)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4000" dirty="0"/>
              <a:t>Equivalence of RL and RE</a:t>
            </a:r>
          </a:p>
          <a:p>
            <a:pPr marL="0" indent="0">
              <a:lnSpc>
                <a:spcPct val="200000"/>
              </a:lnSpc>
              <a:buNone/>
            </a:pPr>
            <a:endParaRPr lang="en-US" sz="4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A1325-FEBE-42D2-A5E4-A3E9E6F8A829}" type="datetime1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801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7620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US" sz="5400" dirty="0"/>
              <a:t>Equivalences so far…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6800" y="1562100"/>
            <a:ext cx="3200400" cy="1645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Regular Languages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538788" y="1562100"/>
            <a:ext cx="3200400" cy="1645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DFA</a:t>
            </a:r>
          </a:p>
        </p:txBody>
      </p:sp>
      <p:sp>
        <p:nvSpPr>
          <p:cNvPr id="7" name="Rectangle 6"/>
          <p:cNvSpPr/>
          <p:nvPr/>
        </p:nvSpPr>
        <p:spPr>
          <a:xfrm>
            <a:off x="1066800" y="4526280"/>
            <a:ext cx="3200400" cy="1645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Regular Expressions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526280"/>
            <a:ext cx="3200400" cy="1645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NFA</a:t>
            </a:r>
          </a:p>
        </p:txBody>
      </p:sp>
      <p:sp>
        <p:nvSpPr>
          <p:cNvPr id="9" name="Up-Down Arrow 8"/>
          <p:cNvSpPr/>
          <p:nvPr/>
        </p:nvSpPr>
        <p:spPr>
          <a:xfrm>
            <a:off x="6934200" y="3238500"/>
            <a:ext cx="457200" cy="1280160"/>
          </a:xfrm>
          <a:prstGeom prst="up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10" name="Up-Down Arrow 9"/>
          <p:cNvSpPr/>
          <p:nvPr/>
        </p:nvSpPr>
        <p:spPr>
          <a:xfrm>
            <a:off x="2209800" y="3276600"/>
            <a:ext cx="457200" cy="1280160"/>
          </a:xfrm>
          <a:prstGeom prst="up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11" name="Left-Right Arrow 10"/>
          <p:cNvSpPr/>
          <p:nvPr/>
        </p:nvSpPr>
        <p:spPr>
          <a:xfrm>
            <a:off x="4267200" y="2194560"/>
            <a:ext cx="1280160" cy="365760"/>
          </a:xfrm>
          <a:prstGeom prst="leftRightArrow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12" name="Left-Right Arrow 11"/>
          <p:cNvSpPr/>
          <p:nvPr/>
        </p:nvSpPr>
        <p:spPr>
          <a:xfrm>
            <a:off x="4206240" y="5349240"/>
            <a:ext cx="1280160" cy="365760"/>
          </a:xfrm>
          <a:prstGeom prst="left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51DDE-980A-49F6-A4A3-D21C89F81707}" type="datetime1">
              <a:rPr lang="en-US" smtClean="0"/>
              <a:t>4/10/2025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0234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B2CC3-B2E0-B918-2CBD-4138DFBB3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Introduction to Regular Languages and Regular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C7722-4EC0-545B-A8CC-97EC06742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rgbClr val="0070C0"/>
                </a:solidFill>
              </a:rPr>
              <a:t>Objective</a:t>
            </a:r>
            <a:r>
              <a:rPr lang="en-US" sz="2800" dirty="0"/>
              <a:t>: Understand the relationship between regular languages and regular expressions, and learn how to represent regular languages using regular expressions.</a:t>
            </a:r>
          </a:p>
          <a:p>
            <a:endParaRPr lang="en-US" sz="28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rgbClr val="0070C0"/>
                </a:solidFill>
              </a:rPr>
              <a:t>Key Terms: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/>
              <a:t>Alphabet (Σ): A finite set of symbols.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/>
              <a:t>String: A finite sequence of symbols from Σ.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/>
              <a:t>Language (L): A set of strings over Σ.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/>
              <a:t>Regular Language: A language that can be represented by a finite automaton or generated by a regular expression.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B85246-EE41-612B-1611-BD9AFFEFF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F4D7D-4511-4919-9F3D-7E2B073B2EA7}" type="datetime1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34BF5-0C25-5FEF-773F-81A626BF4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C8CF0-EABD-A589-A78A-02AD9A77E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3087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169F5-BA9B-4F8E-82D8-3D2A09B9A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10876-255D-4FF5-B65D-999B6DC788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en-US" sz="2800" dirty="0"/>
              <a:t>Regular languages (RL) are often described by means of algebraic expressions called regular expressions (RE). </a:t>
            </a:r>
          </a:p>
          <a:p>
            <a:pPr algn="just"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0070C0"/>
                </a:solidFill>
              </a:rPr>
              <a:t>In arithmetic we use the +, * operations to construct expressions: (2+3)</a:t>
            </a:r>
            <a:r>
              <a:rPr lang="en-US" sz="5400" baseline="-25000" dirty="0">
                <a:solidFill>
                  <a:srgbClr val="0070C0"/>
                </a:solidFill>
              </a:rPr>
              <a:t>*</a:t>
            </a:r>
            <a:r>
              <a:rPr lang="en-US" sz="2800" dirty="0">
                <a:solidFill>
                  <a:srgbClr val="0070C0"/>
                </a:solidFill>
              </a:rPr>
              <a:t>5</a:t>
            </a:r>
          </a:p>
          <a:p>
            <a:pPr algn="just"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en-US" sz="2800" dirty="0"/>
              <a:t>The value of the arithmetic expression is the number 25.</a:t>
            </a:r>
          </a:p>
          <a:p>
            <a:pPr algn="just"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0070C0"/>
                </a:solidFill>
              </a:rPr>
              <a:t>The value of a regular expression is a regular language.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C56F94-B7BB-49AC-B4D2-993F7D9FD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74208-3079-47C9-B71F-AF3E942C9D5E}" type="datetime1">
              <a:rPr lang="en-US" smtClean="0"/>
              <a:t>4/10/2025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758A7A-653A-4FC3-808C-A55A7E9DA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483D8-77B4-4742-AAFD-DE2F77366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666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Regular </a:t>
            </a:r>
            <a:r>
              <a:rPr lang="en-US" sz="4400" dirty="0"/>
              <a:t>Expressions  and </a:t>
            </a:r>
            <a:r>
              <a:rPr lang="en-US" dirty="0"/>
              <a:t>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rgbClr val="0070C0"/>
                </a:solidFill>
              </a:rPr>
              <a:t>Definition: </a:t>
            </a:r>
            <a:r>
              <a:rPr lang="en-US" sz="2800" dirty="0"/>
              <a:t>A regular expression is a symbolic notation used to describe regular languages.</a:t>
            </a:r>
          </a:p>
          <a:p>
            <a:pPr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800" dirty="0"/>
              <a:t>It uses operators to combine simpler expressions into more complex patterns.</a:t>
            </a:r>
          </a:p>
          <a:p>
            <a:pPr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800" dirty="0"/>
              <a:t>Regular Expression Operators:</a:t>
            </a:r>
          </a:p>
          <a:p>
            <a:pPr lvl="1"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2000" dirty="0"/>
              <a:t>Union ( ∪ ): Represents “OR” (e.g., A ∪ B matches any string in A or B).</a:t>
            </a:r>
          </a:p>
          <a:p>
            <a:pPr lvl="1"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70C0"/>
                </a:solidFill>
              </a:rPr>
              <a:t>Concatenation: Sequences symbols (e.g., AB matches any string formed by a string from A followed by a string from B).</a:t>
            </a:r>
          </a:p>
          <a:p>
            <a:pPr lvl="1"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2000" dirty="0"/>
              <a:t>Kleene Star ( * ): Matches zero or more repetitions of a pattern (e.g., A* matches ε, A, AA, etc.).</a:t>
            </a:r>
          </a:p>
          <a:p>
            <a:pPr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The value of a regular expression is a regular language.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6C268-4978-460D-80DE-0CE2D48DB262}" type="datetime1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031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Constructing Regular Expressions from Regular Languages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010" y="1295399"/>
            <a:ext cx="8954589" cy="5197475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b="1" dirty="0">
                <a:solidFill>
                  <a:srgbClr val="0070C0"/>
                </a:solidFill>
              </a:rPr>
              <a:t>Step-by-Step Process: </a:t>
            </a:r>
          </a:p>
          <a:p>
            <a:pPr lvl="1" algn="just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dirty="0"/>
              <a:t>Identify Basic Patterns: Determine the smallest units (single characters or strings).</a:t>
            </a:r>
          </a:p>
          <a:p>
            <a:pPr lvl="1" algn="just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dirty="0"/>
              <a:t>Apply Operations:</a:t>
            </a:r>
          </a:p>
          <a:p>
            <a:pPr lvl="2" algn="just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/>
              <a:t>Union ( ∪ ): Use for choices between patterns.</a:t>
            </a:r>
          </a:p>
          <a:p>
            <a:pPr lvl="2" algn="just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/>
              <a:t>Concatenation: Use for sequences.</a:t>
            </a:r>
          </a:p>
          <a:p>
            <a:pPr lvl="2" algn="just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/>
              <a:t>Kleene Star ( * ): Use for repeating patterns.</a:t>
            </a:r>
          </a:p>
          <a:p>
            <a:pPr lvl="2" algn="just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/>
              <a:t>Example:</a:t>
            </a:r>
          </a:p>
          <a:p>
            <a:pPr lvl="3" algn="just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Language L = { "a", "aa", "</a:t>
            </a:r>
            <a:r>
              <a:rPr lang="en-US" dirty="0" err="1"/>
              <a:t>aaa</a:t>
            </a:r>
            <a:r>
              <a:rPr lang="en-US" dirty="0"/>
              <a:t>", … }</a:t>
            </a:r>
          </a:p>
          <a:p>
            <a:pPr lvl="3" algn="just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Regular Expression: a+ (where + denotes one or more occurrences of "a")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418C1-BB75-4731-9071-AD7AB6D8213A}" type="datetime1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491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Union ∪ ( disjunction, OR, |, +)  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en-US" dirty="0"/>
              <a:t>The union of languages is the usual thing, since languages are sets. </a:t>
            </a:r>
          </a:p>
          <a:p>
            <a:pPr marL="0" indent="0">
              <a:spcBef>
                <a:spcPts val="0"/>
              </a:spcBef>
              <a:spcAft>
                <a:spcPts val="1800"/>
              </a:spcAft>
              <a:buNone/>
            </a:pPr>
            <a:r>
              <a:rPr lang="en-US" dirty="0">
                <a:solidFill>
                  <a:srgbClr val="0070C0"/>
                </a:solidFill>
              </a:rPr>
              <a:t>Example: {01,111,10} ∪ {00, 01} </a:t>
            </a:r>
          </a:p>
          <a:p>
            <a:pPr marL="0" indent="0">
              <a:spcBef>
                <a:spcPts val="0"/>
              </a:spcBef>
              <a:spcAft>
                <a:spcPts val="1800"/>
              </a:spcAft>
              <a:buNone/>
            </a:pPr>
            <a:r>
              <a:rPr lang="en-US" dirty="0">
                <a:solidFill>
                  <a:srgbClr val="0070C0"/>
                </a:solidFill>
              </a:rPr>
              <a:t>		= {01,111,10,00}. </a:t>
            </a:r>
          </a:p>
          <a:p>
            <a:pPr>
              <a:spcBef>
                <a:spcPts val="0"/>
              </a:spcBef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en-US" dirty="0"/>
              <a:t> 01 happens to be in both sets, so it will be once in the union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55509-CA28-4C6A-900D-5C12832A1145}" type="datetime1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514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4354" y="0"/>
            <a:ext cx="8995954" cy="1143000"/>
          </a:xfrm>
        </p:spPr>
        <p:txBody>
          <a:bodyPr>
            <a:noAutofit/>
          </a:bodyPr>
          <a:lstStyle/>
          <a:p>
            <a:r>
              <a:rPr lang="en-US" sz="2800" dirty="0"/>
              <a:t>Concatenation: represented by juxtaposition (no punctuation) or middle dot (</a:t>
            </a:r>
            <a:r>
              <a:rPr lang="en-US" sz="3200" b="1" dirty="0">
                <a:solidFill>
                  <a:srgbClr val="0070C0"/>
                </a:solidFill>
              </a:rPr>
              <a:t> </a:t>
            </a:r>
            <a:r>
              <a:rPr lang="en-US" sz="4000" b="1" dirty="0">
                <a:solidFill>
                  <a:srgbClr val="0070C0"/>
                </a:solidFill>
              </a:rPr>
              <a:t>· </a:t>
            </a:r>
            <a:r>
              <a:rPr lang="en-US" sz="2800" dirty="0"/>
              <a:t>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2400"/>
              </a:spcAft>
              <a:buFont typeface="Wingdings" panose="05000000000000000000" pitchFamily="2" charset="2"/>
              <a:buChar char="q"/>
            </a:pPr>
            <a:r>
              <a:rPr lang="en-US" sz="2800" dirty="0"/>
              <a:t>The concatenation of languages L and M is denoted LM. </a:t>
            </a:r>
          </a:p>
          <a:p>
            <a:pPr>
              <a:spcBef>
                <a:spcPts val="0"/>
              </a:spcBef>
              <a:spcAft>
                <a:spcPts val="2400"/>
              </a:spcAft>
              <a:buFont typeface="Wingdings" panose="05000000000000000000" pitchFamily="2" charset="2"/>
              <a:buChar char="q"/>
            </a:pPr>
            <a:r>
              <a:rPr lang="en-US" sz="2800" dirty="0"/>
              <a:t>It contains every string </a:t>
            </a:r>
            <a:r>
              <a:rPr lang="en-US" sz="2800" dirty="0" err="1"/>
              <a:t>wx</a:t>
            </a:r>
            <a:r>
              <a:rPr lang="en-US" sz="2800" dirty="0"/>
              <a:t> such that w is in L and x is in M. </a:t>
            </a:r>
          </a:p>
          <a:p>
            <a:pPr>
              <a:spcBef>
                <a:spcPts val="0"/>
              </a:spcBef>
              <a:spcAft>
                <a:spcPts val="2400"/>
              </a:spcAft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0070C0"/>
                </a:solidFill>
              </a:rPr>
              <a:t>Example: {01,111,10}{00, 01} = {0100, 0101, 11100, 11101, 1000, 1001}.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FC2C8-DCE8-4E18-91B5-C8F71C94BDD7}" type="datetime1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419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4354" y="0"/>
            <a:ext cx="9148354" cy="1143000"/>
          </a:xfrm>
        </p:spPr>
        <p:txBody>
          <a:bodyPr>
            <a:noAutofit/>
          </a:bodyPr>
          <a:lstStyle/>
          <a:p>
            <a:r>
              <a:rPr lang="en-US" sz="3200" dirty="0"/>
              <a:t>Kleene Star: represented by an asterisk aka star (*)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en-US" sz="3000" dirty="0"/>
              <a:t> If L is a language, then L*, the Kleene star or just “star,” is the set of strings formed by concatenating zero or more strings from L, in any order.</a:t>
            </a:r>
          </a:p>
          <a:p>
            <a:pPr marL="0" indent="0">
              <a:spcAft>
                <a:spcPts val="1800"/>
              </a:spcAft>
              <a:buNone/>
            </a:pPr>
            <a:r>
              <a:rPr lang="en-US" sz="3000" dirty="0">
                <a:solidFill>
                  <a:srgbClr val="0070C0"/>
                </a:solidFill>
              </a:rPr>
              <a:t> 	L* = {ε} ∪ L ∪ LL ∪ LLL ∪ … </a:t>
            </a:r>
          </a:p>
          <a:p>
            <a:pPr algn="just"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en-US" sz="3000" dirty="0"/>
              <a:t> Example: {0,10}* = {ε, 0, 10, 00, 010, 100, 1010,…} If you take no strings from L, that would give you the empty string.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64F24-E160-4893-9F85-DA6627B4AA5A}" type="datetime1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801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4355" y="0"/>
            <a:ext cx="8954589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Regular expressions and regular languages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en-US" sz="3000" dirty="0"/>
              <a:t>A </a:t>
            </a:r>
            <a:r>
              <a:rPr lang="en-US" sz="3000" b="1" dirty="0"/>
              <a:t>Regular Expression</a:t>
            </a:r>
            <a:r>
              <a:rPr lang="en-US" sz="3000" dirty="0"/>
              <a:t> can be recursively defined as follows −</a:t>
            </a:r>
          </a:p>
          <a:p>
            <a:pPr lvl="1" algn="just"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en-US" sz="2600" b="1" dirty="0">
                <a:solidFill>
                  <a:srgbClr val="0070C0"/>
                </a:solidFill>
              </a:rPr>
              <a:t>ε</a:t>
            </a:r>
            <a:r>
              <a:rPr lang="en-US" sz="2600" dirty="0">
                <a:solidFill>
                  <a:srgbClr val="0070C0"/>
                </a:solidFill>
              </a:rPr>
              <a:t> is a Regular Expression indicates the language containing an empty string. </a:t>
            </a:r>
            <a:r>
              <a:rPr lang="en-US" sz="2600" b="1" dirty="0">
                <a:solidFill>
                  <a:srgbClr val="0070C0"/>
                </a:solidFill>
              </a:rPr>
              <a:t>(L (ε) = {ε})</a:t>
            </a:r>
            <a:endParaRPr lang="en-US" sz="2600" dirty="0">
              <a:solidFill>
                <a:srgbClr val="0070C0"/>
              </a:solidFill>
            </a:endParaRPr>
          </a:p>
          <a:p>
            <a:pPr lvl="1" algn="just"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en-US" sz="2600" b="1" dirty="0"/>
              <a:t>φ</a:t>
            </a:r>
            <a:r>
              <a:rPr lang="en-US" sz="2600" dirty="0"/>
              <a:t> is a Regular Expression denoting an empty language. </a:t>
            </a:r>
            <a:r>
              <a:rPr lang="en-US" sz="2600" b="1" dirty="0"/>
              <a:t>(L (φ) = { })</a:t>
            </a:r>
            <a:endParaRPr lang="en-US" sz="2600" dirty="0"/>
          </a:p>
          <a:p>
            <a:pPr lvl="1" algn="just"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en-US" sz="2600" b="1" dirty="0">
                <a:solidFill>
                  <a:srgbClr val="0070C0"/>
                </a:solidFill>
              </a:rPr>
              <a:t> x</a:t>
            </a:r>
            <a:r>
              <a:rPr lang="en-US" sz="2600" dirty="0">
                <a:solidFill>
                  <a:srgbClr val="0070C0"/>
                </a:solidFill>
              </a:rPr>
              <a:t> is a Regular Expression where </a:t>
            </a:r>
            <a:r>
              <a:rPr lang="en-US" sz="2600" b="1" dirty="0">
                <a:solidFill>
                  <a:srgbClr val="0070C0"/>
                </a:solidFill>
              </a:rPr>
              <a:t>L = {x}</a:t>
            </a:r>
            <a:endParaRPr lang="en-US" sz="2600" dirty="0">
              <a:solidFill>
                <a:srgbClr val="0070C0"/>
              </a:solidFill>
            </a:endParaRPr>
          </a:p>
          <a:p>
            <a:pPr algn="just">
              <a:spcAft>
                <a:spcPts val="1800"/>
              </a:spcAft>
              <a:buFont typeface="Wingdings" panose="05000000000000000000" pitchFamily="2" charset="2"/>
              <a:buChar char="q"/>
            </a:pPr>
            <a:endParaRPr lang="en-US" sz="3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C966A-3DC9-48F9-AFF6-3B37C2A682B8}" type="datetime1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352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4355" y="0"/>
            <a:ext cx="8995953" cy="974725"/>
          </a:xfrm>
        </p:spPr>
        <p:txBody>
          <a:bodyPr>
            <a:normAutofit fontScale="90000"/>
          </a:bodyPr>
          <a:lstStyle/>
          <a:p>
            <a:r>
              <a:rPr lang="en-US" dirty="0"/>
              <a:t>Regular expressions and regular languages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dirty="0"/>
              <a:t>If </a:t>
            </a:r>
            <a:r>
              <a:rPr lang="en-US" b="1" dirty="0"/>
              <a:t>X</a:t>
            </a:r>
            <a:r>
              <a:rPr lang="en-US" dirty="0"/>
              <a:t> is a Regular Expression denoting the language L(x) and Y is a Regular Expression denoting the language </a:t>
            </a:r>
            <a:r>
              <a:rPr lang="en-US" b="1" dirty="0"/>
              <a:t>L(Y)</a:t>
            </a:r>
            <a:r>
              <a:rPr lang="en-US" dirty="0"/>
              <a:t>, then</a:t>
            </a:r>
          </a:p>
          <a:p>
            <a:pPr lvl="1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7030A0"/>
                </a:solidFill>
              </a:rPr>
              <a:t>X + Y</a:t>
            </a:r>
            <a:r>
              <a:rPr lang="en-US" dirty="0">
                <a:solidFill>
                  <a:srgbClr val="7030A0"/>
                </a:solidFill>
              </a:rPr>
              <a:t> is a Regular Expression corresponding to the language </a:t>
            </a:r>
            <a:r>
              <a:rPr lang="en-US" b="1" dirty="0">
                <a:solidFill>
                  <a:srgbClr val="7030A0"/>
                </a:solidFill>
              </a:rPr>
              <a:t>L(X) ∪ L(Y), </a:t>
            </a:r>
            <a:r>
              <a:rPr lang="en-US" dirty="0">
                <a:solidFill>
                  <a:srgbClr val="7030A0"/>
                </a:solidFill>
              </a:rPr>
              <a:t> where </a:t>
            </a:r>
            <a:r>
              <a:rPr lang="en-US" b="1" dirty="0">
                <a:solidFill>
                  <a:srgbClr val="7030A0"/>
                </a:solidFill>
              </a:rPr>
              <a:t>L(X+Y) = L(X) ∪ L(Y)</a:t>
            </a:r>
            <a:r>
              <a:rPr lang="en-US" dirty="0">
                <a:solidFill>
                  <a:srgbClr val="7030A0"/>
                </a:solidFill>
              </a:rPr>
              <a:t>.</a:t>
            </a:r>
          </a:p>
          <a:p>
            <a:pPr lvl="1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70C0"/>
                </a:solidFill>
              </a:rPr>
              <a:t>X . Y</a:t>
            </a:r>
            <a:r>
              <a:rPr lang="en-US" dirty="0">
                <a:solidFill>
                  <a:srgbClr val="0070C0"/>
                </a:solidFill>
              </a:rPr>
              <a:t> is a Regular Expression corresponding to the language </a:t>
            </a:r>
            <a:r>
              <a:rPr lang="en-US" b="1" dirty="0">
                <a:solidFill>
                  <a:srgbClr val="0070C0"/>
                </a:solidFill>
              </a:rPr>
              <a:t>L(X) . L(Y)</a:t>
            </a:r>
            <a:r>
              <a:rPr lang="en-US" dirty="0">
                <a:solidFill>
                  <a:srgbClr val="0070C0"/>
                </a:solidFill>
              </a:rPr>
              <a:t> where </a:t>
            </a:r>
            <a:r>
              <a:rPr lang="en-US" b="1" dirty="0">
                <a:solidFill>
                  <a:srgbClr val="0070C0"/>
                </a:solidFill>
              </a:rPr>
              <a:t>L(X.Y) = L(X) . L(Y)</a:t>
            </a:r>
            <a:endParaRPr lang="en-US" dirty="0">
              <a:solidFill>
                <a:srgbClr val="0070C0"/>
              </a:solidFill>
            </a:endParaRPr>
          </a:p>
          <a:p>
            <a:pPr lvl="1"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7030A0"/>
                </a:solidFill>
              </a:rPr>
              <a:t>R*</a:t>
            </a:r>
            <a:r>
              <a:rPr lang="en-US" dirty="0">
                <a:solidFill>
                  <a:srgbClr val="7030A0"/>
                </a:solidFill>
              </a:rPr>
              <a:t> is a Regular Expression corresponding to the language </a:t>
            </a:r>
            <a:r>
              <a:rPr lang="en-US" b="1" dirty="0">
                <a:solidFill>
                  <a:srgbClr val="7030A0"/>
                </a:solidFill>
              </a:rPr>
              <a:t>L(R*), </a:t>
            </a:r>
            <a:r>
              <a:rPr lang="en-US" dirty="0">
                <a:solidFill>
                  <a:srgbClr val="7030A0"/>
                </a:solidFill>
              </a:rPr>
              <a:t>where </a:t>
            </a:r>
            <a:r>
              <a:rPr lang="en-US" b="1" dirty="0">
                <a:solidFill>
                  <a:srgbClr val="7030A0"/>
                </a:solidFill>
              </a:rPr>
              <a:t>L(R*) = (L(R))*</a:t>
            </a:r>
            <a:endParaRPr lang="en-US" dirty="0">
              <a:solidFill>
                <a:srgbClr val="7030A0"/>
              </a:solidFill>
            </a:endParaRPr>
          </a:p>
          <a:p>
            <a:pPr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dirty="0"/>
              <a:t>If we apply any of the rules several times from 1 to 5, they are Regular Expressions.</a:t>
            </a:r>
          </a:p>
          <a:p>
            <a:pPr>
              <a:spcAft>
                <a:spcPts val="1200"/>
              </a:spcAft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25E28-08D1-41EC-89E9-AD5261749DC1}" type="datetime1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566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over </a:t>
            </a:r>
            <a:r>
              <a:rPr lang="el-GR" altLang="en-US" dirty="0">
                <a:cs typeface="Arial" panose="020B0604020202020204" pitchFamily="34" charset="0"/>
              </a:rPr>
              <a:t>Σ</a:t>
            </a:r>
            <a:r>
              <a:rPr lang="el-GR" dirty="0"/>
              <a:t> </a:t>
            </a:r>
            <a:r>
              <a:rPr lang="en-US" dirty="0"/>
              <a:t>={</a:t>
            </a:r>
            <a:r>
              <a:rPr lang="en-US" dirty="0" err="1"/>
              <a:t>a,b</a:t>
            </a:r>
            <a:r>
              <a:rPr lang="en-US" dirty="0"/>
              <a:t>}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l-GR" dirty="0"/>
              <a:t>ε</a:t>
            </a:r>
            <a:r>
              <a:rPr lang="en-US" dirty="0"/>
              <a:t>, a, </a:t>
            </a:r>
            <a:r>
              <a:rPr lang="en-US" dirty="0" err="1"/>
              <a:t>a+b</a:t>
            </a:r>
            <a:r>
              <a:rPr lang="en-US" dirty="0"/>
              <a:t>, b*, (</a:t>
            </a:r>
            <a:r>
              <a:rPr lang="en-US" dirty="0" err="1"/>
              <a:t>a+b</a:t>
            </a:r>
            <a:r>
              <a:rPr lang="en-US" dirty="0"/>
              <a:t>)b, ab*, a*+b*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0070C0"/>
                </a:solidFill>
              </a:rPr>
              <a:t>To avoid using many parentheses, the operations have the following priority hierarchy: 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70C0"/>
                </a:solidFill>
              </a:rPr>
              <a:t> * , highest (do it first) 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70C0"/>
                </a:solidFill>
              </a:rPr>
              <a:t> ◦ 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70C0"/>
                </a:solidFill>
              </a:rPr>
              <a:t> + ,  lowest (do it last)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/>
              <a:t>Example: (b+(a◦(b*)) = b + ab*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>
                <a:solidFill>
                  <a:srgbClr val="FF0000"/>
                </a:solidFill>
              </a:rPr>
              <a:t>(</a:t>
            </a:r>
            <a:r>
              <a:rPr lang="en-US" sz="2400" dirty="0">
                <a:solidFill>
                  <a:srgbClr val="FF0000"/>
                </a:solidFill>
              </a:rPr>
              <a:t>Notations: The symbol ◦ can be dropped. </a:t>
            </a:r>
            <a:r>
              <a:rPr lang="el-GR" altLang="en-US" sz="2400" dirty="0">
                <a:solidFill>
                  <a:srgbClr val="FF0000"/>
                </a:solidFill>
                <a:cs typeface="Arial" panose="020B0604020202020204" pitchFamily="34" charset="0"/>
              </a:rPr>
              <a:t>Σ</a:t>
            </a:r>
            <a:r>
              <a:rPr lang="en-US" sz="2400" dirty="0">
                <a:solidFill>
                  <a:srgbClr val="FF0000"/>
                </a:solidFill>
              </a:rPr>
              <a:t> means (</a:t>
            </a:r>
            <a:r>
              <a:rPr lang="el-GR" sz="2400" dirty="0">
                <a:solidFill>
                  <a:srgbClr val="FF0000"/>
                </a:solidFill>
              </a:rPr>
              <a:t>σ</a:t>
            </a:r>
            <a:r>
              <a:rPr lang="en-US" sz="2400" baseline="-25000" dirty="0">
                <a:solidFill>
                  <a:srgbClr val="FF0000"/>
                </a:solidFill>
              </a:rPr>
              <a:t>1 </a:t>
            </a:r>
            <a:r>
              <a:rPr lang="en-US" sz="2400" dirty="0">
                <a:solidFill>
                  <a:srgbClr val="FF0000"/>
                </a:solidFill>
              </a:rPr>
              <a:t>+</a:t>
            </a:r>
            <a:r>
              <a:rPr lang="el-GR" altLang="en-US" sz="2400" dirty="0">
                <a:solidFill>
                  <a:srgbClr val="FF0000"/>
                </a:solidFill>
                <a:cs typeface="Arial" panose="020B0604020202020204" pitchFamily="34" charset="0"/>
              </a:rPr>
              <a:t> </a:t>
            </a:r>
            <a:r>
              <a:rPr lang="el-GR" sz="2400" dirty="0">
                <a:solidFill>
                  <a:srgbClr val="FF0000"/>
                </a:solidFill>
              </a:rPr>
              <a:t>σ</a:t>
            </a:r>
            <a:r>
              <a:rPr lang="en-US" sz="2400" baseline="-25000" dirty="0">
                <a:solidFill>
                  <a:srgbClr val="FF0000"/>
                </a:solidFill>
              </a:rPr>
              <a:t>2 </a:t>
            </a:r>
            <a:r>
              <a:rPr lang="en-US" sz="2400" dirty="0">
                <a:solidFill>
                  <a:srgbClr val="FF0000"/>
                </a:solidFill>
              </a:rPr>
              <a:t>+</a:t>
            </a:r>
            <a:r>
              <a:rPr lang="el-GR" altLang="en-US" sz="2400" dirty="0">
                <a:solidFill>
                  <a:srgbClr val="FF0000"/>
                </a:solidFill>
                <a:cs typeface="Arial" panose="020B0604020202020204" pitchFamily="34" charset="0"/>
              </a:rPr>
              <a:t> </a:t>
            </a:r>
            <a:r>
              <a:rPr lang="el-GR" sz="2400" dirty="0">
                <a:solidFill>
                  <a:srgbClr val="FF0000"/>
                </a:solidFill>
              </a:rPr>
              <a:t>σ</a:t>
            </a:r>
            <a:r>
              <a:rPr lang="en-US" sz="2400" baseline="-25000" dirty="0">
                <a:solidFill>
                  <a:srgbClr val="FF0000"/>
                </a:solidFill>
              </a:rPr>
              <a:t>3</a:t>
            </a:r>
            <a:r>
              <a:rPr lang="en-US" sz="2400" dirty="0">
                <a:solidFill>
                  <a:srgbClr val="FF0000"/>
                </a:solidFill>
              </a:rPr>
              <a:t>…) , r+ means </a:t>
            </a:r>
            <a:r>
              <a:rPr lang="en-US" sz="2400" dirty="0" err="1">
                <a:solidFill>
                  <a:srgbClr val="FF0000"/>
                </a:solidFill>
              </a:rPr>
              <a:t>rr</a:t>
            </a:r>
            <a:r>
              <a:rPr lang="en-US" sz="2400" dirty="0">
                <a:solidFill>
                  <a:srgbClr val="FF0000"/>
                </a:solidFill>
              </a:rPr>
              <a:t> * ).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62CE9-1AD3-4FEE-84F5-3B2C27D45838}" type="datetime1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55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4355" y="0"/>
            <a:ext cx="8995953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Regular expressions and regular languages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70C0"/>
                </a:solidFill>
              </a:rPr>
              <a:t> We associate each regular expression r with a regular language L(r) as follows: </a:t>
            </a:r>
          </a:p>
          <a:p>
            <a:pPr lvl="1"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/>
              <a:t>L(</a:t>
            </a:r>
            <a:r>
              <a:rPr lang="el-GR" dirty="0"/>
              <a:t>φ</a:t>
            </a:r>
            <a:r>
              <a:rPr lang="en-US" dirty="0"/>
              <a:t>)=</a:t>
            </a:r>
            <a:r>
              <a:rPr lang="el-GR" dirty="0"/>
              <a:t> φ</a:t>
            </a:r>
            <a:r>
              <a:rPr lang="en-US" dirty="0"/>
              <a:t>,</a:t>
            </a:r>
          </a:p>
          <a:p>
            <a:pPr lvl="1"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/>
              <a:t>L(</a:t>
            </a:r>
            <a:r>
              <a:rPr lang="el-GR" dirty="0"/>
              <a:t>ε</a:t>
            </a:r>
            <a:r>
              <a:rPr lang="en-US" dirty="0"/>
              <a:t>)={</a:t>
            </a:r>
            <a:r>
              <a:rPr lang="el-GR" dirty="0"/>
              <a:t>ε</a:t>
            </a:r>
            <a:r>
              <a:rPr lang="en-US" dirty="0"/>
              <a:t>},</a:t>
            </a:r>
          </a:p>
          <a:p>
            <a:pPr lvl="1"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/>
              <a:t>L(</a:t>
            </a:r>
            <a:r>
              <a:rPr lang="el-GR" dirty="0"/>
              <a:t>σ</a:t>
            </a:r>
            <a:r>
              <a:rPr lang="en-US" dirty="0"/>
              <a:t>)={</a:t>
            </a:r>
            <a:r>
              <a:rPr lang="el-GR" dirty="0"/>
              <a:t>σ</a:t>
            </a:r>
            <a:r>
              <a:rPr lang="en-US" dirty="0"/>
              <a:t>} for each </a:t>
            </a:r>
            <a:r>
              <a:rPr lang="el-GR" dirty="0"/>
              <a:t>σ</a:t>
            </a:r>
            <a:r>
              <a:rPr lang="en-US" altLang="en-US" dirty="0">
                <a:cs typeface="Arial" panose="020B0604020202020204" pitchFamily="34" charset="0"/>
                <a:sym typeface="Symbol" panose="05050102010706020507" pitchFamily="18" charset="2"/>
              </a:rPr>
              <a:t> </a:t>
            </a:r>
            <a:r>
              <a:rPr lang="el-GR" altLang="en-US" dirty="0">
                <a:cs typeface="Arial" panose="020B0604020202020204" pitchFamily="34" charset="0"/>
              </a:rPr>
              <a:t>Σ</a:t>
            </a:r>
            <a:r>
              <a:rPr lang="en-US" dirty="0"/>
              <a:t>, </a:t>
            </a:r>
          </a:p>
          <a:p>
            <a:pPr lvl="1"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/>
              <a:t>L(</a:t>
            </a:r>
            <a:r>
              <a:rPr lang="en-US" dirty="0" err="1"/>
              <a:t>r+s</a:t>
            </a:r>
            <a:r>
              <a:rPr lang="en-US" dirty="0"/>
              <a:t>)=L(r) </a:t>
            </a:r>
            <a:r>
              <a:rPr lang="en-US" sz="2000" dirty="0"/>
              <a:t>U </a:t>
            </a:r>
            <a:r>
              <a:rPr lang="en-US" dirty="0"/>
              <a:t>L(s), </a:t>
            </a:r>
          </a:p>
          <a:p>
            <a:pPr lvl="1"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/>
              <a:t>L(</a:t>
            </a:r>
            <a:r>
              <a:rPr lang="en-US" dirty="0" err="1"/>
              <a:t>r◦s</a:t>
            </a:r>
            <a:r>
              <a:rPr lang="en-US" dirty="0"/>
              <a:t>)=L(r)◦L(s), </a:t>
            </a:r>
          </a:p>
          <a:p>
            <a:pPr lvl="1"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/>
              <a:t>L(r*)=(L(r))*.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3B8D7-138C-45C4-A954-6785A6ADB6EF}" type="datetime1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801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927B8-051C-4F0D-80C9-56C479E08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354" y="0"/>
            <a:ext cx="9072154" cy="1143000"/>
          </a:xfrm>
        </p:spPr>
        <p:txBody>
          <a:bodyPr>
            <a:normAutofit fontScale="90000"/>
          </a:bodyPr>
          <a:lstStyle/>
          <a:p>
            <a:r>
              <a:rPr lang="en-US" dirty="0">
                <a:sym typeface="Symbol" pitchFamily="18" charset="2"/>
              </a:rPr>
              <a:t>Converting a regular expression to an NFA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CD3CD-4EE7-451E-A71A-6D122AFE2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F4D7D-4511-4919-9F3D-7E2B073B2EA7}" type="datetime1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35798A-C046-4A21-B370-2CDDDB678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1EB30-C72F-439E-A42E-6E0D2B8B8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15</a:t>
            </a:fld>
            <a:endParaRPr lang="en-US"/>
          </a:p>
        </p:txBody>
      </p:sp>
      <p:sp>
        <p:nvSpPr>
          <p:cNvPr id="7" name="Text Box 51">
            <a:extLst>
              <a:ext uri="{FF2B5EF4-FFF2-40B4-BE49-F238E27FC236}">
                <a16:creationId xmlns:a16="http://schemas.microsoft.com/office/drawing/2014/main" id="{DB00E68D-7D32-459D-965A-7BF10C884675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 bwMode="auto">
          <a:xfrm>
            <a:off x="36513" y="1295400"/>
            <a:ext cx="8955087" cy="2677656"/>
          </a:xfrm>
          <a:prstGeom prst="rect">
            <a:avLst/>
          </a:prstGeom>
          <a:noFill/>
          <a:ln w="28575">
            <a:noFill/>
            <a:miter lim="800000"/>
            <a:headEnd/>
            <a:tailEnd type="none" w="lg" len="med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 typeface="Wingdings" panose="05000000000000000000" pitchFamily="2" charset="2"/>
              <a:buChar char="q"/>
              <a:defRPr/>
            </a:pPr>
            <a:r>
              <a:rPr lang="en-US" sz="2800" b="1" dirty="0">
                <a:latin typeface="+mj-lt"/>
              </a:rPr>
              <a:t>Example 2: </a:t>
            </a:r>
            <a:r>
              <a:rPr lang="en-US" sz="2800" dirty="0">
                <a:latin typeface="+mj-lt"/>
              </a:rPr>
              <a:t>Convert the following Regular Expression into equivalent NFA using formal procedure</a:t>
            </a:r>
            <a:r>
              <a:rPr lang="en-US" sz="2800" b="1" dirty="0">
                <a:latin typeface="+mj-lt"/>
              </a:rPr>
              <a:t> (</a:t>
            </a:r>
            <a:r>
              <a:rPr lang="en-US" sz="2800" b="1" i="1" dirty="0">
                <a:latin typeface="+mj-lt"/>
              </a:rPr>
              <a:t>ab</a:t>
            </a:r>
            <a:r>
              <a:rPr 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sym typeface="Symbol" pitchFamily="18" charset="2"/>
              </a:rPr>
              <a:t> a)*</a:t>
            </a:r>
          </a:p>
          <a:p>
            <a:pPr>
              <a:spcBef>
                <a:spcPct val="50000"/>
              </a:spcBef>
              <a:buFont typeface="Wingdings" panose="05000000000000000000" pitchFamily="2" charset="2"/>
              <a:buChar char="q"/>
              <a:defRPr/>
            </a:pPr>
            <a:endParaRPr lang="en-US" sz="2800" b="1" i="1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sym typeface="Symbol" pitchFamily="18" charset="2"/>
            </a:endParaRPr>
          </a:p>
          <a:p>
            <a:pPr>
              <a:spcBef>
                <a:spcPct val="50000"/>
              </a:spcBef>
              <a:buFont typeface="Wingdings" panose="05000000000000000000" pitchFamily="2" charset="2"/>
              <a:buChar char="q"/>
              <a:defRPr/>
            </a:pPr>
            <a:r>
              <a:rPr lang="en-US" sz="2800" b="1" dirty="0">
                <a:solidFill>
                  <a:srgbClr val="0070C0"/>
                </a:solidFill>
              </a:rPr>
              <a:t>Example 3: </a:t>
            </a:r>
            <a:r>
              <a:rPr lang="en-US" sz="2800" dirty="0">
                <a:solidFill>
                  <a:srgbClr val="0070C0"/>
                </a:solidFill>
                <a:latin typeface="+mj-lt"/>
              </a:rPr>
              <a:t>Convert the following Regular Expression into equivalent NFA using formal procedure </a:t>
            </a:r>
            <a:r>
              <a:rPr lang="en-US" sz="2800" b="1" dirty="0">
                <a:solidFill>
                  <a:srgbClr val="0070C0"/>
                </a:solidFill>
                <a:latin typeface="+mj-lt"/>
              </a:rPr>
              <a:t>0(1 ∪ 01*) ∪ 0*1*</a:t>
            </a:r>
            <a:endParaRPr lang="en-US" sz="2800" b="1" i="1" dirty="0">
              <a:solidFill>
                <a:srgbClr val="0070C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562915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94" y="4354"/>
            <a:ext cx="8972006" cy="1143000"/>
          </a:xfrm>
        </p:spPr>
        <p:txBody>
          <a:bodyPr>
            <a:noAutofit/>
          </a:bodyPr>
          <a:lstStyle/>
          <a:p>
            <a:r>
              <a:rPr lang="en-US" sz="3200" dirty="0"/>
              <a:t>Examples :Describe each language as a regular expression over </a:t>
            </a:r>
            <a:r>
              <a:rPr lang="el-GR" altLang="en-US" sz="3200" dirty="0">
                <a:cs typeface="Arial" panose="020B0604020202020204" pitchFamily="34" charset="0"/>
              </a:rPr>
              <a:t>Σ </a:t>
            </a:r>
            <a:r>
              <a:rPr lang="en-US" sz="3200" dirty="0"/>
              <a:t>={0,1}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106180" y="1321196"/>
            <a:ext cx="6462010" cy="5523741"/>
          </a:xfrm>
        </p:spPr>
        <p:txBody>
          <a:bodyPr>
            <a:noAutofit/>
          </a:bodyPr>
          <a:lstStyle/>
          <a:p>
            <a:pPr marL="971550" lvl="1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L = { w | w has a single 1} </a:t>
            </a:r>
          </a:p>
          <a:p>
            <a:pPr marL="971550" lvl="1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l-GR" dirty="0"/>
              <a:t> </a:t>
            </a:r>
            <a:r>
              <a:rPr lang="en-US" dirty="0"/>
              <a:t>L = { w | w has at least one 1} </a:t>
            </a:r>
          </a:p>
          <a:p>
            <a:pPr marL="971550" lvl="1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L = { w | w contains the string 110}</a:t>
            </a:r>
          </a:p>
          <a:p>
            <a:pPr marL="971550" lvl="1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 L = { w | |w| mod 2 =0}</a:t>
            </a:r>
          </a:p>
          <a:p>
            <a:pPr marL="971550" lvl="1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 L = { w | w starts with 1}</a:t>
            </a:r>
          </a:p>
          <a:p>
            <a:pPr marL="971550" lvl="1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 L6 = { w | w ends with 00}</a:t>
            </a:r>
          </a:p>
          <a:p>
            <a:pPr marL="971550" lvl="1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L7 = {w | each 0</a:t>
            </a:r>
            <a:r>
              <a:rPr lang="en-US" b="1" dirty="0"/>
              <a:t> </a:t>
            </a:r>
            <a:r>
              <a:rPr lang="en-US" dirty="0"/>
              <a:t>in w is followed by at least three 1’s}</a:t>
            </a:r>
          </a:p>
          <a:p>
            <a:pPr marL="971550" lvl="1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{w | each 1 in w is followed by exactly three 0’s}</a:t>
            </a:r>
          </a:p>
          <a:p>
            <a:pPr marL="971550" lvl="1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{w | w contains at least three 0’s and ends with 0}</a:t>
            </a:r>
          </a:p>
          <a:p>
            <a:pPr marL="971550" lvl="1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{</a:t>
            </a:r>
            <a:r>
              <a:rPr lang="en-US" dirty="0" err="1"/>
              <a:t>w|w</a:t>
            </a:r>
            <a:r>
              <a:rPr lang="en-US" dirty="0"/>
              <a:t> the length of w is a multiple of 3}</a:t>
            </a:r>
          </a:p>
          <a:p>
            <a:pPr marL="971550" lvl="1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{w | w does not contain consecutive 1’s}</a:t>
            </a:r>
          </a:p>
          <a:p>
            <a:pPr marL="971550" lvl="1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en-US" dirty="0"/>
          </a:p>
          <a:p>
            <a:pPr marL="457200" lvl="1" indent="0">
              <a:spcBef>
                <a:spcPts val="600"/>
              </a:spcBef>
              <a:spcAft>
                <a:spcPts val="600"/>
              </a:spcAft>
              <a:buNone/>
            </a:pPr>
            <a:endParaRPr lang="en-US" dirty="0"/>
          </a:p>
          <a:p>
            <a:pPr marL="971550" lvl="1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en-US" dirty="0"/>
          </a:p>
          <a:p>
            <a:pPr marL="971550" lvl="1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en-US" dirty="0"/>
          </a:p>
          <a:p>
            <a:pPr marL="457200" lvl="1" indent="0">
              <a:spcBef>
                <a:spcPts val="600"/>
              </a:spcBef>
              <a:spcAft>
                <a:spcPts val="600"/>
              </a:spcAft>
              <a:buNone/>
            </a:pP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27A316F-58A9-4A56-93F7-C55AE646EE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35710" y="1447799"/>
            <a:ext cx="2560320" cy="5397137"/>
          </a:xfrm>
        </p:spPr>
        <p:txBody>
          <a:bodyPr>
            <a:normAutofit fontScale="62500" lnSpcReduction="20000"/>
          </a:bodyPr>
          <a:lstStyle/>
          <a:p>
            <a:pPr marL="457200" indent="-457200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b="1" dirty="0"/>
              <a:t>0</a:t>
            </a:r>
            <a:r>
              <a:rPr lang="en-US" b="1" baseline="30000" dirty="0"/>
              <a:t>∗</a:t>
            </a:r>
            <a:r>
              <a:rPr lang="en-US" b="1" dirty="0"/>
              <a:t>10</a:t>
            </a:r>
            <a:r>
              <a:rPr lang="en-US" b="1" baseline="30000" dirty="0"/>
              <a:t> ∗</a:t>
            </a:r>
            <a:endParaRPr lang="en-US" b="1" dirty="0"/>
          </a:p>
          <a:p>
            <a:pPr marL="457200" indent="-457200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l-GR" b="1" dirty="0"/>
              <a:t>Σ</a:t>
            </a:r>
            <a:r>
              <a:rPr lang="en-US" b="1" dirty="0"/>
              <a:t>*</a:t>
            </a:r>
            <a:r>
              <a:rPr lang="el-GR" b="1" dirty="0"/>
              <a:t>1Σ</a:t>
            </a:r>
            <a:r>
              <a:rPr lang="en-US" b="1" dirty="0"/>
              <a:t>* or  (0+1)*1(0+1)*</a:t>
            </a:r>
          </a:p>
          <a:p>
            <a:pPr marL="457200" indent="-457200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l-GR" b="1" dirty="0"/>
              <a:t>Σ</a:t>
            </a:r>
            <a:r>
              <a:rPr lang="en-US" b="1" dirty="0"/>
              <a:t>*</a:t>
            </a:r>
            <a:r>
              <a:rPr lang="el-GR" b="1" dirty="0"/>
              <a:t>1</a:t>
            </a:r>
            <a:r>
              <a:rPr lang="en-US" b="1" dirty="0"/>
              <a:t>10</a:t>
            </a:r>
            <a:r>
              <a:rPr lang="el-GR" b="1" dirty="0"/>
              <a:t>Σ</a:t>
            </a:r>
            <a:r>
              <a:rPr lang="en-US" b="1" dirty="0"/>
              <a:t>*</a:t>
            </a:r>
          </a:p>
          <a:p>
            <a:pPr marL="457200" indent="-457200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b="1" dirty="0"/>
              <a:t>(</a:t>
            </a:r>
            <a:r>
              <a:rPr lang="el-GR" b="1" dirty="0"/>
              <a:t>Σ Σ</a:t>
            </a:r>
            <a:r>
              <a:rPr lang="en-US" b="1" dirty="0"/>
              <a:t>)*</a:t>
            </a:r>
          </a:p>
          <a:p>
            <a:pPr marL="457200" indent="-457200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b="1" dirty="0"/>
              <a:t>1(0+1)*</a:t>
            </a:r>
          </a:p>
          <a:p>
            <a:pPr marL="457200" indent="-457200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b="1" dirty="0"/>
              <a:t>(0+1)*00</a:t>
            </a:r>
          </a:p>
          <a:p>
            <a:pPr marL="457200" indent="-457200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b="1" dirty="0"/>
              <a:t>1*(01111*)*</a:t>
            </a:r>
          </a:p>
          <a:p>
            <a:pPr marL="457200" indent="-457200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b="1" dirty="0"/>
              <a:t>0*(1000)*</a:t>
            </a:r>
          </a:p>
          <a:p>
            <a:pPr marL="457200" indent="-457200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b="1" dirty="0"/>
              <a:t>1*0 1*01*0</a:t>
            </a:r>
            <a:r>
              <a:rPr lang="en-US" b="1" baseline="30000" dirty="0"/>
              <a:t>+</a:t>
            </a:r>
          </a:p>
          <a:p>
            <a:pPr marL="457200" indent="-457200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b="1" dirty="0"/>
              <a:t>(ΣΣΣ)</a:t>
            </a:r>
            <a:r>
              <a:rPr lang="en-US" b="1" baseline="30000" dirty="0"/>
              <a:t>∗</a:t>
            </a:r>
          </a:p>
          <a:p>
            <a:pPr marL="457200" indent="-457200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b="1" dirty="0"/>
              <a:t>0*(100*)*</a:t>
            </a:r>
          </a:p>
          <a:p>
            <a:pPr marL="457200" indent="-457200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endParaRPr lang="en-US" b="1" dirty="0"/>
          </a:p>
          <a:p>
            <a:pPr>
              <a:spcBef>
                <a:spcPts val="1200"/>
              </a:spcBef>
              <a:spcAft>
                <a:spcPts val="1200"/>
              </a:spcAft>
            </a:pPr>
            <a:endParaRPr lang="en-US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C29B3-5B02-4FAD-A4F5-DEE102790E8B}" type="datetime1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Dr. Afroza Nahar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676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Examples: over </a:t>
            </a:r>
            <a:r>
              <a:rPr lang="el-GR" altLang="en-US" dirty="0">
                <a:cs typeface="Arial" panose="020B0604020202020204" pitchFamily="34" charset="0"/>
              </a:rPr>
              <a:t>Σ </a:t>
            </a:r>
            <a:r>
              <a:rPr lang="en-US" dirty="0"/>
              <a:t>={</a:t>
            </a:r>
            <a:r>
              <a:rPr lang="en-US" dirty="0" err="1"/>
              <a:t>x,y</a:t>
            </a:r>
            <a:r>
              <a:rPr lang="en-US" dirty="0"/>
              <a:t>}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371600"/>
            <a:ext cx="8458200" cy="4876800"/>
          </a:xfrm>
        </p:spPr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= { w | w contains the string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xyx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the string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yxy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}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x+y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sz="24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xyx</a:t>
            </a:r>
            <a:r>
              <a:rPr 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x+y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+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x+y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sz="24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yxy</a:t>
            </a:r>
            <a:r>
              <a:rPr lang="en-US" sz="2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x+y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  <a:p>
            <a:pPr marL="457200" indent="-457200" algn="just">
              <a:buFont typeface="+mj-lt"/>
              <a:buAutoNum type="arabicPeriod" startAt="2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 = { w | w starts and ends with the same letter }: 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l-GR" sz="2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x </a:t>
            </a:r>
            <a:r>
              <a:rPr lang="el-GR" sz="2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l-GR" sz="2400" b="1" i="1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∗</a:t>
            </a:r>
            <a:r>
              <a:rPr lang="en-US" sz="2400" b="1" i="1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x) + 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y </a:t>
            </a:r>
            <a:r>
              <a:rPr lang="el-GR" sz="2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l-GR" sz="2400" b="1" i="1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∗</a:t>
            </a:r>
            <a:r>
              <a:rPr lang="en-US" sz="2400" b="1" i="1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457200" indent="-457200" algn="just">
              <a:buFont typeface="+mj-lt"/>
              <a:buAutoNum type="arabicPeriod" startAt="3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= {w | w contains exactly three y’s and ends with x}</a:t>
            </a:r>
          </a:p>
          <a:p>
            <a:pPr marL="0" indent="0"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x*</a:t>
            </a:r>
            <a:r>
              <a:rPr lang="en-US" sz="24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yx</a:t>
            </a:r>
            <a:r>
              <a:rPr lang="en-US" sz="2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sz="24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yx</a:t>
            </a:r>
            <a:r>
              <a:rPr lang="en-US" sz="2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sz="24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yx</a:t>
            </a:r>
            <a:r>
              <a:rPr lang="en-US" sz="2400" b="1" i="1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</a:p>
          <a:p>
            <a:pPr marL="0" indent="0" algn="ctr">
              <a:buNone/>
            </a:pPr>
            <a:r>
              <a:rPr lang="en-US" sz="2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 </a:t>
            </a:r>
            <a:r>
              <a:rPr lang="el-GR" altLang="en-US" sz="2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 </a:t>
            </a:r>
            <a:r>
              <a:rPr lang="en-US" sz="2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={0, 1}</a:t>
            </a:r>
            <a:endParaRPr lang="en-US" sz="2600" b="1" i="1" u="sng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 startAt="4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= The set of strings of 0’s and 1’s whose tenth symbol from the right end is 1.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 + 1)*1(0 + 1)</a:t>
            </a:r>
            <a:r>
              <a:rPr lang="en-US" sz="2400" b="1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14350" indent="-514350" algn="just">
              <a:buFont typeface="+mj-lt"/>
              <a:buAutoNum type="arabicPeriod" startAt="9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Font typeface="+mj-lt"/>
              <a:buAutoNum type="arabicPeriod" startAt="9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2E661-0A75-4A12-978D-96EF86F4440E}" type="datetime1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347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1596C-6B5F-45F3-BF8B-6FC9D2B1A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RL to 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7A52D-E88C-4392-89F5-A521158148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95400"/>
            <a:ext cx="8686799" cy="5303520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3400" dirty="0">
                <a:solidFill>
                  <a:srgbClr val="0070C0"/>
                </a:solidFill>
              </a:rPr>
              <a:t>Give a regular expression for the following languages: </a:t>
            </a:r>
          </a:p>
          <a:p>
            <a:pPr marL="742950" indent="-74295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3600" dirty="0"/>
              <a:t>Σ = {</a:t>
            </a:r>
            <a:r>
              <a:rPr lang="en-US" sz="3600" dirty="0" err="1"/>
              <a:t>a,b</a:t>
            </a:r>
            <a:r>
              <a:rPr lang="en-US" sz="3600" dirty="0"/>
              <a:t>}: The set of all strings where the second letter from the start and the end is an a. </a:t>
            </a:r>
          </a:p>
          <a:p>
            <a:pPr marL="800100" lvl="2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800" dirty="0">
                <a:solidFill>
                  <a:srgbClr val="FF0000"/>
                </a:solidFill>
              </a:rPr>
              <a:t>		</a:t>
            </a:r>
            <a:r>
              <a:rPr lang="en-US" sz="3400" dirty="0">
                <a:solidFill>
                  <a:srgbClr val="FF0000"/>
                </a:solidFill>
              </a:rPr>
              <a:t>Answer: (a + b) </a:t>
            </a:r>
            <a:r>
              <a:rPr lang="en-US" sz="3400" dirty="0">
                <a:solidFill>
                  <a:srgbClr val="0070C0"/>
                </a:solidFill>
              </a:rPr>
              <a:t>a </a:t>
            </a:r>
            <a:r>
              <a:rPr lang="en-US" sz="3400" dirty="0">
                <a:solidFill>
                  <a:srgbClr val="FF0000"/>
                </a:solidFill>
              </a:rPr>
              <a:t>(a + b)* </a:t>
            </a:r>
            <a:r>
              <a:rPr lang="en-US" sz="3400" dirty="0">
                <a:solidFill>
                  <a:srgbClr val="0070C0"/>
                </a:solidFill>
              </a:rPr>
              <a:t>a </a:t>
            </a:r>
            <a:r>
              <a:rPr lang="en-US" sz="3400" dirty="0">
                <a:solidFill>
                  <a:srgbClr val="FF0000"/>
                </a:solidFill>
              </a:rPr>
              <a:t> (a + b)</a:t>
            </a:r>
          </a:p>
          <a:p>
            <a:pPr marL="514350" indent="-51435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 startAt="2"/>
            </a:pPr>
            <a:r>
              <a:rPr lang="en-US" sz="3600" dirty="0"/>
              <a:t>Σ = {</a:t>
            </a:r>
            <a:r>
              <a:rPr lang="en-US" sz="3600" dirty="0" err="1"/>
              <a:t>a,b</a:t>
            </a:r>
            <a:r>
              <a:rPr lang="en-US" sz="3600" dirty="0"/>
              <a:t>}: The set of all strings that have both aa and bb as a substring.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3100" dirty="0">
                <a:solidFill>
                  <a:srgbClr val="FF0000"/>
                </a:solidFill>
              </a:rPr>
              <a:t>      Answer: ((a + b)*</a:t>
            </a:r>
            <a:r>
              <a:rPr lang="en-US" sz="3100" dirty="0">
                <a:solidFill>
                  <a:srgbClr val="0070C0"/>
                </a:solidFill>
              </a:rPr>
              <a:t>aa</a:t>
            </a:r>
            <a:r>
              <a:rPr lang="en-US" sz="3100" dirty="0">
                <a:solidFill>
                  <a:srgbClr val="FF0000"/>
                </a:solidFill>
              </a:rPr>
              <a:t>(a + b)</a:t>
            </a:r>
            <a:r>
              <a:rPr lang="en-US" sz="3100" baseline="30000" dirty="0">
                <a:solidFill>
                  <a:srgbClr val="FF0000"/>
                </a:solidFill>
              </a:rPr>
              <a:t>∗</a:t>
            </a:r>
            <a:r>
              <a:rPr lang="en-US" sz="3100" dirty="0">
                <a:solidFill>
                  <a:srgbClr val="0070C0"/>
                </a:solidFill>
              </a:rPr>
              <a:t>bb</a:t>
            </a:r>
            <a:r>
              <a:rPr lang="en-US" sz="3100" dirty="0">
                <a:solidFill>
                  <a:srgbClr val="FF0000"/>
                </a:solidFill>
              </a:rPr>
              <a:t>(a + b)</a:t>
            </a:r>
            <a:r>
              <a:rPr lang="en-US" sz="3100" baseline="30000" dirty="0">
                <a:solidFill>
                  <a:srgbClr val="FF0000"/>
                </a:solidFill>
              </a:rPr>
              <a:t> ∗</a:t>
            </a:r>
            <a:r>
              <a:rPr lang="en-US" sz="3100" dirty="0">
                <a:solidFill>
                  <a:srgbClr val="FF0000"/>
                </a:solidFill>
              </a:rPr>
              <a:t>) + ((a + b)</a:t>
            </a:r>
            <a:r>
              <a:rPr lang="en-US" sz="3100" baseline="30000" dirty="0">
                <a:solidFill>
                  <a:srgbClr val="FF0000"/>
                </a:solidFill>
              </a:rPr>
              <a:t> ∗ </a:t>
            </a:r>
            <a:r>
              <a:rPr lang="en-US" sz="3100" dirty="0">
                <a:solidFill>
                  <a:srgbClr val="0070C0"/>
                </a:solidFill>
              </a:rPr>
              <a:t>bb</a:t>
            </a:r>
            <a:r>
              <a:rPr lang="en-US" sz="3100" dirty="0">
                <a:solidFill>
                  <a:srgbClr val="FF0000"/>
                </a:solidFill>
              </a:rPr>
              <a:t>(a + b)</a:t>
            </a:r>
            <a:r>
              <a:rPr lang="en-US" sz="3100" baseline="30000" dirty="0">
                <a:solidFill>
                  <a:srgbClr val="FF0000"/>
                </a:solidFill>
              </a:rPr>
              <a:t> </a:t>
            </a:r>
            <a:r>
              <a:rPr lang="en-US" sz="3400" baseline="30000" dirty="0">
                <a:solidFill>
                  <a:srgbClr val="FF0000"/>
                </a:solidFill>
              </a:rPr>
              <a:t>∗ </a:t>
            </a:r>
            <a:r>
              <a:rPr lang="en-US" sz="3100" dirty="0">
                <a:solidFill>
                  <a:srgbClr val="FF0000"/>
                </a:solidFill>
              </a:rPr>
              <a:t>aa(a + b)</a:t>
            </a:r>
            <a:r>
              <a:rPr lang="en-US" sz="3100" baseline="30000" dirty="0">
                <a:solidFill>
                  <a:srgbClr val="FF0000"/>
                </a:solidFill>
              </a:rPr>
              <a:t>∗</a:t>
            </a:r>
            <a:r>
              <a:rPr lang="en-US" sz="3100" dirty="0">
                <a:solidFill>
                  <a:srgbClr val="FF0000"/>
                </a:solidFill>
              </a:rPr>
              <a:t>)</a:t>
            </a:r>
          </a:p>
          <a:p>
            <a:pPr marL="22860" indent="-51435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 startAt="2"/>
            </a:pPr>
            <a:r>
              <a:rPr lang="en-US" sz="3600" dirty="0"/>
              <a:t>Σ = {</a:t>
            </a:r>
            <a:r>
              <a:rPr lang="en-US" sz="3600" dirty="0" err="1"/>
              <a:t>a,b,c</a:t>
            </a:r>
            <a:r>
              <a:rPr lang="en-US" sz="3600" dirty="0"/>
              <a:t>}: The set of all strings, such that between any a and c there's at least one b.</a:t>
            </a:r>
            <a:endParaRPr lang="en-US" sz="4000" dirty="0"/>
          </a:p>
          <a:p>
            <a:pPr marL="800100" lvl="2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3400" dirty="0"/>
              <a:t>	</a:t>
            </a:r>
            <a:r>
              <a:rPr lang="en-US" sz="3400" dirty="0">
                <a:solidFill>
                  <a:srgbClr val="FF0000"/>
                </a:solidFill>
              </a:rPr>
              <a:t>	Answer:  ((</a:t>
            </a:r>
            <a:r>
              <a:rPr lang="el-GR" sz="3400" dirty="0">
                <a:solidFill>
                  <a:srgbClr val="FF0000"/>
                </a:solidFill>
              </a:rPr>
              <a:t>ε</a:t>
            </a:r>
            <a:r>
              <a:rPr lang="en-US" sz="3400" dirty="0">
                <a:solidFill>
                  <a:srgbClr val="FF0000"/>
                </a:solidFill>
              </a:rPr>
              <a:t> + aa∗ + cc∗)b)*(</a:t>
            </a:r>
            <a:r>
              <a:rPr lang="el-GR" sz="3400" dirty="0">
                <a:solidFill>
                  <a:srgbClr val="FF0000"/>
                </a:solidFill>
              </a:rPr>
              <a:t>ε</a:t>
            </a:r>
            <a:r>
              <a:rPr lang="en-US" sz="3400" dirty="0">
                <a:solidFill>
                  <a:srgbClr val="FF0000"/>
                </a:solidFill>
              </a:rPr>
              <a:t> + aa∗ + cc∗)</a:t>
            </a:r>
          </a:p>
          <a:p>
            <a:pPr marL="800100" lvl="2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lang="en-US" sz="280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EF3264-7DEA-4ADC-9D7D-3D2547871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48A61-F5CC-4FE4-B0A2-3F7E1408CFBE}" type="datetime1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C1D81D-EA12-4694-9BB3-3CD980149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170542-DE55-44D0-A3FF-997E1D4AD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441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D8D01-12D1-4143-A093-3FB83E89A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RL to 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14423-FEB9-4F60-A9B3-6ACA48854E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en-US" sz="2800" dirty="0"/>
              <a:t> All strings that contain an even number of b’s.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C00000"/>
                </a:solidFill>
              </a:rPr>
              <a:t>	</a:t>
            </a:r>
            <a:r>
              <a:rPr lang="en-US" sz="28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sz="2800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*</a:t>
            </a:r>
            <a:endParaRPr lang="en-US" sz="28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 startAt="5"/>
            </a:pPr>
            <a:r>
              <a:rPr lang="en-US" sz="2800" dirty="0"/>
              <a:t>All strings which do not contain the substring </a:t>
            </a:r>
            <a:r>
              <a:rPr lang="en-US" sz="2800" dirty="0" err="1"/>
              <a:t>ba</a:t>
            </a:r>
            <a:r>
              <a:rPr lang="en-US" sz="2800" dirty="0"/>
              <a:t>.</a:t>
            </a:r>
          </a:p>
          <a:p>
            <a:pPr marL="0" indent="0">
              <a:buNone/>
            </a:pP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a*b*</a:t>
            </a:r>
            <a:endParaRPr 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 startAt="6"/>
            </a:pPr>
            <a:r>
              <a:rPr lang="en-US" sz="2800" dirty="0"/>
              <a:t>The set of all strings where the second letter from L.H.S and the end is an </a:t>
            </a:r>
            <a:r>
              <a:rPr lang="en-US" sz="2800" i="1" dirty="0"/>
              <a:t>a</a:t>
            </a:r>
          </a:p>
          <a:p>
            <a:pPr marL="0" indent="0">
              <a:buNone/>
            </a:pPr>
            <a:r>
              <a:rPr lang="en-US" sz="2800" i="1" dirty="0"/>
              <a:t>	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+ b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+ b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a</a:t>
            </a:r>
            <a:endParaRPr lang="en-US" sz="2800" i="1" baseline="30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All string except the empty string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800" dirty="0">
                <a:solidFill>
                  <a:srgbClr val="C00000"/>
                </a:solidFill>
              </a:rPr>
              <a:t> Σ</a:t>
            </a:r>
            <a:r>
              <a:rPr lang="en-US" sz="2800" baseline="30000" dirty="0">
                <a:solidFill>
                  <a:srgbClr val="C00000"/>
                </a:solidFill>
              </a:rPr>
              <a:t>+</a:t>
            </a:r>
            <a:endParaRPr lang="en-US" sz="2800" baseline="30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dirty="0">
              <a:solidFill>
                <a:srgbClr val="FF0000"/>
              </a:solidFill>
            </a:endParaRPr>
          </a:p>
          <a:p>
            <a:endParaRPr lang="en-US" sz="2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344349-D185-4CB5-832E-9EFA57EC3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C4F5-4D18-4E37-B51F-2897E7AEB620}" type="datetime1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CBB0F7-A89B-42DD-9E56-6A8BE1150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DA4883-272C-4DA1-B40B-F2DEDD397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597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regular expressions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pt-BR" dirty="0"/>
              <a:t>Useful properties of regular expressions: </a:t>
            </a:r>
          </a:p>
          <a:p>
            <a:pPr lvl="1">
              <a:spcBef>
                <a:spcPts val="0"/>
              </a:spcBef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pt-BR" sz="3200" b="1" dirty="0">
                <a:solidFill>
                  <a:srgbClr val="0070C0"/>
                </a:solidFill>
              </a:rPr>
              <a:t> r+s=s+r</a:t>
            </a:r>
          </a:p>
          <a:p>
            <a:pPr lvl="1">
              <a:spcBef>
                <a:spcPts val="0"/>
              </a:spcBef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pt-BR" sz="3200" dirty="0"/>
              <a:t> r+</a:t>
            </a:r>
            <a:r>
              <a:rPr lang="el-GR" sz="3200" dirty="0"/>
              <a:t> φ </a:t>
            </a:r>
            <a:r>
              <a:rPr lang="pt-BR" sz="3200" dirty="0"/>
              <a:t>=</a:t>
            </a:r>
            <a:r>
              <a:rPr lang="el-GR" sz="3200" dirty="0"/>
              <a:t> φ </a:t>
            </a:r>
            <a:r>
              <a:rPr lang="pt-BR" sz="3200" dirty="0"/>
              <a:t>+r=r </a:t>
            </a:r>
          </a:p>
          <a:p>
            <a:pPr lvl="1">
              <a:spcBef>
                <a:spcPts val="0"/>
              </a:spcBef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pt-BR" sz="3200" b="1" dirty="0">
                <a:solidFill>
                  <a:srgbClr val="0070C0"/>
                </a:solidFill>
              </a:rPr>
              <a:t>r+r=r </a:t>
            </a:r>
          </a:p>
          <a:p>
            <a:pPr lvl="1">
              <a:spcBef>
                <a:spcPts val="0"/>
              </a:spcBef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pt-BR" sz="3200" dirty="0"/>
              <a:t>r</a:t>
            </a:r>
            <a:r>
              <a:rPr lang="el-GR" sz="3200" dirty="0"/>
              <a:t> φ </a:t>
            </a:r>
            <a:r>
              <a:rPr lang="pt-BR" sz="3200" dirty="0"/>
              <a:t>=</a:t>
            </a:r>
            <a:r>
              <a:rPr lang="el-GR" sz="3200" dirty="0"/>
              <a:t> φ </a:t>
            </a:r>
            <a:r>
              <a:rPr lang="pt-BR" sz="3200" dirty="0"/>
              <a:t>r=</a:t>
            </a:r>
            <a:r>
              <a:rPr lang="el-GR" sz="3200" dirty="0"/>
              <a:t> φ </a:t>
            </a:r>
            <a:endParaRPr lang="en-US" sz="3200" dirty="0"/>
          </a:p>
          <a:p>
            <a:pPr lvl="1">
              <a:spcBef>
                <a:spcPts val="0"/>
              </a:spcBef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pt-BR" sz="3200" b="1" dirty="0">
                <a:solidFill>
                  <a:srgbClr val="0070C0"/>
                </a:solidFill>
              </a:rPr>
              <a:t>rr * =r+ </a:t>
            </a:r>
          </a:p>
          <a:p>
            <a:pPr lvl="1">
              <a:spcBef>
                <a:spcPts val="0"/>
              </a:spcBef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pt-BR" sz="3200" dirty="0"/>
              <a:t>r</a:t>
            </a:r>
            <a:r>
              <a:rPr lang="el-GR" sz="3200" dirty="0"/>
              <a:t>ε </a:t>
            </a:r>
            <a:r>
              <a:rPr lang="pt-BR" sz="3200" dirty="0"/>
              <a:t>=</a:t>
            </a:r>
            <a:r>
              <a:rPr lang="el-GR" sz="3200" dirty="0"/>
              <a:t> ε</a:t>
            </a:r>
            <a:r>
              <a:rPr lang="pt-BR" sz="3200" dirty="0"/>
              <a:t>r=r</a:t>
            </a:r>
            <a:endParaRPr lang="en-US" sz="3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8602D-4D94-43BA-8DE0-4F9481615CB8}" type="datetime1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6891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regular expressions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pt-BR" dirty="0"/>
              <a:t>r(s+t)=rs+rt </a:t>
            </a:r>
          </a:p>
          <a:p>
            <a:pPr>
              <a:spcBef>
                <a:spcPts val="0"/>
              </a:spcBef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pt-BR" dirty="0">
                <a:solidFill>
                  <a:srgbClr val="0070C0"/>
                </a:solidFill>
              </a:rPr>
              <a:t>r+(s+t)=(r+s)+t</a:t>
            </a:r>
          </a:p>
          <a:p>
            <a:pPr>
              <a:spcBef>
                <a:spcPts val="0"/>
              </a:spcBef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pt-BR" dirty="0"/>
              <a:t>r(st)=(rs)t </a:t>
            </a:r>
          </a:p>
          <a:p>
            <a:pPr>
              <a:spcBef>
                <a:spcPts val="0"/>
              </a:spcBef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pt-BR" dirty="0">
                <a:solidFill>
                  <a:srgbClr val="0070C0"/>
                </a:solidFill>
              </a:rPr>
              <a:t>r*=(r*)*=r*r*=r*+r</a:t>
            </a:r>
          </a:p>
          <a:p>
            <a:pPr>
              <a:spcBef>
                <a:spcPts val="0"/>
              </a:spcBef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pt-BR" dirty="0"/>
              <a:t> r*+r+=r*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93520-6228-4801-A1D4-434482540D7B}" type="datetime1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7769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C8F45-28B8-4BFF-B4FB-CD0E0B6B2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Regular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127BD-3EEB-48EB-89FD-F7A9DE368E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spcBef>
                <a:spcPts val="18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800" dirty="0"/>
              <a:t>If we let R be any regular expression, we have the following identities. They are good tests of whether you understand the deﬁnition. </a:t>
            </a:r>
          </a:p>
          <a:p>
            <a:pPr algn="just">
              <a:spcBef>
                <a:spcPts val="18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0070C0"/>
                </a:solidFill>
              </a:rPr>
              <a:t>R∪∅= R. Adding the empty language to any other language will not change it. </a:t>
            </a:r>
          </a:p>
          <a:p>
            <a:pPr algn="just">
              <a:spcBef>
                <a:spcPts val="18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800" dirty="0" err="1"/>
              <a:t>R◦ε</a:t>
            </a:r>
            <a:r>
              <a:rPr lang="en-US" sz="2800" dirty="0"/>
              <a:t> = R. Joining the empty string to any string will not change it.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DDF39A-AD3D-463E-A95D-F09D2E520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F4D7D-4511-4919-9F3D-7E2B073B2EA7}" type="datetime1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D83C4-D2B2-46C6-A998-7696E5F88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83DFC3-483F-41A2-875B-9EC8BFA7B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7252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C8F45-28B8-4BFF-B4FB-CD0E0B6B2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RE…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127BD-3EEB-48EB-89FD-F7A9DE368E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spcBef>
                <a:spcPts val="0"/>
              </a:spcBef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en-US" sz="2400" dirty="0"/>
              <a:t>Joining the empty string to any string will not change it. </a:t>
            </a:r>
          </a:p>
          <a:p>
            <a:pPr algn="just">
              <a:spcBef>
                <a:spcPts val="0"/>
              </a:spcBef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0070C0"/>
                </a:solidFill>
              </a:rPr>
              <a:t>However, exchanging ∅ and ε in the preceding identities may cause the equalities to fail. </a:t>
            </a:r>
          </a:p>
          <a:p>
            <a:pPr algn="just">
              <a:spcBef>
                <a:spcPts val="0"/>
              </a:spcBef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en-US" sz="2400" dirty="0" err="1"/>
              <a:t>R∪ε</a:t>
            </a:r>
            <a:r>
              <a:rPr lang="en-US" sz="2400" dirty="0"/>
              <a:t> may not equal R. </a:t>
            </a:r>
          </a:p>
          <a:p>
            <a:pPr marL="0" indent="0" algn="just"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400" dirty="0"/>
              <a:t>	For example, if R = 0, then </a:t>
            </a:r>
          </a:p>
          <a:p>
            <a:pPr marL="0" indent="0" algn="just"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400" dirty="0"/>
              <a:t>	L(R)={0}but L(</a:t>
            </a:r>
            <a:r>
              <a:rPr lang="en-US" sz="2400" dirty="0" err="1"/>
              <a:t>R∪ε</a:t>
            </a:r>
            <a:r>
              <a:rPr lang="en-US" sz="2400" dirty="0"/>
              <a:t>)={0,ε}. </a:t>
            </a:r>
          </a:p>
          <a:p>
            <a:pPr algn="just">
              <a:spcBef>
                <a:spcPts val="0"/>
              </a:spcBef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0070C0"/>
                </a:solidFill>
              </a:rPr>
              <a:t>R◦∅ may not equal R. </a:t>
            </a:r>
          </a:p>
          <a:p>
            <a:pPr marL="0" indent="0" algn="just"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400" dirty="0"/>
              <a:t>For example, if R = 0, then	L(R)={0}but L(R◦∅)=∅.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DDF39A-AD3D-463E-A95D-F09D2E520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F4D7D-4511-4919-9F3D-7E2B073B2EA7}" type="datetime1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D83C4-D2B2-46C6-A998-7696E5F88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83DFC3-483F-41A2-875B-9EC8BFA7B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9717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7620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US" sz="5400" dirty="0"/>
              <a:t>Equivalences so far…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6800" y="1562100"/>
            <a:ext cx="3200400" cy="1645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Regular Languages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538788" y="1562100"/>
            <a:ext cx="3200400" cy="1645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DFA</a:t>
            </a:r>
          </a:p>
        </p:txBody>
      </p:sp>
      <p:sp>
        <p:nvSpPr>
          <p:cNvPr id="7" name="Rectangle 6"/>
          <p:cNvSpPr/>
          <p:nvPr/>
        </p:nvSpPr>
        <p:spPr>
          <a:xfrm>
            <a:off x="1066800" y="4526280"/>
            <a:ext cx="3200400" cy="1645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Regular Expressions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526280"/>
            <a:ext cx="3200400" cy="1645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NFA</a:t>
            </a:r>
          </a:p>
        </p:txBody>
      </p:sp>
      <p:sp>
        <p:nvSpPr>
          <p:cNvPr id="9" name="Up-Down Arrow 8"/>
          <p:cNvSpPr/>
          <p:nvPr/>
        </p:nvSpPr>
        <p:spPr>
          <a:xfrm>
            <a:off x="6934200" y="3238500"/>
            <a:ext cx="457200" cy="1280160"/>
          </a:xfrm>
          <a:prstGeom prst="up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10" name="Up-Down Arrow 9"/>
          <p:cNvSpPr/>
          <p:nvPr/>
        </p:nvSpPr>
        <p:spPr>
          <a:xfrm>
            <a:off x="2209800" y="3276600"/>
            <a:ext cx="457200" cy="1280160"/>
          </a:xfrm>
          <a:prstGeom prst="up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11" name="Left-Right Arrow 10"/>
          <p:cNvSpPr/>
          <p:nvPr/>
        </p:nvSpPr>
        <p:spPr>
          <a:xfrm>
            <a:off x="4267200" y="2194560"/>
            <a:ext cx="1280160" cy="365760"/>
          </a:xfrm>
          <a:prstGeom prst="leftRightArrow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12" name="Left-Right Arrow 11"/>
          <p:cNvSpPr/>
          <p:nvPr/>
        </p:nvSpPr>
        <p:spPr>
          <a:xfrm>
            <a:off x="4206240" y="5349240"/>
            <a:ext cx="1280160" cy="365760"/>
          </a:xfrm>
          <a:prstGeom prst="left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51DDE-980A-49F6-A4A3-D21C89F81707}" type="datetime1">
              <a:rPr lang="en-US" smtClean="0"/>
              <a:t>4/10/2025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1687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6195521"/>
              </p:ext>
            </p:extLst>
          </p:nvPr>
        </p:nvGraphicFramePr>
        <p:xfrm>
          <a:off x="53788" y="182540"/>
          <a:ext cx="8991600" cy="6569807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8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4847">
                <a:tc>
                  <a:txBody>
                    <a:bodyPr/>
                    <a:lstStyle/>
                    <a:p>
                      <a:pPr algn="ctr" fontAlgn="t"/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</a:rPr>
                        <a:t>Regular Expressions</a:t>
                      </a:r>
                    </a:p>
                  </a:txBody>
                  <a:tcPr marL="54187" marR="54187" marT="54187" marB="54187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</a:rPr>
                        <a:t>Regular Set</a:t>
                      </a:r>
                    </a:p>
                  </a:txBody>
                  <a:tcPr marL="54187" marR="54187" marT="54187" marB="54187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339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1">
                          <a:solidFill>
                            <a:srgbClr val="FF0000"/>
                          </a:solidFill>
                          <a:effectLst/>
                        </a:rPr>
                        <a:t>(0 + 10*)</a:t>
                      </a:r>
                    </a:p>
                  </a:txBody>
                  <a:tcPr marL="54187" marR="54187" marT="54187" marB="54187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1">
                          <a:solidFill>
                            <a:srgbClr val="FF0000"/>
                          </a:solidFill>
                          <a:effectLst/>
                        </a:rPr>
                        <a:t>L = { 0, 1, 10, 100, 1000, 10000, … }</a:t>
                      </a:r>
                    </a:p>
                  </a:txBody>
                  <a:tcPr marL="54187" marR="54187" marT="54187" marB="5418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7339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</a:rPr>
                        <a:t>(0*10*)</a:t>
                      </a:r>
                    </a:p>
                  </a:txBody>
                  <a:tcPr marL="54187" marR="54187" marT="54187" marB="54187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L = {1, 01, 10, 010, 0010, …}</a:t>
                      </a:r>
                    </a:p>
                  </a:txBody>
                  <a:tcPr marL="54187" marR="54187" marT="54187" marB="5418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7339">
                <a:tc>
                  <a:txBody>
                    <a:bodyPr/>
                    <a:lstStyle/>
                    <a:p>
                      <a:pPr algn="just" fontAlgn="t"/>
                      <a:r>
                        <a:rPr lang="el-GR" sz="1800" b="1">
                          <a:solidFill>
                            <a:srgbClr val="FF0000"/>
                          </a:solidFill>
                          <a:effectLst/>
                        </a:rPr>
                        <a:t>(0 + ε)(1 + ε)</a:t>
                      </a:r>
                    </a:p>
                  </a:txBody>
                  <a:tcPr marL="54187" marR="54187" marT="54187" marB="54187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l-GR" sz="1800" b="1" dirty="0">
                          <a:solidFill>
                            <a:srgbClr val="FF0000"/>
                          </a:solidFill>
                          <a:effectLst/>
                        </a:rPr>
                        <a:t>L = {ε, 0, 1, 01}</a:t>
                      </a:r>
                    </a:p>
                  </a:txBody>
                  <a:tcPr marL="54187" marR="54187" marT="54187" marB="5418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1527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</a:rPr>
                        <a:t>(a+b)*</a:t>
                      </a:r>
                    </a:p>
                  </a:txBody>
                  <a:tcPr marL="54187" marR="54187" marT="54187" marB="54187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Set of strings of a’s and b’s of any length including the null string.             So L = { ε, a, b, aa , ab , bb ,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effectLst/>
                        </a:rPr>
                        <a:t>ba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effectLst/>
                        </a:rPr>
                        <a:t>aaa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…….}</a:t>
                      </a:r>
                    </a:p>
                  </a:txBody>
                  <a:tcPr marL="54187" marR="54187" marT="54187" marB="5418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1527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1">
                          <a:solidFill>
                            <a:srgbClr val="FF0000"/>
                          </a:solidFill>
                          <a:effectLst/>
                        </a:rPr>
                        <a:t>(a+b)*abb</a:t>
                      </a:r>
                    </a:p>
                  </a:txBody>
                  <a:tcPr marL="54187" marR="54187" marT="54187" marB="54187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</a:rPr>
                        <a:t>Set of strings of a’s and b’s ending with the string abb. So L = {abb, </a:t>
                      </a:r>
                      <a:r>
                        <a:rPr lang="en-US" sz="1800" b="1" dirty="0" err="1">
                          <a:solidFill>
                            <a:srgbClr val="FF0000"/>
                          </a:solidFill>
                          <a:effectLst/>
                        </a:rPr>
                        <a:t>aabb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</a:rPr>
                        <a:t>, </a:t>
                      </a:r>
                      <a:r>
                        <a:rPr lang="en-US" sz="1800" b="1" dirty="0" err="1">
                          <a:solidFill>
                            <a:srgbClr val="FF0000"/>
                          </a:solidFill>
                          <a:effectLst/>
                        </a:rPr>
                        <a:t>babb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</a:rPr>
                        <a:t>, </a:t>
                      </a:r>
                      <a:r>
                        <a:rPr lang="en-US" sz="1800" b="1" dirty="0" err="1">
                          <a:solidFill>
                            <a:srgbClr val="FF0000"/>
                          </a:solidFill>
                          <a:effectLst/>
                        </a:rPr>
                        <a:t>aaabb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</a:rPr>
                        <a:t>, </a:t>
                      </a:r>
                      <a:r>
                        <a:rPr lang="en-US" sz="1800" b="1" dirty="0" err="1">
                          <a:solidFill>
                            <a:srgbClr val="FF0000"/>
                          </a:solidFill>
                          <a:effectLst/>
                        </a:rPr>
                        <a:t>ababb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</a:rPr>
                        <a:t>, …………..}</a:t>
                      </a:r>
                    </a:p>
                  </a:txBody>
                  <a:tcPr marL="54187" marR="54187" marT="54187" marB="54187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3188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(11)*</a:t>
                      </a:r>
                    </a:p>
                  </a:txBody>
                  <a:tcPr marL="54187" marR="54187" marT="54187" marB="54187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Set consisting of even number of 1’s including empty string,                       So L= {ε, 11, 1111, 111111, ……….}</a:t>
                      </a:r>
                    </a:p>
                  </a:txBody>
                  <a:tcPr marL="54187" marR="54187" marT="54187" marB="54187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41527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1">
                          <a:solidFill>
                            <a:srgbClr val="FF0000"/>
                          </a:solidFill>
                          <a:effectLst/>
                        </a:rPr>
                        <a:t>(aa)*(bb)*b</a:t>
                      </a:r>
                    </a:p>
                  </a:txBody>
                  <a:tcPr marL="54187" marR="54187" marT="54187" marB="54187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</a:rPr>
                        <a:t>Set of strings consisting of even number of a’s followed by odd number of b’s , so L = {b, </a:t>
                      </a:r>
                      <a:r>
                        <a:rPr lang="en-US" sz="1800" b="1" dirty="0" err="1">
                          <a:solidFill>
                            <a:srgbClr val="FF0000"/>
                          </a:solidFill>
                          <a:effectLst/>
                        </a:rPr>
                        <a:t>aab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</a:rPr>
                        <a:t>, </a:t>
                      </a:r>
                      <a:r>
                        <a:rPr lang="en-US" sz="1800" b="1" dirty="0" err="1">
                          <a:solidFill>
                            <a:srgbClr val="FF0000"/>
                          </a:solidFill>
                          <a:effectLst/>
                        </a:rPr>
                        <a:t>aabbb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</a:rPr>
                        <a:t>, </a:t>
                      </a:r>
                      <a:r>
                        <a:rPr lang="en-US" sz="1800" b="1" dirty="0" err="1">
                          <a:solidFill>
                            <a:srgbClr val="FF0000"/>
                          </a:solidFill>
                          <a:effectLst/>
                        </a:rPr>
                        <a:t>aabbbbb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</a:rPr>
                        <a:t>, </a:t>
                      </a:r>
                      <a:r>
                        <a:rPr lang="en-US" sz="1800" b="1" dirty="0" err="1">
                          <a:solidFill>
                            <a:srgbClr val="FF0000"/>
                          </a:solidFill>
                          <a:effectLst/>
                        </a:rPr>
                        <a:t>aaaab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</a:rPr>
                        <a:t>, </a:t>
                      </a:r>
                      <a:r>
                        <a:rPr lang="en-US" sz="1800" b="1" dirty="0" err="1">
                          <a:solidFill>
                            <a:srgbClr val="FF0000"/>
                          </a:solidFill>
                          <a:effectLst/>
                        </a:rPr>
                        <a:t>aaaabbb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</a:rPr>
                        <a:t>, …………..}</a:t>
                      </a:r>
                    </a:p>
                  </a:txBody>
                  <a:tcPr marL="54187" marR="54187" marT="54187" marB="54187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078207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</a:rPr>
                        <a:t>(aa + ab + ba + bb)*</a:t>
                      </a:r>
                    </a:p>
                  </a:txBody>
                  <a:tcPr marL="54187" marR="54187" marT="54187" marB="54187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String of a’s and b’s of even length can be obtained by concatenating any combination of the strings aa, ab,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effectLst/>
                        </a:rPr>
                        <a:t>ba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 and bb including null,                         so L = {aa, ab,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effectLst/>
                        </a:rPr>
                        <a:t>ba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, bb,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effectLst/>
                        </a:rPr>
                        <a:t>aaab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effectLst/>
                        </a:rPr>
                        <a:t>aaba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, …………..}</a:t>
                      </a:r>
                    </a:p>
                  </a:txBody>
                  <a:tcPr marL="54187" marR="54187" marT="54187" marB="54187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8D169-AA56-4C89-A9ED-7605C1CC3A33}" type="datetime1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25</a:t>
            </a:fld>
            <a:endParaRPr lang="en-US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2387600" y="11652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45866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2D8AC-850A-44E0-A566-B1AE7CA62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355" y="0"/>
            <a:ext cx="8995953" cy="1143000"/>
          </a:xfrm>
        </p:spPr>
        <p:txBody>
          <a:bodyPr>
            <a:noAutofit/>
          </a:bodyPr>
          <a:lstStyle/>
          <a:p>
            <a:r>
              <a:rPr lang="en-US" sz="2800" dirty="0"/>
              <a:t>Give English descriptions of the languages of the following regular expressions.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4EFBF-DAA7-4F5F-B264-96103BD2F5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(1 +</a:t>
            </a:r>
            <a:r>
              <a:rPr lang="el-GR" dirty="0"/>
              <a:t> ε</a:t>
            </a:r>
            <a:r>
              <a:rPr lang="en-US" dirty="0"/>
              <a:t> )(00*1)*0*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sz="2800" dirty="0">
                <a:solidFill>
                  <a:srgbClr val="0070C0"/>
                </a:solidFill>
              </a:rPr>
              <a:t>This is the language of strings with no two consecutive 	1’s.</a:t>
            </a:r>
            <a:r>
              <a:rPr lang="en-US" sz="2800" dirty="0"/>
              <a:t>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(0*1*)*000(0 + 1)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sz="2800" dirty="0">
                <a:solidFill>
                  <a:srgbClr val="0070C0"/>
                </a:solidFill>
              </a:rPr>
              <a:t>This is the language of strings with three consecutive 	0’s.</a:t>
            </a:r>
            <a:r>
              <a:rPr lang="en-US" dirty="0">
                <a:solidFill>
                  <a:srgbClr val="0070C0"/>
                </a:solidFill>
              </a:rPr>
              <a:t>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(0 + 10)*1*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sz="2800" dirty="0">
                <a:solidFill>
                  <a:srgbClr val="0070C0"/>
                </a:solidFill>
              </a:rPr>
              <a:t>This is the language of strings in which there are no 	two consecutive 1’s,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E531F3-B4D0-4B6F-9BFA-40F4178D5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6FE61-3E68-4C4D-80DE-8459E6701FF9}" type="datetime1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65DB53-2F82-49A1-91E0-FA288240C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445F2-83FA-41D2-BAAF-111B0EFAF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937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D19C5-E381-47F0-9896-B6AF211D1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Σ = {0, 1}.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D1D3C-C78A-4930-8550-3F394B8745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0070C0"/>
                </a:solidFill>
              </a:rPr>
              <a:t>(0 + 1)*00010(0 +1 )*</a:t>
            </a:r>
          </a:p>
          <a:p>
            <a:pPr marL="0" indent="0">
              <a:buNone/>
            </a:pPr>
            <a:r>
              <a:rPr lang="en-US" sz="2400" dirty="0"/>
              <a:t>	Ans: L={</a:t>
            </a:r>
            <a:r>
              <a:rPr lang="en-US" sz="2400" dirty="0" err="1"/>
              <a:t>w|w</a:t>
            </a:r>
            <a:r>
              <a:rPr lang="en-US" sz="2400" dirty="0"/>
              <a:t> contains the substring 00010}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70C0"/>
                </a:solidFill>
              </a:rPr>
              <a:t>0*1(0*10* 10*)*</a:t>
            </a:r>
          </a:p>
          <a:p>
            <a:pPr marL="0" indent="0">
              <a:buNone/>
            </a:pPr>
            <a:r>
              <a:rPr lang="en-US" sz="2400" dirty="0"/>
              <a:t>	Ans: L={</a:t>
            </a:r>
            <a:r>
              <a:rPr lang="en-US" sz="2400" dirty="0" err="1"/>
              <a:t>w|w</a:t>
            </a:r>
            <a:r>
              <a:rPr lang="en-US" sz="2400" dirty="0"/>
              <a:t> contains the odd no of 1’s}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70C0"/>
                </a:solidFill>
              </a:rPr>
              <a:t>10*10*(1+0)*</a:t>
            </a:r>
          </a:p>
          <a:p>
            <a:pPr marL="0" indent="0">
              <a:buNone/>
            </a:pPr>
            <a:r>
              <a:rPr lang="en-US" sz="2400" dirty="0"/>
              <a:t>	Ans: L={</a:t>
            </a:r>
            <a:r>
              <a:rPr lang="en-US" sz="2400" dirty="0" err="1"/>
              <a:t>w|w</a:t>
            </a:r>
            <a:r>
              <a:rPr lang="en-US" sz="2400" dirty="0"/>
              <a:t> starts with 1 and contains at least two 1’s}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	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endParaRPr lang="en-US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4743C8-5E8D-464C-BFF3-8FC059759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F4D7D-4511-4919-9F3D-7E2B073B2EA7}" type="datetime1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29D540-E112-4D01-B339-FCD553B8E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B5BB36-8EF5-4AC7-B113-037532DE1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52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3391F-2373-4615-80DF-2EC656323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Σ = {0, 1}.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83510-39F0-4D51-812E-C9D6169A3F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10" y="1295399"/>
            <a:ext cx="8954589" cy="5410201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l-GR" sz="2800" dirty="0">
                <a:solidFill>
                  <a:srgbClr val="FF0000"/>
                </a:solidFill>
              </a:rPr>
              <a:t>Σ</a:t>
            </a:r>
            <a:r>
              <a:rPr lang="el-GR" sz="2800" baseline="30000" dirty="0">
                <a:solidFill>
                  <a:srgbClr val="FF0000"/>
                </a:solidFill>
              </a:rPr>
              <a:t>∗</a:t>
            </a:r>
            <a:r>
              <a:rPr lang="el-GR" sz="2800" dirty="0">
                <a:solidFill>
                  <a:srgbClr val="FF0000"/>
                </a:solidFill>
              </a:rPr>
              <a:t>0101Σ</a:t>
            </a:r>
            <a:r>
              <a:rPr lang="el-GR" sz="2800" baseline="30000" dirty="0">
                <a:solidFill>
                  <a:srgbClr val="FF0000"/>
                </a:solidFill>
              </a:rPr>
              <a:t>∗</a:t>
            </a:r>
          </a:p>
          <a:p>
            <a:pPr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2800" dirty="0"/>
              <a:t>	Ans: L = {w| w contains the substring 0101}</a:t>
            </a:r>
          </a:p>
          <a:p>
            <a:pPr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FF0000"/>
                </a:solidFill>
              </a:rPr>
              <a:t>1</a:t>
            </a:r>
            <a:r>
              <a:rPr lang="en-US" sz="2800" baseline="30000" dirty="0">
                <a:solidFill>
                  <a:srgbClr val="FF0000"/>
                </a:solidFill>
              </a:rPr>
              <a:t>∗</a:t>
            </a:r>
            <a:r>
              <a:rPr lang="en-US" sz="2800" dirty="0">
                <a:solidFill>
                  <a:srgbClr val="FF0000"/>
                </a:solidFill>
              </a:rPr>
              <a:t>(01</a:t>
            </a:r>
            <a:r>
              <a:rPr lang="en-US" sz="2800" baseline="30000" dirty="0">
                <a:solidFill>
                  <a:srgbClr val="FF0000"/>
                </a:solidFill>
              </a:rPr>
              <a:t> ∗ </a:t>
            </a:r>
            <a:r>
              <a:rPr lang="en-US" sz="2800" dirty="0">
                <a:solidFill>
                  <a:srgbClr val="FF0000"/>
                </a:solidFill>
              </a:rPr>
              <a:t>01</a:t>
            </a:r>
            <a:r>
              <a:rPr lang="en-US" sz="2800" baseline="30000" dirty="0">
                <a:solidFill>
                  <a:srgbClr val="FF0000"/>
                </a:solidFill>
              </a:rPr>
              <a:t> ∗</a:t>
            </a:r>
            <a:r>
              <a:rPr lang="en-US" sz="2800" dirty="0">
                <a:solidFill>
                  <a:srgbClr val="FF0000"/>
                </a:solidFill>
              </a:rPr>
              <a:t>)</a:t>
            </a:r>
            <a:r>
              <a:rPr lang="en-US" sz="2800" baseline="30000" dirty="0">
                <a:solidFill>
                  <a:srgbClr val="FF0000"/>
                </a:solidFill>
              </a:rPr>
              <a:t> ∗</a:t>
            </a:r>
            <a:r>
              <a:rPr lang="en-US" sz="2800" dirty="0">
                <a:solidFill>
                  <a:srgbClr val="FF0000"/>
                </a:solidFill>
              </a:rPr>
              <a:t> ∪ 0</a:t>
            </a:r>
            <a:r>
              <a:rPr lang="en-US" sz="2800" baseline="30000" dirty="0">
                <a:solidFill>
                  <a:srgbClr val="FF0000"/>
                </a:solidFill>
              </a:rPr>
              <a:t> ∗ </a:t>
            </a:r>
            <a:r>
              <a:rPr lang="en-US" sz="2800" dirty="0">
                <a:solidFill>
                  <a:srgbClr val="FF0000"/>
                </a:solidFill>
              </a:rPr>
              <a:t>10</a:t>
            </a:r>
            <a:r>
              <a:rPr lang="en-US" sz="2800" baseline="30000" dirty="0">
                <a:solidFill>
                  <a:srgbClr val="FF0000"/>
                </a:solidFill>
              </a:rPr>
              <a:t> ∗ </a:t>
            </a:r>
            <a:r>
              <a:rPr lang="en-US" sz="2800" dirty="0">
                <a:solidFill>
                  <a:srgbClr val="FF0000"/>
                </a:solidFill>
              </a:rPr>
              <a:t>10</a:t>
            </a:r>
            <a:r>
              <a:rPr lang="en-US" sz="2800" baseline="30000" dirty="0">
                <a:solidFill>
                  <a:srgbClr val="FF0000"/>
                </a:solidFill>
              </a:rPr>
              <a:t> ∗ 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800" dirty="0"/>
              <a:t>	Ans: L = {w| w contains an even number of 0s, or contains 	exactly two 1s}</a:t>
            </a:r>
          </a:p>
          <a:p>
            <a:pPr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FF0000"/>
                </a:solidFill>
              </a:rPr>
              <a:t>(1Σ)</a:t>
            </a:r>
            <a:r>
              <a:rPr lang="en-US" sz="2800" baseline="30000" dirty="0">
                <a:solidFill>
                  <a:srgbClr val="FF0000"/>
                </a:solidFill>
              </a:rPr>
              <a:t> ∗</a:t>
            </a:r>
            <a:r>
              <a:rPr lang="en-US" sz="2800" dirty="0">
                <a:solidFill>
                  <a:srgbClr val="FF0000"/>
                </a:solidFill>
              </a:rPr>
              <a:t>(ε ∪ 1)</a:t>
            </a:r>
          </a:p>
          <a:p>
            <a:pPr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2800" dirty="0"/>
              <a:t>	</a:t>
            </a:r>
            <a:r>
              <a:rPr lang="en-US" sz="2800" dirty="0">
                <a:highlight>
                  <a:srgbClr val="FFFF00"/>
                </a:highlight>
              </a:rPr>
              <a:t>Ans: L = {w| every odd position of w is a 1}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rgbClr val="FF0000"/>
                </a:solidFill>
              </a:rPr>
              <a:t>	</a:t>
            </a:r>
            <a:r>
              <a:rPr lang="en-US" sz="2800" dirty="0">
                <a:solidFill>
                  <a:srgbClr val="FF0000"/>
                </a:solidFill>
              </a:rPr>
              <a:t>0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*10*10*10</a:t>
            </a:r>
            <a:r>
              <a:rPr lang="en-US" sz="2800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</a:p>
          <a:p>
            <a:pPr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2800" dirty="0"/>
              <a:t>	Ans: L = {w | w contains exactly three 1’s and ends 	with 0}</a:t>
            </a:r>
          </a:p>
          <a:p>
            <a:pPr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endParaRPr lang="en-US" sz="2800" dirty="0"/>
          </a:p>
          <a:p>
            <a:pPr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endParaRPr lang="en-US" sz="2800" dirty="0"/>
          </a:p>
          <a:p>
            <a:pPr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endParaRPr lang="en-US" sz="2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9210BA-62E6-4B7C-9F4F-4EF9EC82F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F4D7D-4511-4919-9F3D-7E2B073B2EA7}" type="datetime1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470B13-E997-409C-8C6B-41CAA0FE7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Dr. Afroza Nahar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A28D1F-3F99-4DC4-90B7-C73F2AAB7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675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6535A-6B98-4C05-AA2E-978919B1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Σ = {0, 1}.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267D9-1AE4-48BD-9DAE-18E5139F59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10" y="1295400"/>
            <a:ext cx="8954589" cy="502920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FF0000"/>
                </a:solidFill>
              </a:rPr>
              <a:t>01*01*01*</a:t>
            </a:r>
          </a:p>
          <a:p>
            <a:pPr marL="0" indent="0">
              <a:buNone/>
            </a:pPr>
            <a:r>
              <a:rPr lang="en-US" sz="2000" dirty="0"/>
              <a:t>	Ans: L = {w| w has exactly three 0’s}</a:t>
            </a:r>
          </a:p>
          <a:p>
            <a:pPr marL="0" indent="0">
              <a:buNone/>
            </a:pPr>
            <a:endParaRPr lang="en-US" sz="20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FF0000"/>
                </a:solidFill>
              </a:rPr>
              <a:t>1*(0111</a:t>
            </a:r>
            <a:r>
              <a:rPr lang="en-US" sz="2000" baseline="30000" dirty="0">
                <a:solidFill>
                  <a:srgbClr val="FF0000"/>
                </a:solidFill>
              </a:rPr>
              <a:t>+</a:t>
            </a:r>
            <a:r>
              <a:rPr lang="en-US" sz="2000" dirty="0">
                <a:solidFill>
                  <a:srgbClr val="FF0000"/>
                </a:solidFill>
              </a:rPr>
              <a:t>)*</a:t>
            </a:r>
          </a:p>
          <a:p>
            <a:pPr marL="0" indent="0">
              <a:buNone/>
            </a:pPr>
            <a:r>
              <a:rPr lang="en-US" sz="2000" dirty="0"/>
              <a:t>	Ans: L = {w | each 0 in w is followed at least three </a:t>
            </a:r>
            <a:r>
              <a:rPr lang="en-US" sz="2000" b="1" dirty="0"/>
              <a:t>1’s</a:t>
            </a:r>
            <a:r>
              <a:rPr lang="en-US" sz="2000" dirty="0"/>
              <a:t>}</a:t>
            </a:r>
          </a:p>
          <a:p>
            <a:endParaRPr lang="en-US" sz="20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/>
              <a:t>(</a:t>
            </a:r>
            <a:r>
              <a:rPr lang="en-US" sz="2000" dirty="0">
                <a:solidFill>
                  <a:srgbClr val="FF0000"/>
                </a:solidFill>
              </a:rPr>
              <a:t>11*0)*1*</a:t>
            </a:r>
          </a:p>
          <a:p>
            <a:pPr marL="0" indent="0">
              <a:buNone/>
            </a:pPr>
            <a:r>
              <a:rPr lang="en-US" sz="2000" dirty="0"/>
              <a:t>	Ans: L = {w | w does not contain consecutive 0’s}</a:t>
            </a:r>
          </a:p>
          <a:p>
            <a:pPr marL="0" indent="0">
              <a:buNone/>
            </a:pPr>
            <a:endParaRPr lang="en-US" sz="20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FF0000"/>
                </a:solidFill>
              </a:rPr>
              <a:t>0 *(10 * 10 *) *</a:t>
            </a:r>
          </a:p>
          <a:p>
            <a:pPr marL="0" indent="0">
              <a:buNone/>
            </a:pPr>
            <a:r>
              <a:rPr lang="en-US" sz="2000" dirty="0"/>
              <a:t>	Ans:  L = {w| w contains an even number of 1’s}</a:t>
            </a:r>
          </a:p>
          <a:p>
            <a:pPr marL="0" indent="0">
              <a:buNone/>
            </a:pPr>
            <a:endParaRPr lang="en-US" sz="20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FF0000"/>
                </a:solidFill>
              </a:rPr>
              <a:t>0 * 1 *</a:t>
            </a:r>
          </a:p>
          <a:p>
            <a:pPr marL="0" indent="0">
              <a:buNone/>
            </a:pPr>
            <a:r>
              <a:rPr lang="en-US" sz="2000" dirty="0"/>
              <a:t>	 Ans:  L = {w| w does not contain the substring 10}</a:t>
            </a:r>
            <a:r>
              <a:rPr lang="en-US" sz="2000" dirty="0">
                <a:solidFill>
                  <a:srgbClr val="FF0000"/>
                </a:solidFill>
              </a:rPr>
              <a:t>	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A26F3-FAF2-412B-AB69-01639412F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F4D7D-4511-4919-9F3D-7E2B073B2EA7}" type="datetime1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30FBD1-CCA8-47CB-BD0C-BB0BC6EE6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ADEBCE-A2EE-4BC5-8E2E-EFD80632C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801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DB046-AB70-4471-A600-BFBED252A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Σ = {a, b}.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6DF1EE-FF59-4DA9-8A6D-CC8229FB1C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800" dirty="0"/>
              <a:t>(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en-US" sz="2800" dirty="0"/>
              <a:t> + </a:t>
            </a:r>
            <a:r>
              <a:rPr 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lang="en-US" sz="2800" dirty="0"/>
              <a:t>)*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ANS:</a:t>
            </a:r>
          </a:p>
          <a:p>
            <a:pPr marL="0" indent="0">
              <a:buNone/>
            </a:pPr>
            <a:r>
              <a:rPr lang="en-US" sz="2800" dirty="0"/>
              <a:t>The set of all strings of 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a’s</a:t>
            </a:r>
            <a:r>
              <a:rPr lang="en-US" sz="2800" dirty="0"/>
              <a:t> and 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b’s</a:t>
            </a:r>
            <a:r>
              <a:rPr lang="en-US" sz="2800" dirty="0"/>
              <a:t> that have as equal amount of 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a’s</a:t>
            </a:r>
            <a:r>
              <a:rPr lang="en-US" sz="2800" dirty="0"/>
              <a:t> and 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b’s</a:t>
            </a:r>
          </a:p>
          <a:p>
            <a:endParaRPr lang="en-US" sz="2800" dirty="0"/>
          </a:p>
          <a:p>
            <a:endParaRPr lang="en-US" sz="2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046927-45B1-4884-B799-A4C274129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F4D7D-4511-4919-9F3D-7E2B073B2EA7}" type="datetime1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BBBFEB-50D4-43C6-A89D-AC99895C0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AD00E6-37FE-415F-8967-B5EFE7A5B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468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FD48E-1DB9-BA8B-2B82-953CDCB95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Building NFA from regular expressions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D23A2-C40D-4466-3341-0419C723C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F4D7D-4511-4919-9F3D-7E2B073B2EA7}" type="datetime1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3AD8EB-68F7-EB94-7735-24C44F15D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4AA8FE-7504-CBBF-923D-96613FB1D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31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8B4860-1FC8-BB2E-64A9-9C23ABF7C3F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333" t="27778" r="26667" b="14444"/>
          <a:stretch/>
        </p:blipFill>
        <p:spPr>
          <a:xfrm>
            <a:off x="918754" y="1137678"/>
            <a:ext cx="7814938" cy="5644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8619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16DE0-E162-94D0-899C-28484491D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 from DFA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B07360-2416-4139-8693-A5DC64254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F4D7D-4511-4919-9F3D-7E2B073B2EA7}" type="datetime1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4661BA-58BF-8E27-65AE-3B5797513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D6C030-5CE0-26A0-6CFA-D2CB22C99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32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E0FB1C9-35A5-D16F-924B-9DE92AB518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5834" t="9370" r="24167" b="18888"/>
          <a:stretch/>
        </p:blipFill>
        <p:spPr>
          <a:xfrm>
            <a:off x="1492921" y="1295400"/>
            <a:ext cx="6042271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7888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06723-1EF4-8C1F-58B5-7EA5EF81B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 from DFA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087748-890F-81CE-43DA-1E3F26F3C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F4D7D-4511-4919-9F3D-7E2B073B2EA7}" type="datetime1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5FDC6E-5E2D-D8C0-4919-420E3F00D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3F8FEB-610E-5469-3249-20B7F07CF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33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F8CA135-AAC8-6152-790C-1BE54B47E0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8334" t="26948" r="26666" b="14551"/>
          <a:stretch/>
        </p:blipFill>
        <p:spPr>
          <a:xfrm>
            <a:off x="1127449" y="1295400"/>
            <a:ext cx="6773215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6029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7C0C3-2C7B-BD37-9CFE-78C329023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>
                <a:solidFill>
                  <a:srgbClr val="C00000"/>
                </a:solidFill>
              </a:rPr>
              <a:t>Converting DFA to Regular Expression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C885F-F597-2857-3008-9B0AAFC827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0070C0"/>
                </a:solidFill>
              </a:rPr>
              <a:t>Converting DFA to Regular Expression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rgbClr val="0070C0"/>
                </a:solidFill>
              </a:rPr>
              <a:t>Method</a:t>
            </a:r>
          </a:p>
          <a:p>
            <a:pPr marL="0" indent="0" algn="ctr">
              <a:buNone/>
            </a:pPr>
            <a:endParaRPr lang="en-US" sz="2400" dirty="0"/>
          </a:p>
          <a:p>
            <a:pPr marL="0" indent="0" algn="ctr">
              <a:buNone/>
            </a:pPr>
            <a:endParaRPr lang="en-US" sz="2400" dirty="0"/>
          </a:p>
          <a:p>
            <a:pPr marL="0" indent="0" algn="ctr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Arden’s Method				State elimination method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algn="l" fontAlgn="base">
              <a:buFont typeface="+mj-lt"/>
              <a:buAutoNum type="arabicPeriod"/>
            </a:pPr>
            <a:r>
              <a:rPr lang="en-US" sz="2400" b="0" i="0" dirty="0">
                <a:solidFill>
                  <a:srgbClr val="303030"/>
                </a:solidFill>
                <a:effectLst/>
                <a:latin typeface="Arimo"/>
              </a:rPr>
              <a:t>Arden’s Method</a:t>
            </a:r>
          </a:p>
          <a:p>
            <a:pPr algn="l" fontAlgn="base">
              <a:buFont typeface="+mj-lt"/>
              <a:buAutoNum type="arabicPeriod"/>
            </a:pPr>
            <a:r>
              <a:rPr lang="en-US" sz="2400" b="0" i="0" dirty="0">
                <a:solidFill>
                  <a:srgbClr val="303030"/>
                </a:solidFill>
                <a:effectLst/>
                <a:latin typeface="Arimo"/>
              </a:rPr>
              <a:t>State Elimination Method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F7FADF-82E5-EE24-2898-F7A8BD06B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F4D7D-4511-4919-9F3D-7E2B073B2EA7}" type="datetime1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E0485B-3373-FA02-0199-8DBBB2C90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952CC4-4C05-92EF-DA41-B92AAF8F2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34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270866B-0B6A-8D17-3449-2397881592CB}"/>
              </a:ext>
            </a:extLst>
          </p:cNvPr>
          <p:cNvCxnSpPr/>
          <p:nvPr/>
        </p:nvCxnSpPr>
        <p:spPr>
          <a:xfrm>
            <a:off x="1371600" y="2286000"/>
            <a:ext cx="662940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603A331-44E2-D974-82D2-8F91333FC602}"/>
              </a:ext>
            </a:extLst>
          </p:cNvPr>
          <p:cNvCxnSpPr/>
          <p:nvPr/>
        </p:nvCxnSpPr>
        <p:spPr>
          <a:xfrm>
            <a:off x="1447800" y="2286000"/>
            <a:ext cx="0" cy="137160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FE7EA2B-096E-5ED2-C2B4-CF554E5D744B}"/>
              </a:ext>
            </a:extLst>
          </p:cNvPr>
          <p:cNvCxnSpPr/>
          <p:nvPr/>
        </p:nvCxnSpPr>
        <p:spPr>
          <a:xfrm>
            <a:off x="8001000" y="2255520"/>
            <a:ext cx="0" cy="137160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35945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BBB032D-FF29-4291-90AE-FC2E53A23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CSC3113: Theory of Computation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C60FBB-6B9C-4868-8840-BF8369C85E8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FF0000"/>
                </a:solidFill>
              </a:rPr>
              <a:t>DFA </a:t>
            </a:r>
            <a:r>
              <a:rPr lang="en-US" altLang="en-US" dirty="0">
                <a:solidFill>
                  <a:srgbClr val="FF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dirty="0">
                <a:solidFill>
                  <a:srgbClr val="FF0000"/>
                </a:solidFill>
              </a:rPr>
              <a:t> RE: </a:t>
            </a:r>
            <a:r>
              <a:rPr lang="en-US" altLang="en-US" sz="2800" i="1" dirty="0">
                <a:solidFill>
                  <a:srgbClr val="0070C0"/>
                </a:solidFill>
              </a:rPr>
              <a:t>State Elimination method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8D463C5-41FF-4711-B080-A11E9DA13B7A}"/>
              </a:ext>
            </a:extLst>
          </p:cNvPr>
          <p:cNvSpPr txBox="1">
            <a:spLocks/>
          </p:cNvSpPr>
          <p:nvPr/>
        </p:nvSpPr>
        <p:spPr>
          <a:xfrm>
            <a:off x="274320" y="1051220"/>
            <a:ext cx="8595360" cy="539967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55389" indent="-255389" algn="l" defTabSz="51435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14350" indent="-257175" algn="l" defTabSz="51435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09017" indent="-194667" algn="l" defTabSz="51435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00113" indent="-191096" algn="l" defTabSz="51435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1208" indent="-186631" algn="l" defTabSz="51435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88554" indent="-193775" algn="l" defTabSz="514350" rtl="0" eaLnBrk="1" latinLnBrk="0" hangingPunct="1">
              <a:spcBef>
                <a:spcPts val="338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013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76971" indent="-193775" algn="l" defTabSz="514350" rtl="0" eaLnBrk="1" latinLnBrk="0" hangingPunct="1">
              <a:spcBef>
                <a:spcPts val="338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013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70745" indent="-193775" algn="l" defTabSz="514350" rtl="0" eaLnBrk="1" latinLnBrk="0" hangingPunct="1">
              <a:spcBef>
                <a:spcPts val="338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013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63626" indent="-193775" algn="l" defTabSz="514350" rtl="0" eaLnBrk="1" latinLnBrk="0" hangingPunct="1">
              <a:spcBef>
                <a:spcPts val="338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013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base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600" b="1" dirty="0">
                <a:solidFill>
                  <a:srgbClr val="0070C0"/>
                </a:solidFill>
              </a:rPr>
              <a:t>The initial state of the DFA must not have any incoming edge.</a:t>
            </a:r>
          </a:p>
          <a:p>
            <a:pPr marL="0" indent="0" algn="just" fontAlgn="base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itchFamily="2" charset="2"/>
              <a:buNone/>
            </a:pPr>
            <a:r>
              <a:rPr lang="en-US" sz="2800" b="1" u="sng" dirty="0">
                <a:solidFill>
                  <a:srgbClr val="FF0000"/>
                </a:solidFill>
              </a:rPr>
              <a:t>Step-01:</a:t>
            </a:r>
          </a:p>
          <a:p>
            <a:pPr marL="0" indent="0" algn="just" fontAlgn="base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itchFamily="2" charset="2"/>
              <a:buNone/>
            </a:pPr>
            <a:endParaRPr lang="en-US" sz="1600" b="1" dirty="0">
              <a:solidFill>
                <a:srgbClr val="FF0000"/>
              </a:solidFill>
            </a:endParaRPr>
          </a:p>
          <a:p>
            <a:pPr lvl="1" algn="just" fontAlgn="base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Ø"/>
            </a:pPr>
            <a:r>
              <a:rPr lang="en-US" sz="2400" dirty="0"/>
              <a:t>If there exists any incoming edge to the initial state, then create a new initial state having no incoming edge to it.</a:t>
            </a:r>
          </a:p>
          <a:p>
            <a:pPr marL="0" lvl="1" indent="0" algn="just" fontAlgn="base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itchFamily="2" charset="2"/>
              <a:buNone/>
            </a:pPr>
            <a:r>
              <a:rPr lang="en-US" sz="2800" b="1" u="sng" dirty="0">
                <a:solidFill>
                  <a:srgbClr val="FF0000"/>
                </a:solidFill>
              </a:rPr>
              <a:t>Step-02:</a:t>
            </a:r>
            <a:endParaRPr lang="en-US" sz="2800" b="1" dirty="0">
              <a:solidFill>
                <a:srgbClr val="FF0000"/>
              </a:solidFill>
            </a:endParaRPr>
          </a:p>
          <a:p>
            <a:pPr marL="342900" lvl="1" indent="-342900" algn="just" fontAlgn="base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q"/>
            </a:pPr>
            <a:r>
              <a:rPr lang="en-US" sz="2600" b="1" dirty="0">
                <a:solidFill>
                  <a:srgbClr val="0070C0"/>
                </a:solidFill>
              </a:rPr>
              <a:t>There must exist only one final state in the DFA</a:t>
            </a:r>
            <a:r>
              <a:rPr lang="en-US" sz="2600" b="1" dirty="0"/>
              <a:t>.</a:t>
            </a:r>
          </a:p>
          <a:p>
            <a:pPr lvl="1" algn="just" fontAlgn="base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Ø"/>
            </a:pPr>
            <a:r>
              <a:rPr lang="en-US" sz="2200" dirty="0"/>
              <a:t>If there exists multiple final states in the DFA, then convert all the final states into non-final states and create a new single final state.</a:t>
            </a:r>
          </a:p>
          <a:p>
            <a:pPr lvl="1" algn="just" fontAlgn="base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Ø"/>
            </a:pPr>
            <a:r>
              <a:rPr lang="en-US" sz="2200" dirty="0"/>
              <a:t>The final state of the DFA must not have any outgoing edge</a:t>
            </a:r>
          </a:p>
        </p:txBody>
      </p:sp>
    </p:spTree>
    <p:extLst>
      <p:ext uri="{BB962C8B-B14F-4D97-AF65-F5344CB8AC3E}">
        <p14:creationId xmlns:p14="http://schemas.microsoft.com/office/powerpoint/2010/main" val="3364414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D2585CA-8F5F-4ECF-AEBA-D5D49B55C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CSC3113: Theory of Computation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FF639F-6927-4A58-A7C0-CC8785AB9DB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FF0000"/>
                </a:solidFill>
              </a:rPr>
              <a:t>DFA </a:t>
            </a:r>
            <a:r>
              <a:rPr lang="en-US" altLang="en-US" dirty="0">
                <a:solidFill>
                  <a:srgbClr val="FF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dirty="0">
                <a:solidFill>
                  <a:srgbClr val="FF0000"/>
                </a:solidFill>
              </a:rPr>
              <a:t> RE: </a:t>
            </a:r>
            <a:r>
              <a:rPr lang="en-US" altLang="en-US" sz="2800" i="1" dirty="0">
                <a:solidFill>
                  <a:srgbClr val="0070C0"/>
                </a:solidFill>
              </a:rPr>
              <a:t>State Elimination method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C8D616D-8DE6-4037-A6BB-BF3427F074D9}"/>
              </a:ext>
            </a:extLst>
          </p:cNvPr>
          <p:cNvSpPr txBox="1">
            <a:spLocks/>
          </p:cNvSpPr>
          <p:nvPr/>
        </p:nvSpPr>
        <p:spPr>
          <a:xfrm>
            <a:off x="259079" y="1005839"/>
            <a:ext cx="8590849" cy="544505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55389" indent="-255389" algn="l" defTabSz="51435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14350" indent="-257175" algn="l" defTabSz="51435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09017" indent="-194667" algn="l" defTabSz="51435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00113" indent="-191096" algn="l" defTabSz="51435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1208" indent="-186631" algn="l" defTabSz="51435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88554" indent="-193775" algn="l" defTabSz="514350" rtl="0" eaLnBrk="1" latinLnBrk="0" hangingPunct="1">
              <a:spcBef>
                <a:spcPts val="338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013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76971" indent="-193775" algn="l" defTabSz="514350" rtl="0" eaLnBrk="1" latinLnBrk="0" hangingPunct="1">
              <a:spcBef>
                <a:spcPts val="338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013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70745" indent="-193775" algn="l" defTabSz="514350" rtl="0" eaLnBrk="1" latinLnBrk="0" hangingPunct="1">
              <a:spcBef>
                <a:spcPts val="338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013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63626" indent="-193775" algn="l" defTabSz="514350" rtl="0" eaLnBrk="1" latinLnBrk="0" hangingPunct="1">
              <a:spcBef>
                <a:spcPts val="338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013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Font typeface="Wingdings" panose="05000000000000000000" pitchFamily="2" charset="2"/>
              <a:buChar char="q"/>
            </a:pPr>
            <a:r>
              <a:rPr lang="en-US" sz="2600" b="1" u="sng" dirty="0">
                <a:solidFill>
                  <a:srgbClr val="FF0000"/>
                </a:solidFill>
              </a:rPr>
              <a:t>Step-03:</a:t>
            </a:r>
            <a:endParaRPr lang="en-US" sz="2600" b="1" dirty="0">
              <a:solidFill>
                <a:srgbClr val="FF0000"/>
              </a:solidFill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Font typeface="Wingdings" panose="05000000000000000000" pitchFamily="2" charset="2"/>
              <a:buChar char="q"/>
            </a:pPr>
            <a:r>
              <a:rPr lang="en-US" sz="2600" dirty="0"/>
              <a:t> If there exists any outgoing edge from the final state, then create a new final state having no outgoing edge from it.</a:t>
            </a:r>
          </a:p>
          <a:p>
            <a:pPr fontAlgn="base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Font typeface="Wingdings" panose="05000000000000000000" pitchFamily="2" charset="2"/>
              <a:buChar char="q"/>
            </a:pPr>
            <a:r>
              <a:rPr lang="en-US" sz="2600" b="1" u="sng" dirty="0">
                <a:solidFill>
                  <a:srgbClr val="FF0000"/>
                </a:solidFill>
              </a:rPr>
              <a:t>Step-04:</a:t>
            </a:r>
            <a:endParaRPr lang="en-US" sz="2600" b="1" dirty="0">
              <a:solidFill>
                <a:srgbClr val="FF0000"/>
              </a:solidFill>
            </a:endParaRPr>
          </a:p>
          <a:p>
            <a:pPr lvl="1" fontAlgn="base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Font typeface="Wingdings" panose="05000000000000000000" pitchFamily="2" charset="2"/>
              <a:buChar char="q"/>
            </a:pPr>
            <a:r>
              <a:rPr lang="en-US" sz="2600" dirty="0"/>
              <a:t> Eliminate all the intermediate states one by one.</a:t>
            </a:r>
          </a:p>
          <a:p>
            <a:pPr lvl="1" fontAlgn="base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0070C0"/>
                </a:solidFill>
              </a:rPr>
              <a:t>These states may be eliminated in any order.</a:t>
            </a:r>
          </a:p>
          <a:p>
            <a:pPr marL="0" indent="0" fontAlgn="base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3000" dirty="0">
                <a:solidFill>
                  <a:srgbClr val="FF0000"/>
                </a:solidFill>
              </a:rPr>
              <a:t>In the end</a:t>
            </a:r>
          </a:p>
          <a:p>
            <a:pPr fontAlgn="base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Ø"/>
            </a:pPr>
            <a:r>
              <a:rPr lang="en-US" sz="2600" dirty="0">
                <a:solidFill>
                  <a:srgbClr val="0070C0"/>
                </a:solidFill>
              </a:rPr>
              <a:t>Only an initial state going to the final state will be left.</a:t>
            </a:r>
          </a:p>
          <a:p>
            <a:pPr fontAlgn="base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Ø"/>
            </a:pPr>
            <a:r>
              <a:rPr lang="en-US" sz="2600" dirty="0">
                <a:solidFill>
                  <a:schemeClr val="tx1"/>
                </a:solidFill>
              </a:rPr>
              <a:t>The cost of this transition is the required regular expression.</a:t>
            </a:r>
          </a:p>
          <a:p>
            <a:pPr lvl="1" fontAlgn="base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Font typeface="Wingdings" panose="05000000000000000000" pitchFamily="2" charset="2"/>
              <a:buChar char="q"/>
            </a:pPr>
            <a:endParaRPr lang="en-US" sz="26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4021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977DCD3-A2F6-4191-9E4E-F629B50A2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CSC3113: Theory of Computation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CE3E5-6860-4DA3-9615-31D6A277A04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FF0000"/>
                </a:solidFill>
                <a:sym typeface="Symbol" pitchFamily="18" charset="2"/>
              </a:rPr>
              <a:t>Converting a DFA to a regular expression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68ABDB-4E3F-4C1D-BD8C-786927FE4A2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-106360" y="1203960"/>
            <a:ext cx="9136063" cy="5120640"/>
          </a:xfrm>
        </p:spPr>
        <p:txBody>
          <a:bodyPr>
            <a:normAutofit lnSpcReduction="10000"/>
          </a:bodyPr>
          <a:lstStyle/>
          <a:p>
            <a:pPr eaLnBrk="1" hangingPunct="1">
              <a:spcAft>
                <a:spcPts val="60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2000" dirty="0"/>
              <a:t>This can be done in two parts. For this we introduce a new type of finite automata called </a:t>
            </a:r>
            <a:r>
              <a:rPr lang="en-US" altLang="en-US" sz="2000" b="1" i="1" dirty="0"/>
              <a:t>generalized nondeterministic automaton</a:t>
            </a:r>
            <a:r>
              <a:rPr lang="en-US" altLang="en-US" sz="2000" dirty="0"/>
              <a:t>, GNFA.</a:t>
            </a:r>
          </a:p>
          <a:p>
            <a:pPr lvl="1" eaLnBrk="1" hangingPunct="1">
              <a:spcAft>
                <a:spcPts val="60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800" dirty="0">
                <a:solidFill>
                  <a:srgbClr val="0070C0"/>
                </a:solidFill>
              </a:rPr>
              <a:t>First, we will convert a DFA to GNFA, and </a:t>
            </a:r>
          </a:p>
          <a:p>
            <a:pPr lvl="1" eaLnBrk="1" hangingPunct="1">
              <a:spcAft>
                <a:spcPts val="60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800" dirty="0">
                <a:solidFill>
                  <a:srgbClr val="0070C0"/>
                </a:solidFill>
              </a:rPr>
              <a:t>then GNFA to regular expression.</a:t>
            </a:r>
          </a:p>
          <a:p>
            <a:pPr eaLnBrk="1" hangingPunct="1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altLang="en-US" sz="2000" dirty="0"/>
              <a:t>GNFA has the following special form – </a:t>
            </a:r>
          </a:p>
          <a:p>
            <a:pPr lvl="1" eaLnBrk="1" hangingPunct="1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en-US" sz="1800" dirty="0"/>
              <a:t>Transition labels might be in regular expression form.</a:t>
            </a:r>
          </a:p>
          <a:p>
            <a:pPr lvl="1" eaLnBrk="1" hangingPunct="1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en-US" sz="1800" dirty="0">
                <a:solidFill>
                  <a:srgbClr val="0070C0"/>
                </a:solidFill>
              </a:rPr>
              <a:t>The start state doesn’t have any incoming arrow </a:t>
            </a:r>
            <a:br>
              <a:rPr lang="en-US" altLang="en-US" sz="1800" dirty="0">
                <a:solidFill>
                  <a:srgbClr val="0070C0"/>
                </a:solidFill>
              </a:rPr>
            </a:br>
            <a:r>
              <a:rPr lang="en-US" altLang="en-US" sz="1800" dirty="0">
                <a:solidFill>
                  <a:srgbClr val="0070C0"/>
                </a:solidFill>
              </a:rPr>
              <a:t>from any other state</a:t>
            </a:r>
            <a:r>
              <a:rPr lang="en-US" altLang="en-US" sz="1800" dirty="0"/>
              <a:t>.</a:t>
            </a:r>
          </a:p>
          <a:p>
            <a:pPr lvl="1" eaLnBrk="1" hangingPunct="1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en-US" sz="1800" dirty="0"/>
              <a:t>There is only one accept state, and it doesn’t </a:t>
            </a:r>
            <a:br>
              <a:rPr lang="en-US" altLang="en-US" sz="1800" dirty="0"/>
            </a:br>
            <a:r>
              <a:rPr lang="en-US" altLang="en-US" sz="1800" dirty="0"/>
              <a:t>have any outgoing arrow to any other state.</a:t>
            </a:r>
          </a:p>
          <a:p>
            <a:pPr lvl="1" eaLnBrk="1" hangingPunct="1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en-US" sz="1800" dirty="0">
                <a:solidFill>
                  <a:srgbClr val="0070C0"/>
                </a:solidFill>
              </a:rPr>
              <a:t>Start state is never the same as accept state</a:t>
            </a:r>
            <a:r>
              <a:rPr lang="en-US" altLang="en-US" sz="1800" dirty="0"/>
              <a:t>.</a:t>
            </a:r>
          </a:p>
          <a:p>
            <a:pPr lvl="1" eaLnBrk="1" hangingPunct="1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en-US" sz="1800" dirty="0"/>
              <a:t>There is only one outgoing arrow to any other </a:t>
            </a:r>
            <a:br>
              <a:rPr lang="en-US" altLang="en-US" sz="1800" dirty="0"/>
            </a:br>
            <a:r>
              <a:rPr lang="en-US" altLang="en-US" sz="1800" dirty="0"/>
              <a:t>state and to itself, except the start and accept </a:t>
            </a:r>
            <a:br>
              <a:rPr lang="en-US" altLang="en-US" sz="1800" dirty="0"/>
            </a:br>
            <a:r>
              <a:rPr lang="en-US" altLang="en-US" sz="1800" dirty="0"/>
              <a:t>states. We will consider </a:t>
            </a:r>
            <a:r>
              <a:rPr lang="en-US" altLang="en-US" sz="1800" i="1" dirty="0">
                <a:sym typeface="Symbol" panose="05050102010706020507" pitchFamily="18" charset="2"/>
              </a:rPr>
              <a:t></a:t>
            </a:r>
            <a:r>
              <a:rPr lang="en-US" altLang="en-US" sz="1800" dirty="0">
                <a:sym typeface="Symbol" panose="05050102010706020507" pitchFamily="18" charset="2"/>
              </a:rPr>
              <a:t> </a:t>
            </a:r>
            <a:r>
              <a:rPr lang="en-US" altLang="en-US" sz="1800" dirty="0"/>
              <a:t>labeled outgoing arrows, </a:t>
            </a:r>
            <a:br>
              <a:rPr lang="en-US" altLang="en-US" sz="1800" dirty="0"/>
            </a:br>
            <a:r>
              <a:rPr lang="en-US" altLang="en-US" sz="1800" dirty="0"/>
              <a:t>if no transition exists between any two states.</a:t>
            </a:r>
          </a:p>
        </p:txBody>
      </p:sp>
      <p:sp>
        <p:nvSpPr>
          <p:cNvPr id="5" name="Oval 5">
            <a:extLst>
              <a:ext uri="{FF2B5EF4-FFF2-40B4-BE49-F238E27FC236}">
                <a16:creationId xmlns:a16="http://schemas.microsoft.com/office/drawing/2014/main" id="{5A59F0B8-1156-4A02-8A74-522FE3313F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9903" y="2514600"/>
            <a:ext cx="533400" cy="533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6" name="Oval 6">
            <a:extLst>
              <a:ext uri="{FF2B5EF4-FFF2-40B4-BE49-F238E27FC236}">
                <a16:creationId xmlns:a16="http://schemas.microsoft.com/office/drawing/2014/main" id="{9158A297-E62E-4206-80F3-27C74E217A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3703" y="4572000"/>
            <a:ext cx="533400" cy="533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7" name="Oval 7">
            <a:extLst>
              <a:ext uri="{FF2B5EF4-FFF2-40B4-BE49-F238E27FC236}">
                <a16:creationId xmlns:a16="http://schemas.microsoft.com/office/drawing/2014/main" id="{202C3F1C-F0D6-4E59-99C8-7DC138796D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503" y="3581400"/>
            <a:ext cx="762000" cy="533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i="1"/>
              <a:t>q</a:t>
            </a:r>
            <a:r>
              <a:rPr lang="en-US" altLang="en-US" sz="1800" i="1" baseline="-25000"/>
              <a:t>start</a:t>
            </a:r>
          </a:p>
        </p:txBody>
      </p:sp>
      <p:sp>
        <p:nvSpPr>
          <p:cNvPr id="8" name="Oval 8">
            <a:extLst>
              <a:ext uri="{FF2B5EF4-FFF2-40B4-BE49-F238E27FC236}">
                <a16:creationId xmlns:a16="http://schemas.microsoft.com/office/drawing/2014/main" id="{BB30778E-6F1A-4E0B-9670-1A81F76287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5303" y="3581400"/>
            <a:ext cx="762000" cy="533400"/>
          </a:xfrm>
          <a:prstGeom prst="ellipse">
            <a:avLst/>
          </a:prstGeom>
          <a:noFill/>
          <a:ln w="38100" cmpd="dbl">
            <a:solidFill>
              <a:schemeClr val="tx1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i="1"/>
              <a:t>q</a:t>
            </a:r>
            <a:r>
              <a:rPr lang="en-US" altLang="en-US" sz="1800" i="1" baseline="-25000"/>
              <a:t>accept</a:t>
            </a:r>
          </a:p>
        </p:txBody>
      </p:sp>
      <p:cxnSp>
        <p:nvCxnSpPr>
          <p:cNvPr id="9" name="AutoShape 10">
            <a:extLst>
              <a:ext uri="{FF2B5EF4-FFF2-40B4-BE49-F238E27FC236}">
                <a16:creationId xmlns:a16="http://schemas.microsoft.com/office/drawing/2014/main" id="{3BFA8DBB-54C7-4B0E-8E44-BBCB26CDD355}"/>
              </a:ext>
            </a:extLst>
          </p:cNvPr>
          <p:cNvCxnSpPr>
            <a:cxnSpLocks noChangeShapeType="1"/>
            <a:stCxn id="7" idx="7"/>
            <a:endCxn id="5" idx="2"/>
          </p:cNvCxnSpPr>
          <p:nvPr/>
        </p:nvCxnSpPr>
        <p:spPr bwMode="auto">
          <a:xfrm rot="16200000">
            <a:off x="5868197" y="2707481"/>
            <a:ext cx="863600" cy="1011238"/>
          </a:xfrm>
          <a:prstGeom prst="curvedConnector2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" name="AutoShape 11">
            <a:extLst>
              <a:ext uri="{FF2B5EF4-FFF2-40B4-BE49-F238E27FC236}">
                <a16:creationId xmlns:a16="http://schemas.microsoft.com/office/drawing/2014/main" id="{1BE9E8ED-D5E6-48AC-B7C6-7499DB2DDDA2}"/>
              </a:ext>
            </a:extLst>
          </p:cNvPr>
          <p:cNvCxnSpPr>
            <a:cxnSpLocks noChangeShapeType="1"/>
            <a:stCxn id="7" idx="5"/>
            <a:endCxn id="6" idx="2"/>
          </p:cNvCxnSpPr>
          <p:nvPr/>
        </p:nvCxnSpPr>
        <p:spPr bwMode="auto">
          <a:xfrm rot="16200000" flipH="1">
            <a:off x="5868197" y="3977481"/>
            <a:ext cx="787400" cy="935038"/>
          </a:xfrm>
          <a:prstGeom prst="curvedConnector2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" name="AutoShape 12">
            <a:extLst>
              <a:ext uri="{FF2B5EF4-FFF2-40B4-BE49-F238E27FC236}">
                <a16:creationId xmlns:a16="http://schemas.microsoft.com/office/drawing/2014/main" id="{87510390-7D57-42DC-A87C-EA1C118D7A0C}"/>
              </a:ext>
            </a:extLst>
          </p:cNvPr>
          <p:cNvCxnSpPr>
            <a:cxnSpLocks noChangeShapeType="1"/>
            <a:stCxn id="7" idx="4"/>
            <a:endCxn id="8" idx="4"/>
          </p:cNvCxnSpPr>
          <p:nvPr/>
        </p:nvCxnSpPr>
        <p:spPr bwMode="auto">
          <a:xfrm rot="16200000" flipH="1">
            <a:off x="7008022" y="2645569"/>
            <a:ext cx="4762" cy="2971800"/>
          </a:xfrm>
          <a:prstGeom prst="curvedConnector3">
            <a:avLst>
              <a:gd name="adj1" fmla="val 39500014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AutoShape 13">
            <a:extLst>
              <a:ext uri="{FF2B5EF4-FFF2-40B4-BE49-F238E27FC236}">
                <a16:creationId xmlns:a16="http://schemas.microsoft.com/office/drawing/2014/main" id="{451B1CE7-BEE8-4297-9ACF-5EA68B60E2EA}"/>
              </a:ext>
            </a:extLst>
          </p:cNvPr>
          <p:cNvCxnSpPr>
            <a:cxnSpLocks noChangeShapeType="1"/>
            <a:stCxn id="5" idx="6"/>
            <a:endCxn id="8" idx="1"/>
          </p:cNvCxnSpPr>
          <p:nvPr/>
        </p:nvCxnSpPr>
        <p:spPr bwMode="auto">
          <a:xfrm>
            <a:off x="7367591" y="2781300"/>
            <a:ext cx="858837" cy="858838"/>
          </a:xfrm>
          <a:prstGeom prst="curvedConnector2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" name="AutoShape 14">
            <a:extLst>
              <a:ext uri="{FF2B5EF4-FFF2-40B4-BE49-F238E27FC236}">
                <a16:creationId xmlns:a16="http://schemas.microsoft.com/office/drawing/2014/main" id="{F3C66A1D-AE5A-44A2-A2EC-69906D5A7ABC}"/>
              </a:ext>
            </a:extLst>
          </p:cNvPr>
          <p:cNvCxnSpPr>
            <a:cxnSpLocks noChangeShapeType="1"/>
            <a:stCxn id="6" idx="6"/>
            <a:endCxn id="8" idx="3"/>
          </p:cNvCxnSpPr>
          <p:nvPr/>
        </p:nvCxnSpPr>
        <p:spPr bwMode="auto">
          <a:xfrm flipV="1">
            <a:off x="7291391" y="4056063"/>
            <a:ext cx="935037" cy="782637"/>
          </a:xfrm>
          <a:prstGeom prst="curvedConnector2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AutoShape 16">
            <a:extLst>
              <a:ext uri="{FF2B5EF4-FFF2-40B4-BE49-F238E27FC236}">
                <a16:creationId xmlns:a16="http://schemas.microsoft.com/office/drawing/2014/main" id="{6AF15C6A-B8CE-449B-B37E-1883025F2C1E}"/>
              </a:ext>
            </a:extLst>
          </p:cNvPr>
          <p:cNvCxnSpPr>
            <a:cxnSpLocks noChangeShapeType="1"/>
            <a:stCxn id="5" idx="3"/>
            <a:endCxn id="6" idx="1"/>
          </p:cNvCxnSpPr>
          <p:nvPr/>
        </p:nvCxnSpPr>
        <p:spPr bwMode="auto">
          <a:xfrm flipH="1">
            <a:off x="6821491" y="2984500"/>
            <a:ext cx="76200" cy="16510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" name="AutoShape 17">
            <a:extLst>
              <a:ext uri="{FF2B5EF4-FFF2-40B4-BE49-F238E27FC236}">
                <a16:creationId xmlns:a16="http://schemas.microsoft.com/office/drawing/2014/main" id="{30A09E94-BCD9-4B3D-BEEB-9540F3A1D455}"/>
              </a:ext>
            </a:extLst>
          </p:cNvPr>
          <p:cNvCxnSpPr>
            <a:cxnSpLocks noChangeShapeType="1"/>
            <a:stCxn id="6" idx="7"/>
            <a:endCxn id="5" idx="5"/>
          </p:cNvCxnSpPr>
          <p:nvPr/>
        </p:nvCxnSpPr>
        <p:spPr bwMode="auto">
          <a:xfrm flipV="1">
            <a:off x="7199316" y="2984500"/>
            <a:ext cx="76200" cy="16510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" name="AutoShape 18">
            <a:extLst>
              <a:ext uri="{FF2B5EF4-FFF2-40B4-BE49-F238E27FC236}">
                <a16:creationId xmlns:a16="http://schemas.microsoft.com/office/drawing/2014/main" id="{6DD85AAC-62FB-404A-85A7-E2C512D17EA4}"/>
              </a:ext>
            </a:extLst>
          </p:cNvPr>
          <p:cNvCxnSpPr>
            <a:cxnSpLocks noChangeShapeType="1"/>
            <a:stCxn id="6" idx="3"/>
            <a:endCxn id="6" idx="5"/>
          </p:cNvCxnSpPr>
          <p:nvPr/>
        </p:nvCxnSpPr>
        <p:spPr bwMode="auto">
          <a:xfrm rot="16200000" flipH="1">
            <a:off x="7009610" y="4853781"/>
            <a:ext cx="1588" cy="377825"/>
          </a:xfrm>
          <a:prstGeom prst="curvedConnector3">
            <a:avLst>
              <a:gd name="adj1" fmla="val 33700014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" name="AutoShape 19">
            <a:extLst>
              <a:ext uri="{FF2B5EF4-FFF2-40B4-BE49-F238E27FC236}">
                <a16:creationId xmlns:a16="http://schemas.microsoft.com/office/drawing/2014/main" id="{710F1F78-857F-4AF8-A8E8-072E5417A19F}"/>
              </a:ext>
            </a:extLst>
          </p:cNvPr>
          <p:cNvCxnSpPr>
            <a:cxnSpLocks noChangeShapeType="1"/>
            <a:stCxn id="5" idx="1"/>
            <a:endCxn id="5" idx="7"/>
          </p:cNvCxnSpPr>
          <p:nvPr/>
        </p:nvCxnSpPr>
        <p:spPr bwMode="auto">
          <a:xfrm rot="5400000" flipV="1">
            <a:off x="7085810" y="2389981"/>
            <a:ext cx="1588" cy="377825"/>
          </a:xfrm>
          <a:prstGeom prst="curvedConnector3">
            <a:avLst>
              <a:gd name="adj1" fmla="val -33700014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" name="Line 20">
            <a:extLst>
              <a:ext uri="{FF2B5EF4-FFF2-40B4-BE49-F238E27FC236}">
                <a16:creationId xmlns:a16="http://schemas.microsoft.com/office/drawing/2014/main" id="{5BB0A8FE-4C3B-4AC6-B4B8-94B05709FCF0}"/>
              </a:ext>
            </a:extLst>
          </p:cNvPr>
          <p:cNvSpPr>
            <a:spLocks noChangeShapeType="1"/>
          </p:cNvSpPr>
          <p:nvPr/>
        </p:nvSpPr>
        <p:spPr bwMode="auto">
          <a:xfrm>
            <a:off x="5448303" y="3048000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Text Box 21">
            <a:extLst>
              <a:ext uri="{FF2B5EF4-FFF2-40B4-BE49-F238E27FC236}">
                <a16:creationId xmlns:a16="http://schemas.microsoft.com/office/drawing/2014/main" id="{B7A9B7D0-680B-41C1-A786-F931919113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3103" y="2667000"/>
            <a:ext cx="533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/>
              <a:t>ab*</a:t>
            </a:r>
          </a:p>
        </p:txBody>
      </p:sp>
      <p:sp>
        <p:nvSpPr>
          <p:cNvPr id="20" name="Text Box 22">
            <a:extLst>
              <a:ext uri="{FF2B5EF4-FFF2-40B4-BE49-F238E27FC236}">
                <a16:creationId xmlns:a16="http://schemas.microsoft.com/office/drawing/2014/main" id="{77CAF084-F76D-456B-924B-4AB4D4802E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8903" y="3505200"/>
            <a:ext cx="533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/>
              <a:t>a*</a:t>
            </a:r>
          </a:p>
        </p:txBody>
      </p:sp>
      <p:sp>
        <p:nvSpPr>
          <p:cNvPr id="21" name="Text Box 23">
            <a:extLst>
              <a:ext uri="{FF2B5EF4-FFF2-40B4-BE49-F238E27FC236}">
                <a16:creationId xmlns:a16="http://schemas.microsoft.com/office/drawing/2014/main" id="{4BC74447-8283-4951-BA86-B68E657E4E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0903" y="3581400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/>
              <a:t>(aa)*</a:t>
            </a:r>
          </a:p>
        </p:txBody>
      </p:sp>
      <p:sp>
        <p:nvSpPr>
          <p:cNvPr id="22" name="Text Box 24">
            <a:extLst>
              <a:ext uri="{FF2B5EF4-FFF2-40B4-BE49-F238E27FC236}">
                <a16:creationId xmlns:a16="http://schemas.microsoft.com/office/drawing/2014/main" id="{9A977FAE-6B4E-49F4-8D81-649E9EB3DA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1703" y="4267200"/>
            <a:ext cx="533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>
                <a:sym typeface="Symbol" panose="05050102010706020507" pitchFamily="18" charset="2"/>
              </a:rPr>
              <a:t></a:t>
            </a:r>
          </a:p>
        </p:txBody>
      </p:sp>
      <p:sp>
        <p:nvSpPr>
          <p:cNvPr id="23" name="Text Box 25">
            <a:extLst>
              <a:ext uri="{FF2B5EF4-FFF2-40B4-BE49-F238E27FC236}">
                <a16:creationId xmlns:a16="http://schemas.microsoft.com/office/drawing/2014/main" id="{ACF5A454-22C7-4E7D-A3AB-9D91B546B1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5703" y="4343400"/>
            <a:ext cx="533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/>
              <a:t>b*</a:t>
            </a:r>
          </a:p>
        </p:txBody>
      </p:sp>
      <p:sp>
        <p:nvSpPr>
          <p:cNvPr id="24" name="Text Box 26">
            <a:extLst>
              <a:ext uri="{FF2B5EF4-FFF2-40B4-BE49-F238E27FC236}">
                <a16:creationId xmlns:a16="http://schemas.microsoft.com/office/drawing/2014/main" id="{E523D342-9379-4E90-943C-C9B8D52B99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0903" y="1905000"/>
            <a:ext cx="533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/>
              <a:t>aa</a:t>
            </a:r>
          </a:p>
        </p:txBody>
      </p:sp>
      <p:sp>
        <p:nvSpPr>
          <p:cNvPr id="25" name="Text Box 27">
            <a:extLst>
              <a:ext uri="{FF2B5EF4-FFF2-40B4-BE49-F238E27FC236}">
                <a16:creationId xmlns:a16="http://schemas.microsoft.com/office/drawing/2014/main" id="{219848B8-4ACA-4F12-8B31-8198A9FB91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6703" y="2743200"/>
            <a:ext cx="1143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/>
              <a:t>ab </a:t>
            </a:r>
            <a:r>
              <a:rPr lang="en-US" altLang="en-US" sz="1800">
                <a:sym typeface="Symbol" panose="05050102010706020507" pitchFamily="18" charset="2"/>
              </a:rPr>
              <a:t> </a:t>
            </a:r>
            <a:r>
              <a:rPr lang="en-US" altLang="en-US" sz="1800"/>
              <a:t>ba</a:t>
            </a:r>
          </a:p>
        </p:txBody>
      </p:sp>
      <p:sp>
        <p:nvSpPr>
          <p:cNvPr id="26" name="Text Box 28">
            <a:extLst>
              <a:ext uri="{FF2B5EF4-FFF2-40B4-BE49-F238E27FC236}">
                <a16:creationId xmlns:a16="http://schemas.microsoft.com/office/drawing/2014/main" id="{1250AAA3-5F44-4A99-A7A1-FE2837DFC4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24703" y="5257800"/>
            <a:ext cx="533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/>
              <a:t>ab</a:t>
            </a:r>
          </a:p>
        </p:txBody>
      </p:sp>
      <p:sp>
        <p:nvSpPr>
          <p:cNvPr id="27" name="Text Box 29">
            <a:extLst>
              <a:ext uri="{FF2B5EF4-FFF2-40B4-BE49-F238E27FC236}">
                <a16:creationId xmlns:a16="http://schemas.microsoft.com/office/drawing/2014/main" id="{1B011163-D31C-4B9D-9052-8DECAC1E0F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2103" y="4876800"/>
            <a:ext cx="533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2626400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mph" presetSubtype="1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96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3" presetClass="emph" presetSubtype="1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98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3" presetClass="emph" presetSubtype="1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00" dur="indefinit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3" presetClass="emph" presetSubtype="1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02" dur="indefinite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3" presetClass="emph" presetSubtype="1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04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3" presetClass="emph" presetSubtype="1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06" dur="indefinite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3" presetClass="emph" presetSubtype="1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08" dur="indefinite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3" presetClass="emph" presetSubtype="1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10" dur="indefinite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3" presetClass="emph" presetSubtype="1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14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16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18" dur="indefinit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20" dur="indefinite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22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3" presetClass="emph" presetSubtype="1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24" dur="indefinite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26" dur="indefinite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28" dur="indefinite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30" dur="indefinite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mph" presetSubtype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34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5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0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1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mph" presetSubtype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5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6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1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2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" presetClass="emph" presetSubtype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6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7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mph" presetSubtype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61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2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67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8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71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2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77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8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81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84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87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92" dur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3" dur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96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99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indefinite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02" dur="indefinite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8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07" dur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8" dur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8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11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8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14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8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17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22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3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9" grpId="0"/>
      <p:bldP spid="19" grpId="1"/>
      <p:bldP spid="19" grpId="2"/>
      <p:bldP spid="20" grpId="0"/>
      <p:bldP spid="20" grpId="1"/>
      <p:bldP spid="20" grpId="2"/>
      <p:bldP spid="21" grpId="0"/>
      <p:bldP spid="21" grpId="1"/>
      <p:bldP spid="21" grpId="2"/>
      <p:bldP spid="22" grpId="0"/>
      <p:bldP spid="22" grpId="1"/>
      <p:bldP spid="23" grpId="0"/>
      <p:bldP spid="23" grpId="1"/>
      <p:bldP spid="23" grpId="2"/>
      <p:bldP spid="24" grpId="0"/>
      <p:bldP spid="24" grpId="1"/>
      <p:bldP spid="24" grpId="2"/>
      <p:bldP spid="25" grpId="0"/>
      <p:bldP spid="25" grpId="1"/>
      <p:bldP spid="25" grpId="2"/>
      <p:bldP spid="26" grpId="0"/>
      <p:bldP spid="26" grpId="1"/>
      <p:bldP spid="26" grpId="2"/>
      <p:bldP spid="27" grpId="0"/>
      <p:bldP spid="27" grpId="1"/>
      <p:bldP spid="27" grpId="2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AEF4654-6500-47F8-8A46-6043B4133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CSC3113: Theory of Computation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0FB2BB-616B-4389-B2EA-8F8788B404B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sym typeface="Symbol" pitchFamily="18" charset="2"/>
              </a:rPr>
              <a:t>Converting a DFA to GNFA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2EB7F7-97E1-49C8-A3A6-8877D78956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" y="1356360"/>
            <a:ext cx="4980212" cy="5120640"/>
          </a:xfrm>
        </p:spPr>
        <p:txBody>
          <a:bodyPr>
            <a:normAutofit fontScale="92500"/>
          </a:bodyPr>
          <a:lstStyle/>
          <a:p>
            <a:pPr algn="just" eaLnBrk="1" hangingPunct="1">
              <a:spcAft>
                <a:spcPts val="60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2200" dirty="0"/>
              <a:t>Add a new start state with an </a:t>
            </a:r>
            <a:r>
              <a:rPr lang="en-US" altLang="en-US" sz="2200" i="1" dirty="0">
                <a:sym typeface="Symbol" panose="05050102010706020507" pitchFamily="18" charset="2"/>
              </a:rPr>
              <a:t></a:t>
            </a:r>
            <a:r>
              <a:rPr lang="en-US" altLang="en-US" sz="2200" dirty="0">
                <a:sym typeface="Symbol" panose="05050102010706020507" pitchFamily="18" charset="2"/>
              </a:rPr>
              <a:t> </a:t>
            </a:r>
            <a:r>
              <a:rPr lang="en-US" altLang="en-US" sz="2200" dirty="0"/>
              <a:t>arrow to the old start state.</a:t>
            </a:r>
          </a:p>
          <a:p>
            <a:pPr algn="just" eaLnBrk="1" hangingPunct="1">
              <a:spcAft>
                <a:spcPts val="60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2200" dirty="0">
                <a:solidFill>
                  <a:srgbClr val="0070C0"/>
                </a:solidFill>
              </a:rPr>
              <a:t>Add new accept state with </a:t>
            </a:r>
            <a:r>
              <a:rPr lang="en-US" altLang="en-US" sz="2200" i="1" dirty="0">
                <a:solidFill>
                  <a:srgbClr val="0070C0"/>
                </a:solidFill>
                <a:sym typeface="Symbol" panose="05050102010706020507" pitchFamily="18" charset="2"/>
              </a:rPr>
              <a:t></a:t>
            </a:r>
            <a:r>
              <a:rPr lang="en-US" altLang="en-US" sz="2200" dirty="0">
                <a:solidFill>
                  <a:srgbClr val="0070C0"/>
                </a:solidFill>
              </a:rPr>
              <a:t>  arrows from the old accept states.</a:t>
            </a:r>
          </a:p>
          <a:p>
            <a:pPr algn="just" eaLnBrk="1" hangingPunct="1">
              <a:spcAft>
                <a:spcPts val="60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2200" dirty="0"/>
              <a:t>If any arrows have multiple labels, union the previous labels into one label.</a:t>
            </a:r>
            <a:endParaRPr lang="en-US" altLang="en-US" sz="2200" dirty="0">
              <a:solidFill>
                <a:srgbClr val="0070C0"/>
              </a:solidFill>
            </a:endParaRPr>
          </a:p>
          <a:p>
            <a:pPr algn="just" eaLnBrk="1" hangingPunct="1">
              <a:spcAft>
                <a:spcPts val="60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2200" dirty="0">
                <a:solidFill>
                  <a:srgbClr val="0070C0"/>
                </a:solidFill>
              </a:rPr>
              <a:t>Add arrows with </a:t>
            </a:r>
            <a:r>
              <a:rPr lang="en-US" altLang="en-US" sz="2200" i="1" dirty="0">
                <a:solidFill>
                  <a:srgbClr val="0070C0"/>
                </a:solidFill>
                <a:sym typeface="Symbol" panose="05050102010706020507" pitchFamily="18" charset="2"/>
              </a:rPr>
              <a:t></a:t>
            </a:r>
            <a:r>
              <a:rPr lang="en-US" altLang="en-US" sz="2200" dirty="0">
                <a:solidFill>
                  <a:srgbClr val="0070C0"/>
                </a:solidFill>
                <a:sym typeface="Symbol" panose="05050102010706020507" pitchFamily="18" charset="2"/>
              </a:rPr>
              <a:t> label between states where there are no arrows. This won’t change the language as </a:t>
            </a:r>
            <a:br>
              <a:rPr lang="en-US" altLang="en-US" sz="2200" dirty="0">
                <a:solidFill>
                  <a:srgbClr val="0070C0"/>
                </a:solidFill>
                <a:sym typeface="Symbol" panose="05050102010706020507" pitchFamily="18" charset="2"/>
              </a:rPr>
            </a:br>
            <a:r>
              <a:rPr lang="en-US" altLang="en-US" sz="2200" i="1" dirty="0">
                <a:solidFill>
                  <a:srgbClr val="0070C0"/>
                </a:solidFill>
                <a:sym typeface="Symbol" panose="05050102010706020507" pitchFamily="18" charset="2"/>
              </a:rPr>
              <a:t></a:t>
            </a:r>
            <a:r>
              <a:rPr lang="en-US" altLang="en-US" sz="2200" dirty="0">
                <a:solidFill>
                  <a:srgbClr val="0070C0"/>
                </a:solidFill>
                <a:sym typeface="Symbol" panose="05050102010706020507" pitchFamily="18" charset="2"/>
              </a:rPr>
              <a:t> label arrows can never be used. </a:t>
            </a:r>
          </a:p>
          <a:p>
            <a:pPr lvl="1" algn="just" eaLnBrk="1" hangingPunct="1">
              <a:spcAft>
                <a:spcPts val="60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2200" dirty="0">
                <a:sym typeface="Symbol" panose="05050102010706020507" pitchFamily="18" charset="2"/>
              </a:rPr>
              <a:t>Even we might ignore adding such arrows, as these are arrows which can be assumed to be there with no use.</a:t>
            </a:r>
          </a:p>
        </p:txBody>
      </p:sp>
      <p:sp>
        <p:nvSpPr>
          <p:cNvPr id="7" name="Oval 4">
            <a:extLst>
              <a:ext uri="{FF2B5EF4-FFF2-40B4-BE49-F238E27FC236}">
                <a16:creationId xmlns:a16="http://schemas.microsoft.com/office/drawing/2014/main" id="{BA6B537F-2435-45A9-AF2C-C5F965EB1C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6710" y="2269677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1</a:t>
            </a:r>
          </a:p>
        </p:txBody>
      </p:sp>
      <p:sp>
        <p:nvSpPr>
          <p:cNvPr id="8" name="Oval 5">
            <a:extLst>
              <a:ext uri="{FF2B5EF4-FFF2-40B4-BE49-F238E27FC236}">
                <a16:creationId xmlns:a16="http://schemas.microsoft.com/office/drawing/2014/main" id="{BFCB317D-BB96-4291-9B6E-08552852A6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6710" y="4174677"/>
            <a:ext cx="762000" cy="762000"/>
          </a:xfrm>
          <a:prstGeom prst="ellipse">
            <a:avLst/>
          </a:prstGeom>
          <a:noFill/>
          <a:ln w="38100" cmpd="dbl">
            <a:solidFill>
              <a:schemeClr val="tx1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/>
              <a:t>2</a:t>
            </a:r>
          </a:p>
        </p:txBody>
      </p:sp>
      <p:cxnSp>
        <p:nvCxnSpPr>
          <p:cNvPr id="9" name="AutoShape 6">
            <a:extLst>
              <a:ext uri="{FF2B5EF4-FFF2-40B4-BE49-F238E27FC236}">
                <a16:creationId xmlns:a16="http://schemas.microsoft.com/office/drawing/2014/main" id="{E529DBFA-0596-4F1B-8E6F-4FA91DFB9F6E}"/>
              </a:ext>
            </a:extLst>
          </p:cNvPr>
          <p:cNvCxnSpPr>
            <a:cxnSpLocks noChangeShapeType="1"/>
            <a:stCxn id="7" idx="4"/>
            <a:endCxn id="8" idx="0"/>
          </p:cNvCxnSpPr>
          <p:nvPr/>
        </p:nvCxnSpPr>
        <p:spPr bwMode="auto">
          <a:xfrm>
            <a:off x="7837710" y="3045965"/>
            <a:ext cx="0" cy="1109662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" name="AutoShape 7">
            <a:extLst>
              <a:ext uri="{FF2B5EF4-FFF2-40B4-BE49-F238E27FC236}">
                <a16:creationId xmlns:a16="http://schemas.microsoft.com/office/drawing/2014/main" id="{E8A25864-DD94-487A-BB36-58684E5F1CDA}"/>
              </a:ext>
            </a:extLst>
          </p:cNvPr>
          <p:cNvCxnSpPr>
            <a:cxnSpLocks noChangeShapeType="1"/>
            <a:stCxn id="7" idx="5"/>
            <a:endCxn id="7" idx="7"/>
          </p:cNvCxnSpPr>
          <p:nvPr/>
        </p:nvCxnSpPr>
        <p:spPr bwMode="auto">
          <a:xfrm rot="5400000" flipH="1" flipV="1">
            <a:off x="7824216" y="2649884"/>
            <a:ext cx="568325" cy="1588"/>
          </a:xfrm>
          <a:prstGeom prst="curvedConnector5">
            <a:avLst>
              <a:gd name="adj1" fmla="val -3912"/>
              <a:gd name="adj2" fmla="val 28000009"/>
              <a:gd name="adj3" fmla="val 124301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" name="AutoShape 8">
            <a:extLst>
              <a:ext uri="{FF2B5EF4-FFF2-40B4-BE49-F238E27FC236}">
                <a16:creationId xmlns:a16="http://schemas.microsoft.com/office/drawing/2014/main" id="{CCB66D43-C95C-49C1-BC46-AEEE9A7988EF}"/>
              </a:ext>
            </a:extLst>
          </p:cNvPr>
          <p:cNvCxnSpPr>
            <a:cxnSpLocks noChangeShapeType="1"/>
            <a:stCxn id="8" idx="5"/>
            <a:endCxn id="8" idx="7"/>
          </p:cNvCxnSpPr>
          <p:nvPr/>
        </p:nvCxnSpPr>
        <p:spPr bwMode="auto">
          <a:xfrm rot="5400000" flipH="1" flipV="1">
            <a:off x="7819454" y="4554883"/>
            <a:ext cx="577850" cy="1588"/>
          </a:xfrm>
          <a:prstGeom prst="curvedConnector5">
            <a:avLst>
              <a:gd name="adj1" fmla="val -16759"/>
              <a:gd name="adj2" fmla="val 28000009"/>
              <a:gd name="adj3" fmla="val 123347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" name="Line 9">
            <a:extLst>
              <a:ext uri="{FF2B5EF4-FFF2-40B4-BE49-F238E27FC236}">
                <a16:creationId xmlns:a16="http://schemas.microsoft.com/office/drawing/2014/main" id="{E6235772-B033-404C-85BF-097432A2CB0E}"/>
              </a:ext>
            </a:extLst>
          </p:cNvPr>
          <p:cNvSpPr>
            <a:spLocks noChangeShapeType="1"/>
          </p:cNvSpPr>
          <p:nvPr/>
        </p:nvSpPr>
        <p:spPr bwMode="auto">
          <a:xfrm>
            <a:off x="6999510" y="2650677"/>
            <a:ext cx="45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Text Box 10">
            <a:extLst>
              <a:ext uri="{FF2B5EF4-FFF2-40B4-BE49-F238E27FC236}">
                <a16:creationId xmlns:a16="http://schemas.microsoft.com/office/drawing/2014/main" id="{978E2448-F893-4F5E-B975-0C04B947DB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23510" y="2283965"/>
            <a:ext cx="609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b="1" i="1"/>
              <a:t>a</a:t>
            </a:r>
          </a:p>
        </p:txBody>
      </p:sp>
      <p:sp>
        <p:nvSpPr>
          <p:cNvPr id="14" name="Text Box 11">
            <a:extLst>
              <a:ext uri="{FF2B5EF4-FFF2-40B4-BE49-F238E27FC236}">
                <a16:creationId xmlns:a16="http://schemas.microsoft.com/office/drawing/2014/main" id="{AAAD4B81-AD96-4528-A322-99670106FC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4210" y="3274565"/>
            <a:ext cx="381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b="1" i="1"/>
              <a:t>b</a:t>
            </a:r>
          </a:p>
        </p:txBody>
      </p:sp>
      <p:sp>
        <p:nvSpPr>
          <p:cNvPr id="15" name="Text Box 12">
            <a:extLst>
              <a:ext uri="{FF2B5EF4-FFF2-40B4-BE49-F238E27FC236}">
                <a16:creationId xmlns:a16="http://schemas.microsoft.com/office/drawing/2014/main" id="{481C666B-A259-4F1D-ACCD-A5E47BF18A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2510" y="3793677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b="1" i="1"/>
              <a:t>a</a:t>
            </a:r>
            <a:r>
              <a:rPr lang="en-US" altLang="en-US" sz="1800" b="1"/>
              <a:t>,</a:t>
            </a:r>
            <a:r>
              <a:rPr lang="en-US" altLang="en-US" sz="1800" b="1" i="1"/>
              <a:t>b</a:t>
            </a:r>
          </a:p>
        </p:txBody>
      </p:sp>
      <p:sp>
        <p:nvSpPr>
          <p:cNvPr id="16" name="Text Box 13">
            <a:extLst>
              <a:ext uri="{FF2B5EF4-FFF2-40B4-BE49-F238E27FC236}">
                <a16:creationId xmlns:a16="http://schemas.microsoft.com/office/drawing/2014/main" id="{F688F94D-68D3-4EC6-9B55-EA2A452C92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2510" y="3807965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b="1" i="1"/>
              <a:t>a</a:t>
            </a:r>
            <a:r>
              <a:rPr lang="en-US" altLang="en-US" sz="1800" b="1">
                <a:sym typeface="Symbol" panose="05050102010706020507" pitchFamily="18" charset="2"/>
              </a:rPr>
              <a:t></a:t>
            </a:r>
            <a:r>
              <a:rPr lang="en-US" altLang="en-US" sz="1800" b="1" i="1"/>
              <a:t>b</a:t>
            </a:r>
          </a:p>
        </p:txBody>
      </p:sp>
      <p:sp>
        <p:nvSpPr>
          <p:cNvPr id="17" name="Oval 14">
            <a:extLst>
              <a:ext uri="{FF2B5EF4-FFF2-40B4-BE49-F238E27FC236}">
                <a16:creationId xmlns:a16="http://schemas.microsoft.com/office/drawing/2014/main" id="{340B71A5-34A9-4B14-A0C9-32A47D8297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7910" y="2269677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 i="1"/>
              <a:t>s</a:t>
            </a:r>
          </a:p>
        </p:txBody>
      </p:sp>
      <p:sp>
        <p:nvSpPr>
          <p:cNvPr id="18" name="Oval 15">
            <a:extLst>
              <a:ext uri="{FF2B5EF4-FFF2-40B4-BE49-F238E27FC236}">
                <a16:creationId xmlns:a16="http://schemas.microsoft.com/office/drawing/2014/main" id="{C113444D-3E1A-4F9B-ABDB-5C3244FBA4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7910" y="4174677"/>
            <a:ext cx="762000" cy="762000"/>
          </a:xfrm>
          <a:prstGeom prst="ellipse">
            <a:avLst/>
          </a:prstGeom>
          <a:noFill/>
          <a:ln w="38100" cmpd="dbl">
            <a:solidFill>
              <a:schemeClr val="tx1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/>
              <a:t>f</a:t>
            </a:r>
          </a:p>
        </p:txBody>
      </p:sp>
      <p:sp>
        <p:nvSpPr>
          <p:cNvPr id="19" name="Oval 16">
            <a:extLst>
              <a:ext uri="{FF2B5EF4-FFF2-40B4-BE49-F238E27FC236}">
                <a16:creationId xmlns:a16="http://schemas.microsoft.com/office/drawing/2014/main" id="{7E438144-315A-4327-9470-DE0F1C75EC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6710" y="4174677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/>
              <a:t>2</a:t>
            </a:r>
          </a:p>
        </p:txBody>
      </p:sp>
      <p:cxnSp>
        <p:nvCxnSpPr>
          <p:cNvPr id="20" name="AutoShape 17">
            <a:extLst>
              <a:ext uri="{FF2B5EF4-FFF2-40B4-BE49-F238E27FC236}">
                <a16:creationId xmlns:a16="http://schemas.microsoft.com/office/drawing/2014/main" id="{F722B0E0-2A11-4B30-9BCB-6C31B06D2DC9}"/>
              </a:ext>
            </a:extLst>
          </p:cNvPr>
          <p:cNvCxnSpPr>
            <a:cxnSpLocks noChangeShapeType="1"/>
            <a:stCxn id="19" idx="2"/>
            <a:endCxn id="18" idx="6"/>
          </p:cNvCxnSpPr>
          <p:nvPr/>
        </p:nvCxnSpPr>
        <p:spPr bwMode="auto">
          <a:xfrm flipH="1">
            <a:off x="6408960" y="4555677"/>
            <a:ext cx="1033463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" name="Text Box 18">
            <a:extLst>
              <a:ext uri="{FF2B5EF4-FFF2-40B4-BE49-F238E27FC236}">
                <a16:creationId xmlns:a16="http://schemas.microsoft.com/office/drawing/2014/main" id="{BBA2C2F2-B7FE-4CBC-92C8-C1FAEAD8E3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0910" y="4174677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 i="1"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22" name="Text Box 19">
            <a:extLst>
              <a:ext uri="{FF2B5EF4-FFF2-40B4-BE49-F238E27FC236}">
                <a16:creationId xmlns:a16="http://schemas.microsoft.com/office/drawing/2014/main" id="{B36AA556-0CA6-4AD7-818A-FAE0E9E0F8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0910" y="2269677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 i="1" dirty="0">
                <a:sym typeface="Symbol" panose="05050102010706020507" pitchFamily="18" charset="2"/>
              </a:rPr>
              <a:t></a:t>
            </a:r>
          </a:p>
        </p:txBody>
      </p:sp>
      <p:cxnSp>
        <p:nvCxnSpPr>
          <p:cNvPr id="23" name="AutoShape 20">
            <a:extLst>
              <a:ext uri="{FF2B5EF4-FFF2-40B4-BE49-F238E27FC236}">
                <a16:creationId xmlns:a16="http://schemas.microsoft.com/office/drawing/2014/main" id="{B429A3F9-AEDA-4404-9A10-02BC560DB105}"/>
              </a:ext>
            </a:extLst>
          </p:cNvPr>
          <p:cNvCxnSpPr>
            <a:cxnSpLocks noChangeShapeType="1"/>
            <a:stCxn id="7" idx="3"/>
            <a:endCxn id="18" idx="7"/>
          </p:cNvCxnSpPr>
          <p:nvPr/>
        </p:nvCxnSpPr>
        <p:spPr bwMode="auto">
          <a:xfrm flipH="1">
            <a:off x="6278785" y="2934840"/>
            <a:ext cx="1289050" cy="1331912"/>
          </a:xfrm>
          <a:prstGeom prst="straightConnector1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" name="Text Box 21">
            <a:extLst>
              <a:ext uri="{FF2B5EF4-FFF2-40B4-BE49-F238E27FC236}">
                <a16:creationId xmlns:a16="http://schemas.microsoft.com/office/drawing/2014/main" id="{6E4A3EEC-A001-4B97-8E45-B424D01B32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2710" y="3412677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i="1">
                <a:solidFill>
                  <a:schemeClr val="accent2"/>
                </a:solidFill>
                <a:sym typeface="Symbol" panose="05050102010706020507" pitchFamily="18" charset="2"/>
              </a:rPr>
              <a:t></a:t>
            </a:r>
          </a:p>
        </p:txBody>
      </p:sp>
      <p:cxnSp>
        <p:nvCxnSpPr>
          <p:cNvPr id="25" name="AutoShape 23">
            <a:extLst>
              <a:ext uri="{FF2B5EF4-FFF2-40B4-BE49-F238E27FC236}">
                <a16:creationId xmlns:a16="http://schemas.microsoft.com/office/drawing/2014/main" id="{B3B1643E-43B6-4CB2-BCB8-C49A0558E29F}"/>
              </a:ext>
            </a:extLst>
          </p:cNvPr>
          <p:cNvCxnSpPr>
            <a:cxnSpLocks noChangeShapeType="1"/>
            <a:stCxn id="17" idx="6"/>
            <a:endCxn id="12" idx="1"/>
          </p:cNvCxnSpPr>
          <p:nvPr/>
        </p:nvCxnSpPr>
        <p:spPr bwMode="auto">
          <a:xfrm>
            <a:off x="6404198" y="2650677"/>
            <a:ext cx="1052512" cy="14288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AutoShape 24">
            <a:extLst>
              <a:ext uri="{FF2B5EF4-FFF2-40B4-BE49-F238E27FC236}">
                <a16:creationId xmlns:a16="http://schemas.microsoft.com/office/drawing/2014/main" id="{0E3C2558-7A92-48E8-9FF2-9098EFB82344}"/>
              </a:ext>
            </a:extLst>
          </p:cNvPr>
          <p:cNvCxnSpPr>
            <a:cxnSpLocks noChangeShapeType="1"/>
            <a:stCxn id="17" idx="4"/>
            <a:endCxn id="18" idx="0"/>
          </p:cNvCxnSpPr>
          <p:nvPr/>
        </p:nvCxnSpPr>
        <p:spPr bwMode="auto">
          <a:xfrm>
            <a:off x="6008910" y="3045965"/>
            <a:ext cx="0" cy="1109662"/>
          </a:xfrm>
          <a:prstGeom prst="straightConnector1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AutoShape 27">
            <a:extLst>
              <a:ext uri="{FF2B5EF4-FFF2-40B4-BE49-F238E27FC236}">
                <a16:creationId xmlns:a16="http://schemas.microsoft.com/office/drawing/2014/main" id="{7A8403A8-AED8-46BF-A465-1012BAF3B803}"/>
              </a:ext>
            </a:extLst>
          </p:cNvPr>
          <p:cNvCxnSpPr>
            <a:cxnSpLocks noChangeShapeType="1"/>
            <a:stCxn id="17" idx="5"/>
            <a:endCxn id="19" idx="1"/>
          </p:cNvCxnSpPr>
          <p:nvPr/>
        </p:nvCxnSpPr>
        <p:spPr bwMode="auto">
          <a:xfrm>
            <a:off x="6278785" y="2934840"/>
            <a:ext cx="1289050" cy="1336675"/>
          </a:xfrm>
          <a:prstGeom prst="straightConnector1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" name="Text Box 28">
            <a:extLst>
              <a:ext uri="{FF2B5EF4-FFF2-40B4-BE49-F238E27FC236}">
                <a16:creationId xmlns:a16="http://schemas.microsoft.com/office/drawing/2014/main" id="{7646F04E-19EF-4A9B-B7BC-B70EE50ECC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4310" y="3031677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i="1">
                <a:solidFill>
                  <a:schemeClr val="accent2"/>
                </a:solidFill>
                <a:sym typeface="Symbol" panose="05050102010706020507" pitchFamily="18" charset="2"/>
              </a:rPr>
              <a:t></a:t>
            </a:r>
          </a:p>
        </p:txBody>
      </p:sp>
      <p:sp>
        <p:nvSpPr>
          <p:cNvPr id="29" name="Text Box 29">
            <a:extLst>
              <a:ext uri="{FF2B5EF4-FFF2-40B4-BE49-F238E27FC236}">
                <a16:creationId xmlns:a16="http://schemas.microsoft.com/office/drawing/2014/main" id="{E64857E4-7EA0-4B16-8019-559F3F1087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1310" y="3031677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i="1">
                <a:solidFill>
                  <a:schemeClr val="accent2"/>
                </a:solidFill>
                <a:sym typeface="Symbol" panose="05050102010706020507" pitchFamily="18" charset="2"/>
              </a:rPr>
              <a:t></a:t>
            </a:r>
          </a:p>
        </p:txBody>
      </p:sp>
      <p:cxnSp>
        <p:nvCxnSpPr>
          <p:cNvPr id="30" name="AutoShape 30">
            <a:extLst>
              <a:ext uri="{FF2B5EF4-FFF2-40B4-BE49-F238E27FC236}">
                <a16:creationId xmlns:a16="http://schemas.microsoft.com/office/drawing/2014/main" id="{99166FFF-C6BA-4173-823D-D6C317AB18C3}"/>
              </a:ext>
            </a:extLst>
          </p:cNvPr>
          <p:cNvCxnSpPr>
            <a:cxnSpLocks noChangeShapeType="1"/>
            <a:stCxn id="19" idx="7"/>
            <a:endCxn id="7" idx="5"/>
          </p:cNvCxnSpPr>
          <p:nvPr/>
        </p:nvCxnSpPr>
        <p:spPr bwMode="auto">
          <a:xfrm rot="16200000">
            <a:off x="7439247" y="3603178"/>
            <a:ext cx="1336675" cy="0"/>
          </a:xfrm>
          <a:prstGeom prst="straightConnector1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" name="Text Box 31">
            <a:extLst>
              <a:ext uri="{FF2B5EF4-FFF2-40B4-BE49-F238E27FC236}">
                <a16:creationId xmlns:a16="http://schemas.microsoft.com/office/drawing/2014/main" id="{62BA9EDF-9C82-4E7E-950A-B2AB2AD655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66310" y="3184077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i="1">
                <a:solidFill>
                  <a:schemeClr val="accent2"/>
                </a:solidFill>
                <a:sym typeface="Symbol" panose="05050102010706020507" pitchFamily="18" charset="2"/>
              </a:rPr>
              <a:t></a:t>
            </a:r>
          </a:p>
        </p:txBody>
      </p:sp>
    </p:spTree>
    <p:extLst>
      <p:ext uri="{BB962C8B-B14F-4D97-AF65-F5344CB8AC3E}">
        <p14:creationId xmlns:p14="http://schemas.microsoft.com/office/powerpoint/2010/main" val="1181088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4.14431E-6 L -0.2 -4.14431E-6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0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3" presetClass="emph" presetSubtype="1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0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5" grpId="0"/>
      <p:bldP spid="15" grpId="1"/>
      <p:bldP spid="16" grpId="0"/>
      <p:bldP spid="17" grpId="0" animBg="1"/>
      <p:bldP spid="18" grpId="0" animBg="1"/>
      <p:bldP spid="19" grpId="0" animBg="1"/>
      <p:bldP spid="21" grpId="0"/>
      <p:bldP spid="22" grpId="0"/>
      <p:bldP spid="24" grpId="0"/>
      <p:bldP spid="24" grpId="1"/>
      <p:bldP spid="28" grpId="0"/>
      <p:bldP spid="28" grpId="1"/>
      <p:bldP spid="29" grpId="0"/>
      <p:bldP spid="29" grpId="1"/>
      <p:bldP spid="31" grpId="0"/>
      <p:bldP spid="31" grpId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580330B-B65F-419B-BBFD-907AAFCA7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CSC3113: Theory of Computation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BD23EB-3887-4B4F-9E51-D03ED9808EA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Formal Definition of GNFA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1CB031-5433-434A-9079-AD0E79191C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" y="1249680"/>
            <a:ext cx="9136063" cy="530352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buClrTx/>
              <a:buFont typeface="Wingdings" panose="05000000000000000000" pitchFamily="2" charset="2"/>
              <a:buChar char="q"/>
            </a:pPr>
            <a:r>
              <a:rPr lang="en-US" altLang="en-US" sz="2600" dirty="0">
                <a:solidFill>
                  <a:srgbClr val="0070C0"/>
                </a:solidFill>
              </a:rPr>
              <a:t>A generalized nondeterministic finite automaton is a 5-tuple,  </a:t>
            </a:r>
            <a:r>
              <a:rPr lang="en-US" altLang="en-US" sz="2800" dirty="0">
                <a:solidFill>
                  <a:srgbClr val="0070C0"/>
                </a:solidFill>
              </a:rPr>
              <a:t>(</a:t>
            </a:r>
            <a:r>
              <a:rPr lang="en-US" altLang="en-US" sz="2800" i="1" dirty="0">
                <a:solidFill>
                  <a:srgbClr val="0070C0"/>
                </a:solidFill>
              </a:rPr>
              <a:t>Q</a:t>
            </a:r>
            <a:r>
              <a:rPr lang="en-US" altLang="en-US" sz="2800" dirty="0">
                <a:solidFill>
                  <a:srgbClr val="0070C0"/>
                </a:solidFill>
              </a:rPr>
              <a:t>,</a:t>
            </a:r>
            <a:r>
              <a:rPr lang="en-US" altLang="en-US" sz="2800" i="1" dirty="0">
                <a:solidFill>
                  <a:srgbClr val="0070C0"/>
                </a:solidFill>
              </a:rPr>
              <a:t> </a:t>
            </a:r>
            <a:r>
              <a:rPr lang="el-GR" altLang="en-US" sz="2800" dirty="0">
                <a:solidFill>
                  <a:srgbClr val="0070C0"/>
                </a:solidFill>
                <a:cs typeface="Arial" panose="020B0604020202020204" pitchFamily="34" charset="0"/>
              </a:rPr>
              <a:t>Σ</a:t>
            </a:r>
            <a:r>
              <a:rPr lang="en-US" altLang="en-US" sz="2800" dirty="0">
                <a:solidFill>
                  <a:srgbClr val="0070C0"/>
                </a:solidFill>
              </a:rPr>
              <a:t>, </a:t>
            </a:r>
            <a:r>
              <a:rPr lang="en-US" altLang="en-US" sz="2800" i="1" dirty="0">
                <a:solidFill>
                  <a:srgbClr val="0070C0"/>
                </a:solidFill>
                <a:sym typeface="Symbol" panose="05050102010706020507" pitchFamily="18" charset="2"/>
              </a:rPr>
              <a:t></a:t>
            </a:r>
            <a:r>
              <a:rPr lang="en-US" altLang="en-US" sz="2800" dirty="0">
                <a:solidFill>
                  <a:srgbClr val="0070C0"/>
                </a:solidFill>
              </a:rPr>
              <a:t>,</a:t>
            </a:r>
            <a:r>
              <a:rPr lang="en-US" altLang="en-US" sz="2800" i="1" dirty="0">
                <a:solidFill>
                  <a:srgbClr val="0070C0"/>
                </a:solidFill>
              </a:rPr>
              <a:t> </a:t>
            </a:r>
            <a:r>
              <a:rPr lang="en-US" altLang="en-US" sz="2800" i="1" dirty="0" err="1">
                <a:solidFill>
                  <a:srgbClr val="0070C0"/>
                </a:solidFill>
              </a:rPr>
              <a:t>q</a:t>
            </a:r>
            <a:r>
              <a:rPr lang="en-US" altLang="en-US" sz="2800" baseline="-25000" dirty="0" err="1">
                <a:solidFill>
                  <a:srgbClr val="0070C0"/>
                </a:solidFill>
              </a:rPr>
              <a:t>start</a:t>
            </a:r>
            <a:r>
              <a:rPr lang="en-US" altLang="en-US" sz="2800" dirty="0">
                <a:solidFill>
                  <a:srgbClr val="0070C0"/>
                </a:solidFill>
              </a:rPr>
              <a:t>,</a:t>
            </a:r>
            <a:r>
              <a:rPr lang="en-US" altLang="en-US" sz="2800" i="1" dirty="0">
                <a:solidFill>
                  <a:srgbClr val="0070C0"/>
                </a:solidFill>
              </a:rPr>
              <a:t> </a:t>
            </a:r>
            <a:r>
              <a:rPr lang="en-US" altLang="en-US" sz="2800" i="1" dirty="0" err="1">
                <a:solidFill>
                  <a:srgbClr val="0070C0"/>
                </a:solidFill>
              </a:rPr>
              <a:t>q</a:t>
            </a:r>
            <a:r>
              <a:rPr lang="en-US" altLang="en-US" sz="2800" baseline="-25000" dirty="0" err="1">
                <a:solidFill>
                  <a:srgbClr val="0070C0"/>
                </a:solidFill>
              </a:rPr>
              <a:t>accept</a:t>
            </a:r>
            <a:r>
              <a:rPr lang="en-US" altLang="en-US" sz="2800" dirty="0">
                <a:solidFill>
                  <a:srgbClr val="0070C0"/>
                </a:solidFill>
              </a:rPr>
              <a:t>) where – </a:t>
            </a:r>
          </a:p>
          <a:p>
            <a:pPr lvl="2">
              <a:spcBef>
                <a:spcPts val="1800"/>
              </a:spcBef>
              <a:buClrTx/>
              <a:buFont typeface="Wingdings" panose="05000000000000000000" pitchFamily="2" charset="2"/>
              <a:buChar char="Ø"/>
            </a:pPr>
            <a:r>
              <a:rPr lang="en-US" altLang="en-US" sz="2200" i="1" dirty="0"/>
              <a:t>Q</a:t>
            </a:r>
            <a:r>
              <a:rPr lang="en-US" altLang="en-US" sz="2200" dirty="0"/>
              <a:t> is the finite set of states,</a:t>
            </a:r>
          </a:p>
          <a:p>
            <a:pPr lvl="2">
              <a:buClrTx/>
              <a:buFont typeface="Wingdings" panose="05000000000000000000" pitchFamily="2" charset="2"/>
              <a:buChar char="Ø"/>
            </a:pPr>
            <a:r>
              <a:rPr lang="el-GR" altLang="en-US" sz="2200" dirty="0">
                <a:cs typeface="Arial" panose="020B0604020202020204" pitchFamily="34" charset="0"/>
              </a:rPr>
              <a:t>Σ</a:t>
            </a:r>
            <a:r>
              <a:rPr lang="en-US" altLang="en-US" sz="2200" dirty="0">
                <a:cs typeface="Arial" panose="020B0604020202020204" pitchFamily="34" charset="0"/>
              </a:rPr>
              <a:t> is the input alphabet,</a:t>
            </a:r>
          </a:p>
          <a:p>
            <a:pPr lvl="2">
              <a:buClrTx/>
              <a:buFont typeface="Wingdings" panose="05000000000000000000" pitchFamily="2" charset="2"/>
              <a:buChar char="Ø"/>
            </a:pPr>
            <a:r>
              <a:rPr lang="en-US" altLang="en-US" sz="2200" i="1" dirty="0">
                <a:sym typeface="Symbol" panose="05050102010706020507" pitchFamily="18" charset="2"/>
              </a:rPr>
              <a:t></a:t>
            </a:r>
            <a:r>
              <a:rPr lang="en-US" altLang="en-US" sz="2200" dirty="0"/>
              <a:t> : (</a:t>
            </a:r>
            <a:r>
              <a:rPr lang="en-US" altLang="en-US" sz="2200" i="1" dirty="0"/>
              <a:t>Q </a:t>
            </a:r>
            <a:r>
              <a:rPr lang="en-US" altLang="en-US" sz="2200" dirty="0"/>
              <a:t>- {</a:t>
            </a:r>
            <a:r>
              <a:rPr lang="en-US" altLang="en-US" sz="2200" i="1" dirty="0" err="1"/>
              <a:t>q</a:t>
            </a:r>
            <a:r>
              <a:rPr lang="en-US" altLang="en-US" sz="2200" baseline="-25000" dirty="0" err="1"/>
              <a:t>start</a:t>
            </a:r>
            <a:r>
              <a:rPr lang="en-US" altLang="en-US" sz="2200" dirty="0"/>
              <a:t>}) </a:t>
            </a:r>
            <a:r>
              <a:rPr lang="en-US" altLang="en-US" sz="2200" dirty="0">
                <a:sym typeface="Symbol" panose="05050102010706020507" pitchFamily="18" charset="2"/>
              </a:rPr>
              <a:t> </a:t>
            </a:r>
            <a:r>
              <a:rPr lang="en-US" altLang="en-US" sz="2200" dirty="0"/>
              <a:t>(</a:t>
            </a:r>
            <a:r>
              <a:rPr lang="en-US" altLang="en-US" sz="2200" i="1" dirty="0"/>
              <a:t>Q </a:t>
            </a:r>
            <a:r>
              <a:rPr lang="en-US" altLang="en-US" sz="2200" dirty="0"/>
              <a:t>- {</a:t>
            </a:r>
            <a:r>
              <a:rPr lang="en-US" altLang="en-US" sz="2200" i="1" dirty="0" err="1"/>
              <a:t>q</a:t>
            </a:r>
            <a:r>
              <a:rPr lang="en-US" altLang="en-US" sz="2200" baseline="-25000" dirty="0" err="1"/>
              <a:t>accept</a:t>
            </a:r>
            <a:r>
              <a:rPr lang="en-US" altLang="en-US" sz="2200" dirty="0"/>
              <a:t>})</a:t>
            </a:r>
            <a:r>
              <a:rPr lang="en-US" altLang="en-US" sz="2200" dirty="0">
                <a:sym typeface="Symbol" panose="05050102010706020507" pitchFamily="18" charset="2"/>
              </a:rPr>
              <a:t>  </a:t>
            </a:r>
            <a:r>
              <a:rPr lang="en-US" altLang="en-US" sz="2200" i="1" dirty="0">
                <a:latin typeface="Monotype Corsiva" panose="03010101010201010101" pitchFamily="66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en-US" altLang="en-US" sz="2200" dirty="0">
                <a:cs typeface="Times New Roman" panose="02020603050405020304" pitchFamily="18" charset="0"/>
                <a:sym typeface="Symbol" panose="05050102010706020507" pitchFamily="18" charset="2"/>
              </a:rPr>
              <a:t>is the transition function,</a:t>
            </a:r>
          </a:p>
          <a:p>
            <a:pPr lvl="2">
              <a:buClrTx/>
              <a:buFont typeface="Wingdings" panose="05000000000000000000" pitchFamily="2" charset="2"/>
              <a:buChar char="Ø"/>
            </a:pPr>
            <a:r>
              <a:rPr lang="en-US" altLang="en-US" sz="2200" i="1" dirty="0" err="1"/>
              <a:t>q</a:t>
            </a:r>
            <a:r>
              <a:rPr lang="en-US" altLang="en-US" sz="2200" baseline="-25000" dirty="0" err="1"/>
              <a:t>start</a:t>
            </a:r>
            <a:r>
              <a:rPr lang="en-US" altLang="en-US" sz="2200" dirty="0"/>
              <a:t> is the start state,</a:t>
            </a:r>
          </a:p>
          <a:p>
            <a:pPr lvl="2">
              <a:buClrTx/>
              <a:buFont typeface="Wingdings" panose="05000000000000000000" pitchFamily="2" charset="2"/>
              <a:buChar char="Ø"/>
            </a:pPr>
            <a:r>
              <a:rPr lang="en-US" altLang="en-US" sz="2200" i="1" dirty="0" err="1"/>
              <a:t>q</a:t>
            </a:r>
            <a:r>
              <a:rPr lang="en-US" altLang="en-US" sz="2200" baseline="-25000" dirty="0" err="1"/>
              <a:t>accept</a:t>
            </a:r>
            <a:r>
              <a:rPr lang="en-US" altLang="en-US" sz="2200" dirty="0"/>
              <a:t> is the accept state.</a:t>
            </a:r>
          </a:p>
          <a:p>
            <a:pPr lvl="2">
              <a:buClrTx/>
              <a:buFont typeface="Wingdings" panose="05000000000000000000" pitchFamily="2" charset="2"/>
              <a:buChar char="q"/>
            </a:pPr>
            <a:endParaRPr lang="en-US" altLang="en-US" sz="2200" dirty="0">
              <a:solidFill>
                <a:srgbClr val="0070C0"/>
              </a:solidFill>
            </a:endParaRPr>
          </a:p>
          <a:p>
            <a:pPr algn="just" eaLnBrk="1" hangingPunct="1">
              <a:buClrTx/>
              <a:buFont typeface="Wingdings" panose="05000000000000000000" pitchFamily="2" charset="2"/>
              <a:buChar char="q"/>
            </a:pPr>
            <a:r>
              <a:rPr lang="en-US" altLang="en-US" sz="2600" dirty="0">
                <a:solidFill>
                  <a:srgbClr val="0070C0"/>
                </a:solidFill>
              </a:rPr>
              <a:t>A GNFA accepts a string </a:t>
            </a:r>
            <a:r>
              <a:rPr lang="en-US" altLang="en-US" sz="2600" i="1" dirty="0">
                <a:solidFill>
                  <a:srgbClr val="0070C0"/>
                </a:solidFill>
              </a:rPr>
              <a:t>w</a:t>
            </a:r>
            <a:r>
              <a:rPr lang="en-US" altLang="en-US" sz="2600" dirty="0">
                <a:solidFill>
                  <a:srgbClr val="0070C0"/>
                </a:solidFill>
              </a:rPr>
              <a:t> in </a:t>
            </a:r>
            <a:r>
              <a:rPr lang="el-GR" altLang="en-US" sz="2600" dirty="0">
                <a:solidFill>
                  <a:srgbClr val="0070C0"/>
                </a:solidFill>
                <a:cs typeface="Arial" panose="020B0604020202020204" pitchFamily="34" charset="0"/>
              </a:rPr>
              <a:t>Σ</a:t>
            </a:r>
            <a:r>
              <a:rPr lang="en-US" altLang="en-US" sz="2600" dirty="0">
                <a:solidFill>
                  <a:srgbClr val="0070C0"/>
                </a:solidFill>
                <a:cs typeface="Arial" panose="020B0604020202020204" pitchFamily="34" charset="0"/>
              </a:rPr>
              <a:t>* if </a:t>
            </a:r>
            <a:r>
              <a:rPr lang="en-US" altLang="en-US" sz="2600" i="1" dirty="0">
                <a:solidFill>
                  <a:srgbClr val="0070C0"/>
                </a:solidFill>
                <a:cs typeface="Arial" panose="020B0604020202020204" pitchFamily="34" charset="0"/>
              </a:rPr>
              <a:t>w</a:t>
            </a:r>
            <a:r>
              <a:rPr lang="en-US" altLang="en-US" sz="2600" dirty="0">
                <a:solidFill>
                  <a:srgbClr val="0070C0"/>
                </a:solidFill>
                <a:cs typeface="Arial" panose="020B0604020202020204" pitchFamily="34" charset="0"/>
              </a:rPr>
              <a:t> = </a:t>
            </a:r>
            <a:r>
              <a:rPr lang="en-US" altLang="en-US" sz="2600" i="1" dirty="0">
                <a:solidFill>
                  <a:srgbClr val="0070C0"/>
                </a:solidFill>
                <a:cs typeface="Arial" panose="020B0604020202020204" pitchFamily="34" charset="0"/>
              </a:rPr>
              <a:t>w</a:t>
            </a:r>
            <a:r>
              <a:rPr lang="en-US" altLang="en-US" sz="2600" baseline="-25000" dirty="0">
                <a:solidFill>
                  <a:srgbClr val="0070C0"/>
                </a:solidFill>
                <a:cs typeface="Arial" panose="020B0604020202020204" pitchFamily="34" charset="0"/>
              </a:rPr>
              <a:t>1</a:t>
            </a:r>
            <a:r>
              <a:rPr lang="en-US" altLang="en-US" sz="2600" i="1" dirty="0">
                <a:solidFill>
                  <a:srgbClr val="0070C0"/>
                </a:solidFill>
                <a:cs typeface="Arial" panose="020B0604020202020204" pitchFamily="34" charset="0"/>
              </a:rPr>
              <a:t>w</a:t>
            </a:r>
            <a:r>
              <a:rPr lang="en-US" altLang="en-US" sz="2600" baseline="-25000" dirty="0">
                <a:solidFill>
                  <a:srgbClr val="0070C0"/>
                </a:solidFill>
                <a:cs typeface="Arial" panose="020B0604020202020204" pitchFamily="34" charset="0"/>
              </a:rPr>
              <a:t>2</a:t>
            </a:r>
            <a:r>
              <a:rPr lang="en-US" altLang="en-US" sz="2600" dirty="0">
                <a:solidFill>
                  <a:srgbClr val="0070C0"/>
                </a:solidFill>
                <a:cs typeface="Arial" panose="020B0604020202020204" pitchFamily="34" charset="0"/>
              </a:rPr>
              <a:t>…</a:t>
            </a:r>
            <a:r>
              <a:rPr lang="en-US" altLang="en-US" sz="2600" i="1" dirty="0" err="1">
                <a:solidFill>
                  <a:srgbClr val="0070C0"/>
                </a:solidFill>
                <a:cs typeface="Arial" panose="020B0604020202020204" pitchFamily="34" charset="0"/>
              </a:rPr>
              <a:t>w</a:t>
            </a:r>
            <a:r>
              <a:rPr lang="en-US" altLang="en-US" sz="2600" baseline="-25000" dirty="0" err="1">
                <a:solidFill>
                  <a:srgbClr val="0070C0"/>
                </a:solidFill>
                <a:cs typeface="Arial" panose="020B0604020202020204" pitchFamily="34" charset="0"/>
              </a:rPr>
              <a:t>k</a:t>
            </a:r>
            <a:r>
              <a:rPr lang="en-US" altLang="en-US" sz="2600" dirty="0">
                <a:solidFill>
                  <a:srgbClr val="0070C0"/>
                </a:solidFill>
                <a:cs typeface="Arial" panose="020B0604020202020204" pitchFamily="34" charset="0"/>
              </a:rPr>
              <a:t>, where each </a:t>
            </a:r>
            <a:br>
              <a:rPr lang="en-US" altLang="en-US" sz="2600" dirty="0">
                <a:solidFill>
                  <a:srgbClr val="0070C0"/>
                </a:solidFill>
                <a:cs typeface="Arial" panose="020B0604020202020204" pitchFamily="34" charset="0"/>
              </a:rPr>
            </a:br>
            <a:r>
              <a:rPr lang="en-US" altLang="en-US" sz="2600" i="1" dirty="0" err="1">
                <a:solidFill>
                  <a:srgbClr val="0070C0"/>
                </a:solidFill>
                <a:cs typeface="Arial" panose="020B0604020202020204" pitchFamily="34" charset="0"/>
              </a:rPr>
              <a:t>w</a:t>
            </a:r>
            <a:r>
              <a:rPr lang="en-US" altLang="en-US" sz="2600" baseline="-25000" dirty="0" err="1">
                <a:solidFill>
                  <a:srgbClr val="0070C0"/>
                </a:solidFill>
                <a:cs typeface="Arial" panose="020B0604020202020204" pitchFamily="34" charset="0"/>
              </a:rPr>
              <a:t>i</a:t>
            </a:r>
            <a:r>
              <a:rPr lang="en-US" altLang="en-US" sz="2600" dirty="0">
                <a:solidFill>
                  <a:srgbClr val="0070C0"/>
                </a:solidFill>
                <a:cs typeface="Arial" panose="020B0604020202020204" pitchFamily="34" charset="0"/>
              </a:rPr>
              <a:t> is in </a:t>
            </a:r>
            <a:r>
              <a:rPr lang="el-GR" altLang="en-US" sz="2600" dirty="0">
                <a:solidFill>
                  <a:srgbClr val="0070C0"/>
                </a:solidFill>
                <a:cs typeface="Arial" panose="020B0604020202020204" pitchFamily="34" charset="0"/>
              </a:rPr>
              <a:t>Σ</a:t>
            </a:r>
            <a:r>
              <a:rPr lang="en-US" altLang="en-US" sz="2600" dirty="0">
                <a:solidFill>
                  <a:srgbClr val="0070C0"/>
                </a:solidFill>
                <a:cs typeface="Arial" panose="020B0604020202020204" pitchFamily="34" charset="0"/>
              </a:rPr>
              <a:t>* and a sequence of states q</a:t>
            </a:r>
            <a:r>
              <a:rPr lang="en-US" altLang="en-US" sz="2600" baseline="-25000" dirty="0">
                <a:solidFill>
                  <a:srgbClr val="0070C0"/>
                </a:solidFill>
                <a:cs typeface="Arial" panose="020B0604020202020204" pitchFamily="34" charset="0"/>
              </a:rPr>
              <a:t>0</a:t>
            </a:r>
            <a:r>
              <a:rPr lang="en-US" altLang="en-US" sz="2600" dirty="0">
                <a:solidFill>
                  <a:srgbClr val="0070C0"/>
                </a:solidFill>
                <a:cs typeface="Arial" panose="020B0604020202020204" pitchFamily="34" charset="0"/>
              </a:rPr>
              <a:t>, </a:t>
            </a:r>
            <a:r>
              <a:rPr lang="en-US" altLang="en-US" sz="2600" i="1" dirty="0">
                <a:solidFill>
                  <a:srgbClr val="0070C0"/>
                </a:solidFill>
                <a:cs typeface="Arial" panose="020B0604020202020204" pitchFamily="34" charset="0"/>
              </a:rPr>
              <a:t>q</a:t>
            </a:r>
            <a:r>
              <a:rPr lang="en-US" altLang="en-US" sz="2600" baseline="-25000" dirty="0">
                <a:solidFill>
                  <a:srgbClr val="0070C0"/>
                </a:solidFill>
                <a:cs typeface="Arial" panose="020B0604020202020204" pitchFamily="34" charset="0"/>
              </a:rPr>
              <a:t>1</a:t>
            </a:r>
            <a:r>
              <a:rPr lang="en-US" altLang="en-US" sz="2600" dirty="0">
                <a:solidFill>
                  <a:srgbClr val="0070C0"/>
                </a:solidFill>
                <a:cs typeface="Arial" panose="020B0604020202020204" pitchFamily="34" charset="0"/>
              </a:rPr>
              <a:t>, …</a:t>
            </a:r>
            <a:r>
              <a:rPr lang="en-US" altLang="en-US" sz="2600" i="1" dirty="0" err="1">
                <a:solidFill>
                  <a:srgbClr val="0070C0"/>
                </a:solidFill>
                <a:cs typeface="Arial" panose="020B0604020202020204" pitchFamily="34" charset="0"/>
              </a:rPr>
              <a:t>q</a:t>
            </a:r>
            <a:r>
              <a:rPr lang="en-US" altLang="en-US" sz="2600" baseline="-25000" dirty="0" err="1">
                <a:solidFill>
                  <a:srgbClr val="0070C0"/>
                </a:solidFill>
                <a:cs typeface="Arial" panose="020B0604020202020204" pitchFamily="34" charset="0"/>
              </a:rPr>
              <a:t>k</a:t>
            </a:r>
            <a:r>
              <a:rPr lang="en-US" altLang="en-US" sz="2600" dirty="0">
                <a:solidFill>
                  <a:srgbClr val="0070C0"/>
                </a:solidFill>
                <a:cs typeface="Arial" panose="020B0604020202020204" pitchFamily="34" charset="0"/>
              </a:rPr>
              <a:t> exists such that – </a:t>
            </a:r>
          </a:p>
          <a:p>
            <a:pPr lvl="2">
              <a:buClrTx/>
              <a:buFont typeface="Wingdings" panose="05000000000000000000" pitchFamily="2" charset="2"/>
              <a:buChar char="Ø"/>
            </a:pPr>
            <a:r>
              <a:rPr lang="en-US" altLang="en-US" i="1" dirty="0">
                <a:cs typeface="Arial" panose="020B0604020202020204" pitchFamily="34" charset="0"/>
              </a:rPr>
              <a:t>q</a:t>
            </a:r>
            <a:r>
              <a:rPr lang="en-US" altLang="en-US" baseline="-25000" dirty="0">
                <a:cs typeface="Arial" panose="020B0604020202020204" pitchFamily="34" charset="0"/>
              </a:rPr>
              <a:t>0</a:t>
            </a:r>
            <a:r>
              <a:rPr lang="en-US" altLang="en-US" dirty="0">
                <a:cs typeface="Arial" panose="020B0604020202020204" pitchFamily="34" charset="0"/>
              </a:rPr>
              <a:t>=</a:t>
            </a:r>
            <a:r>
              <a:rPr lang="en-US" altLang="en-US" i="1" dirty="0" err="1">
                <a:cs typeface="Arial" panose="020B0604020202020204" pitchFamily="34" charset="0"/>
              </a:rPr>
              <a:t>q</a:t>
            </a:r>
            <a:r>
              <a:rPr lang="en-US" altLang="en-US" baseline="-25000" dirty="0" err="1">
                <a:cs typeface="Arial" panose="020B0604020202020204" pitchFamily="34" charset="0"/>
              </a:rPr>
              <a:t>start</a:t>
            </a:r>
            <a:r>
              <a:rPr lang="en-US" altLang="en-US" dirty="0">
                <a:cs typeface="Arial" panose="020B0604020202020204" pitchFamily="34" charset="0"/>
              </a:rPr>
              <a:t> is the start state,</a:t>
            </a:r>
          </a:p>
          <a:p>
            <a:pPr lvl="2">
              <a:buClrTx/>
              <a:buFont typeface="Wingdings" panose="05000000000000000000" pitchFamily="2" charset="2"/>
              <a:buChar char="Ø"/>
            </a:pPr>
            <a:r>
              <a:rPr lang="en-US" altLang="en-US" i="1" dirty="0" err="1">
                <a:cs typeface="Arial" panose="020B0604020202020204" pitchFamily="34" charset="0"/>
              </a:rPr>
              <a:t>q</a:t>
            </a:r>
            <a:r>
              <a:rPr lang="en-US" altLang="en-US" baseline="-25000" dirty="0" err="1">
                <a:cs typeface="Arial" panose="020B0604020202020204" pitchFamily="34" charset="0"/>
              </a:rPr>
              <a:t>k</a:t>
            </a:r>
            <a:r>
              <a:rPr lang="en-US" altLang="en-US" dirty="0">
                <a:cs typeface="Arial" panose="020B0604020202020204" pitchFamily="34" charset="0"/>
              </a:rPr>
              <a:t>=</a:t>
            </a:r>
            <a:r>
              <a:rPr lang="en-US" altLang="en-US" i="1" dirty="0" err="1">
                <a:cs typeface="Arial" panose="020B0604020202020204" pitchFamily="34" charset="0"/>
              </a:rPr>
              <a:t>q</a:t>
            </a:r>
            <a:r>
              <a:rPr lang="en-US" altLang="en-US" baseline="-25000" dirty="0" err="1">
                <a:cs typeface="Arial" panose="020B0604020202020204" pitchFamily="34" charset="0"/>
              </a:rPr>
              <a:t>accept</a:t>
            </a:r>
            <a:r>
              <a:rPr lang="en-US" altLang="en-US" dirty="0">
                <a:cs typeface="Arial" panose="020B0604020202020204" pitchFamily="34" charset="0"/>
              </a:rPr>
              <a:t> is the accept state, and</a:t>
            </a:r>
          </a:p>
          <a:p>
            <a:pPr lvl="2">
              <a:buClrTx/>
              <a:buFont typeface="Wingdings" panose="05000000000000000000" pitchFamily="2" charset="2"/>
              <a:buChar char="Ø"/>
            </a:pPr>
            <a:r>
              <a:rPr lang="en-US" altLang="en-US" dirty="0">
                <a:cs typeface="Arial" panose="020B0604020202020204" pitchFamily="34" charset="0"/>
              </a:rPr>
              <a:t>For each </a:t>
            </a:r>
            <a:r>
              <a:rPr lang="en-US" altLang="en-US" dirty="0" err="1">
                <a:cs typeface="Arial" panose="020B0604020202020204" pitchFamily="34" charset="0"/>
              </a:rPr>
              <a:t>i</a:t>
            </a:r>
            <a:r>
              <a:rPr lang="en-US" altLang="en-US" dirty="0">
                <a:cs typeface="Arial" panose="020B0604020202020204" pitchFamily="34" charset="0"/>
              </a:rPr>
              <a:t>, we have </a:t>
            </a:r>
            <a:r>
              <a:rPr lang="en-US" altLang="en-US" i="1" dirty="0" err="1">
                <a:cs typeface="Arial" panose="020B0604020202020204" pitchFamily="34" charset="0"/>
              </a:rPr>
              <a:t>w</a:t>
            </a:r>
            <a:r>
              <a:rPr lang="en-US" altLang="en-US" baseline="-25000" dirty="0" err="1">
                <a:cs typeface="Arial" panose="020B0604020202020204" pitchFamily="34" charset="0"/>
              </a:rPr>
              <a:t>i</a:t>
            </a:r>
            <a:r>
              <a:rPr lang="en-US" altLang="en-US" dirty="0">
                <a:cs typeface="Arial" panose="020B0604020202020204" pitchFamily="34" charset="0"/>
              </a:rPr>
              <a:t> </a:t>
            </a:r>
            <a:r>
              <a:rPr lang="en-US" altLang="en-US" dirty="0">
                <a:cs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n-US" altLang="en-US" i="1" dirty="0">
                <a:cs typeface="Arial" panose="020B0604020202020204" pitchFamily="34" charset="0"/>
              </a:rPr>
              <a:t>L</a:t>
            </a:r>
            <a:r>
              <a:rPr lang="en-US" altLang="en-US" dirty="0">
                <a:cs typeface="Arial" panose="020B0604020202020204" pitchFamily="34" charset="0"/>
              </a:rPr>
              <a:t>(</a:t>
            </a:r>
            <a:r>
              <a:rPr lang="en-US" altLang="en-US" i="1" dirty="0">
                <a:cs typeface="Arial" panose="020B0604020202020204" pitchFamily="34" charset="0"/>
              </a:rPr>
              <a:t>R</a:t>
            </a:r>
            <a:r>
              <a:rPr lang="en-US" altLang="en-US" baseline="-25000" dirty="0">
                <a:cs typeface="Arial" panose="020B0604020202020204" pitchFamily="34" charset="0"/>
              </a:rPr>
              <a:t>i</a:t>
            </a:r>
            <a:r>
              <a:rPr lang="en-US" altLang="en-US" dirty="0">
                <a:cs typeface="Arial" panose="020B0604020202020204" pitchFamily="34" charset="0"/>
              </a:rPr>
              <a:t>), where </a:t>
            </a:r>
            <a:r>
              <a:rPr lang="en-US" altLang="en-US" i="1" dirty="0">
                <a:cs typeface="Arial" panose="020B0604020202020204" pitchFamily="34" charset="0"/>
              </a:rPr>
              <a:t>R</a:t>
            </a:r>
            <a:r>
              <a:rPr lang="en-US" altLang="en-US" baseline="-25000" dirty="0">
                <a:cs typeface="Arial" panose="020B0604020202020204" pitchFamily="34" charset="0"/>
              </a:rPr>
              <a:t>i </a:t>
            </a:r>
            <a:r>
              <a:rPr lang="en-US" altLang="en-US" dirty="0">
                <a:cs typeface="Arial" panose="020B0604020202020204" pitchFamily="34" charset="0"/>
              </a:rPr>
              <a:t>= </a:t>
            </a:r>
            <a:r>
              <a:rPr lang="en-US" altLang="en-US" i="1" dirty="0">
                <a:cs typeface="Arial" panose="020B0604020202020204" pitchFamily="34" charset="0"/>
                <a:sym typeface="Symbol" panose="05050102010706020507" pitchFamily="18" charset="2"/>
              </a:rPr>
              <a:t></a:t>
            </a:r>
            <a:r>
              <a:rPr lang="en-US" altLang="en-US" dirty="0">
                <a:cs typeface="Arial" panose="020B0604020202020204" pitchFamily="34" charset="0"/>
              </a:rPr>
              <a:t>(</a:t>
            </a:r>
            <a:r>
              <a:rPr lang="en-US" altLang="en-US" i="1" dirty="0">
                <a:cs typeface="Arial" panose="020B0604020202020204" pitchFamily="34" charset="0"/>
              </a:rPr>
              <a:t>q</a:t>
            </a:r>
            <a:r>
              <a:rPr lang="en-US" altLang="en-US" baseline="-25000" dirty="0">
                <a:cs typeface="Arial" panose="020B0604020202020204" pitchFamily="34" charset="0"/>
              </a:rPr>
              <a:t>i-1</a:t>
            </a:r>
            <a:r>
              <a:rPr lang="en-US" altLang="en-US" dirty="0">
                <a:cs typeface="Arial" panose="020B0604020202020204" pitchFamily="34" charset="0"/>
              </a:rPr>
              <a:t>, </a:t>
            </a:r>
            <a:r>
              <a:rPr lang="en-US" altLang="en-US" i="1" dirty="0">
                <a:cs typeface="Arial" panose="020B0604020202020204" pitchFamily="34" charset="0"/>
              </a:rPr>
              <a:t>q</a:t>
            </a:r>
            <a:r>
              <a:rPr lang="en-US" altLang="en-US" baseline="-25000" dirty="0">
                <a:cs typeface="Arial" panose="020B0604020202020204" pitchFamily="34" charset="0"/>
              </a:rPr>
              <a:t>i</a:t>
            </a:r>
            <a:r>
              <a:rPr lang="en-US" altLang="en-US" dirty="0">
                <a:cs typeface="Arial" panose="020B0604020202020204" pitchFamily="34" charset="0"/>
              </a:rPr>
              <a:t>); </a:t>
            </a:r>
          </a:p>
          <a:p>
            <a:pPr marL="514350" lvl="2" indent="0">
              <a:lnSpc>
                <a:spcPct val="110000"/>
              </a:lnSpc>
              <a:spcBef>
                <a:spcPts val="0"/>
              </a:spcBef>
              <a:buClrTx/>
              <a:buNone/>
            </a:pPr>
            <a:br>
              <a:rPr lang="en-US" altLang="en-US" dirty="0">
                <a:cs typeface="Arial" panose="020B0604020202020204" pitchFamily="34" charset="0"/>
              </a:rPr>
            </a:br>
            <a:r>
              <a:rPr lang="en-US" altLang="en-US" dirty="0">
                <a:solidFill>
                  <a:srgbClr val="FF0000"/>
                </a:solidFill>
                <a:cs typeface="Arial" panose="020B0604020202020204" pitchFamily="34" charset="0"/>
              </a:rPr>
              <a:t>i.e., </a:t>
            </a:r>
            <a:r>
              <a:rPr lang="en-US" altLang="en-US" i="1" dirty="0">
                <a:solidFill>
                  <a:srgbClr val="FF0000"/>
                </a:solidFill>
                <a:cs typeface="Arial" panose="020B0604020202020204" pitchFamily="34" charset="0"/>
              </a:rPr>
              <a:t>R</a:t>
            </a:r>
            <a:r>
              <a:rPr lang="en-US" altLang="en-US" baseline="-25000" dirty="0">
                <a:solidFill>
                  <a:srgbClr val="FF0000"/>
                </a:solidFill>
                <a:cs typeface="Arial" panose="020B0604020202020204" pitchFamily="34" charset="0"/>
              </a:rPr>
              <a:t>i</a:t>
            </a:r>
            <a:r>
              <a:rPr lang="en-US" altLang="en-US" dirty="0">
                <a:solidFill>
                  <a:srgbClr val="FF0000"/>
                </a:solidFill>
                <a:cs typeface="Arial" panose="020B0604020202020204" pitchFamily="34" charset="0"/>
              </a:rPr>
              <a:t> is the expression on the arrow from </a:t>
            </a:r>
            <a:r>
              <a:rPr lang="en-US" altLang="en-US" i="1" dirty="0">
                <a:solidFill>
                  <a:srgbClr val="FF0000"/>
                </a:solidFill>
                <a:cs typeface="Arial" panose="020B0604020202020204" pitchFamily="34" charset="0"/>
              </a:rPr>
              <a:t>q</a:t>
            </a:r>
            <a:r>
              <a:rPr lang="en-US" altLang="en-US" baseline="-25000" dirty="0">
                <a:solidFill>
                  <a:srgbClr val="FF0000"/>
                </a:solidFill>
                <a:cs typeface="Arial" panose="020B0604020202020204" pitchFamily="34" charset="0"/>
              </a:rPr>
              <a:t>i-1</a:t>
            </a:r>
            <a:r>
              <a:rPr lang="en-US" altLang="en-US" dirty="0">
                <a:solidFill>
                  <a:srgbClr val="FF0000"/>
                </a:solidFill>
                <a:cs typeface="Arial" panose="020B0604020202020204" pitchFamily="34" charset="0"/>
              </a:rPr>
              <a:t> to </a:t>
            </a:r>
            <a:r>
              <a:rPr lang="en-US" altLang="en-US" i="1" dirty="0">
                <a:solidFill>
                  <a:srgbClr val="FF0000"/>
                </a:solidFill>
                <a:cs typeface="Arial" panose="020B0604020202020204" pitchFamily="34" charset="0"/>
              </a:rPr>
              <a:t>q</a:t>
            </a:r>
            <a:r>
              <a:rPr lang="en-US" altLang="en-US" baseline="-25000" dirty="0">
                <a:solidFill>
                  <a:srgbClr val="FF0000"/>
                </a:solidFill>
                <a:cs typeface="Arial" panose="020B0604020202020204" pitchFamily="34" charset="0"/>
              </a:rPr>
              <a:t>i</a:t>
            </a:r>
            <a:r>
              <a:rPr lang="en-US" altLang="en-US" dirty="0">
                <a:solidFill>
                  <a:srgbClr val="FF0000"/>
                </a:solidFill>
                <a:cs typeface="Arial" panose="020B0604020202020204" pitchFamily="34" charset="0"/>
              </a:rPr>
              <a:t>.</a:t>
            </a:r>
            <a:endParaRPr lang="el-GR" altLang="en-US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614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50C2FC8-0709-491E-A3FB-859515EDE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CSC3113: Theory of Computation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CE2EEC-E174-42FB-8B52-EF7059DD22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FF0000"/>
                </a:solidFill>
                <a:sym typeface="Symbol" pitchFamily="18" charset="2"/>
              </a:rPr>
              <a:t>Converting a GNFA to a regular expression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7F4351-F97F-4C6D-A21E-64F12D1FBD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" y="1217519"/>
            <a:ext cx="9136063" cy="5591175"/>
          </a:xfrm>
        </p:spPr>
        <p:txBody>
          <a:bodyPr>
            <a:normAutofit/>
          </a:bodyPr>
          <a:lstStyle/>
          <a:p>
            <a:pPr algn="just" eaLnBrk="1" hangingPunct="1">
              <a:spcAft>
                <a:spcPts val="60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2800" dirty="0">
                <a:solidFill>
                  <a:schemeClr val="tx1"/>
                </a:solidFill>
              </a:rPr>
              <a:t>Let consider the GNFA to be with </a:t>
            </a:r>
            <a:r>
              <a:rPr lang="en-US" altLang="en-US" sz="2800" i="1" dirty="0">
                <a:solidFill>
                  <a:schemeClr val="tx1"/>
                </a:solidFill>
              </a:rPr>
              <a:t>k</a:t>
            </a:r>
            <a:r>
              <a:rPr lang="en-US" altLang="en-US" sz="2800" dirty="0">
                <a:solidFill>
                  <a:schemeClr val="tx1"/>
                </a:solidFill>
              </a:rPr>
              <a:t> states.</a:t>
            </a:r>
          </a:p>
          <a:p>
            <a:pPr algn="just" eaLnBrk="1" hangingPunct="1">
              <a:spcAft>
                <a:spcPts val="60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2800" dirty="0">
                <a:solidFill>
                  <a:srgbClr val="0070C0"/>
                </a:solidFill>
              </a:rPr>
              <a:t>We will continuously remove one state from the GNFA until </a:t>
            </a:r>
            <a:r>
              <a:rPr lang="en-US" altLang="en-US" sz="2800" i="1" dirty="0">
                <a:solidFill>
                  <a:srgbClr val="0070C0"/>
                </a:solidFill>
              </a:rPr>
              <a:t>k </a:t>
            </a:r>
            <a:r>
              <a:rPr lang="en-US" altLang="en-US" sz="2800" dirty="0">
                <a:solidFill>
                  <a:srgbClr val="0070C0"/>
                </a:solidFill>
              </a:rPr>
              <a:t>= 2. These last two states are actually the start and the accept states.</a:t>
            </a:r>
          </a:p>
          <a:p>
            <a:pPr algn="just" eaLnBrk="1" hangingPunct="1">
              <a:spcAft>
                <a:spcPts val="60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2800" dirty="0">
                <a:solidFill>
                  <a:schemeClr val="tx1"/>
                </a:solidFill>
              </a:rPr>
              <a:t>We do so by selecting a state, ripping it out of the machine, and </a:t>
            </a:r>
            <a:r>
              <a:rPr lang="en-US" altLang="en-US" sz="2800" b="1" i="1" dirty="0">
                <a:solidFill>
                  <a:schemeClr val="tx1"/>
                </a:solidFill>
              </a:rPr>
              <a:t>repairing</a:t>
            </a:r>
            <a:r>
              <a:rPr lang="en-US" altLang="en-US" sz="2800" dirty="0">
                <a:solidFill>
                  <a:schemeClr val="tx1"/>
                </a:solidFill>
              </a:rPr>
              <a:t> the remainder so that the same language is still recognized.</a:t>
            </a:r>
          </a:p>
          <a:p>
            <a:pPr algn="just" eaLnBrk="1" hangingPunct="1">
              <a:spcAft>
                <a:spcPts val="60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2800" dirty="0">
                <a:solidFill>
                  <a:srgbClr val="0070C0"/>
                </a:solidFill>
              </a:rPr>
              <a:t>Any state will do, provided that the state is not the start or the accept states.</a:t>
            </a:r>
          </a:p>
          <a:p>
            <a:pPr algn="just">
              <a:spcAft>
                <a:spcPts val="600"/>
              </a:spcAft>
              <a:buClrTx/>
              <a:buFont typeface="Wingdings" panose="05000000000000000000" pitchFamily="2" charset="2"/>
              <a:buChar char="q"/>
            </a:pPr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3455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EFE64F6-A1DA-43D9-AB2D-5A543A6AE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CSC3113: Theory of Computation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4AD1DB-3CCA-4EAF-A6C6-714AC75C069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sz="3600" dirty="0">
                <a:solidFill>
                  <a:srgbClr val="FF0000"/>
                </a:solidFill>
              </a:rPr>
              <a:t>Repairing after removing a state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F68998-A873-4DEE-9C04-BC5FB6F79E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" y="1038225"/>
            <a:ext cx="9136063" cy="5591175"/>
          </a:xfrm>
        </p:spPr>
        <p:txBody>
          <a:bodyPr/>
          <a:lstStyle/>
          <a:p>
            <a:pPr algn="just" eaLnBrk="1" hangingPunct="1">
              <a:spcAft>
                <a:spcPts val="60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2400" dirty="0"/>
              <a:t>Let us call the removed state </a:t>
            </a:r>
            <a:r>
              <a:rPr lang="en-US" altLang="en-US" sz="2400" i="1" dirty="0" err="1"/>
              <a:t>q</a:t>
            </a:r>
            <a:r>
              <a:rPr lang="en-US" altLang="en-US" sz="2400" baseline="-25000" dirty="0" err="1"/>
              <a:t>rmv</a:t>
            </a:r>
            <a:r>
              <a:rPr lang="en-US" altLang="en-US" sz="2400" dirty="0"/>
              <a:t>.</a:t>
            </a:r>
          </a:p>
          <a:p>
            <a:pPr algn="just" eaLnBrk="1" hangingPunct="1">
              <a:spcAft>
                <a:spcPts val="60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2400" dirty="0">
                <a:solidFill>
                  <a:srgbClr val="0070C0"/>
                </a:solidFill>
              </a:rPr>
              <a:t>Repair the machine by altering the regular expressions that label each of the remaining arrows. This change is done for each arrow going from any state </a:t>
            </a:r>
            <a:r>
              <a:rPr lang="en-US" altLang="en-US" sz="2400" i="1" dirty="0" err="1">
                <a:solidFill>
                  <a:srgbClr val="0070C0"/>
                </a:solidFill>
              </a:rPr>
              <a:t>q</a:t>
            </a:r>
            <a:r>
              <a:rPr lang="en-US" altLang="en-US" sz="2400" baseline="-25000" dirty="0" err="1">
                <a:solidFill>
                  <a:srgbClr val="0070C0"/>
                </a:solidFill>
              </a:rPr>
              <a:t>s</a:t>
            </a:r>
            <a:r>
              <a:rPr lang="en-US" altLang="en-US" sz="2400" dirty="0">
                <a:solidFill>
                  <a:srgbClr val="0070C0"/>
                </a:solidFill>
              </a:rPr>
              <a:t> to </a:t>
            </a:r>
            <a:r>
              <a:rPr lang="en-US" altLang="en-US" sz="2400" i="1" dirty="0" err="1">
                <a:solidFill>
                  <a:srgbClr val="0070C0"/>
                </a:solidFill>
              </a:rPr>
              <a:t>q</a:t>
            </a:r>
            <a:r>
              <a:rPr lang="en-US" altLang="en-US" sz="2400" baseline="-25000" dirty="0" err="1">
                <a:solidFill>
                  <a:srgbClr val="0070C0"/>
                </a:solidFill>
              </a:rPr>
              <a:t>d</a:t>
            </a:r>
            <a:r>
              <a:rPr lang="en-US" altLang="en-US" sz="2400" dirty="0">
                <a:solidFill>
                  <a:srgbClr val="0070C0"/>
                </a:solidFill>
              </a:rPr>
              <a:t>, including the case where </a:t>
            </a:r>
            <a:r>
              <a:rPr lang="en-US" altLang="en-US" sz="2400" i="1" dirty="0" err="1">
                <a:solidFill>
                  <a:srgbClr val="0070C0"/>
                </a:solidFill>
              </a:rPr>
              <a:t>q</a:t>
            </a:r>
            <a:r>
              <a:rPr lang="en-US" altLang="en-US" sz="2400" baseline="-25000" dirty="0" err="1">
                <a:solidFill>
                  <a:srgbClr val="0070C0"/>
                </a:solidFill>
              </a:rPr>
              <a:t>s</a:t>
            </a:r>
            <a:r>
              <a:rPr lang="en-US" altLang="en-US" sz="2400" dirty="0">
                <a:solidFill>
                  <a:srgbClr val="0070C0"/>
                </a:solidFill>
              </a:rPr>
              <a:t> = </a:t>
            </a:r>
            <a:r>
              <a:rPr lang="en-US" altLang="en-US" sz="2400" i="1" dirty="0" err="1">
                <a:solidFill>
                  <a:srgbClr val="0070C0"/>
                </a:solidFill>
              </a:rPr>
              <a:t>q</a:t>
            </a:r>
            <a:r>
              <a:rPr lang="en-US" altLang="en-US" sz="2400" baseline="-25000" dirty="0" err="1">
                <a:solidFill>
                  <a:srgbClr val="0070C0"/>
                </a:solidFill>
              </a:rPr>
              <a:t>d</a:t>
            </a:r>
            <a:r>
              <a:rPr lang="en-US" altLang="en-US" sz="2400" dirty="0">
                <a:solidFill>
                  <a:srgbClr val="0070C0"/>
                </a:solidFill>
              </a:rPr>
              <a:t>.</a:t>
            </a:r>
          </a:p>
          <a:p>
            <a:pPr algn="just" eaLnBrk="1" hangingPunct="1">
              <a:spcAft>
                <a:spcPts val="60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2400" dirty="0"/>
              <a:t>The new labels compensate for  the absence of </a:t>
            </a:r>
            <a:r>
              <a:rPr lang="en-US" altLang="en-US" sz="2400" i="1" dirty="0" err="1"/>
              <a:t>q</a:t>
            </a:r>
            <a:r>
              <a:rPr lang="en-US" altLang="en-US" sz="2400" baseline="-25000" dirty="0" err="1"/>
              <a:t>rmv</a:t>
            </a:r>
            <a:r>
              <a:rPr lang="en-US" altLang="en-US" sz="2400" dirty="0"/>
              <a:t> by adding back the lost computations. i.e., The new label going from a state </a:t>
            </a:r>
            <a:r>
              <a:rPr lang="en-US" altLang="en-US" sz="2400" i="1" dirty="0" err="1"/>
              <a:t>q</a:t>
            </a:r>
            <a:r>
              <a:rPr lang="en-US" altLang="en-US" sz="2400" baseline="-25000" dirty="0" err="1"/>
              <a:t>s</a:t>
            </a:r>
            <a:r>
              <a:rPr lang="en-US" altLang="en-US" sz="2400" dirty="0"/>
              <a:t> to state </a:t>
            </a:r>
            <a:r>
              <a:rPr lang="en-US" altLang="en-US" sz="2400" i="1" dirty="0" err="1"/>
              <a:t>q</a:t>
            </a:r>
            <a:r>
              <a:rPr lang="en-US" altLang="en-US" sz="2400" baseline="-25000" dirty="0" err="1"/>
              <a:t>d</a:t>
            </a:r>
            <a:r>
              <a:rPr lang="en-US" altLang="en-US" sz="2400" dirty="0"/>
              <a:t> is a regular expression that describes all strings that would take the machine from </a:t>
            </a:r>
            <a:r>
              <a:rPr lang="en-US" altLang="en-US" sz="2400" i="1" dirty="0" err="1"/>
              <a:t>q</a:t>
            </a:r>
            <a:r>
              <a:rPr lang="en-US" altLang="en-US" sz="2400" baseline="-25000" dirty="0" err="1"/>
              <a:t>s</a:t>
            </a:r>
            <a:r>
              <a:rPr lang="en-US" altLang="en-US" sz="2400" dirty="0"/>
              <a:t> to </a:t>
            </a:r>
            <a:r>
              <a:rPr lang="en-US" altLang="en-US" sz="2400" i="1" dirty="0" err="1"/>
              <a:t>q</a:t>
            </a:r>
            <a:r>
              <a:rPr lang="en-US" altLang="en-US" sz="2400" baseline="-25000" dirty="0" err="1"/>
              <a:t>d</a:t>
            </a:r>
            <a:r>
              <a:rPr lang="en-US" altLang="en-US" sz="2400" dirty="0"/>
              <a:t> either directly or via </a:t>
            </a:r>
            <a:r>
              <a:rPr lang="en-US" altLang="en-US" sz="2400" i="1" dirty="0" err="1"/>
              <a:t>q</a:t>
            </a:r>
            <a:r>
              <a:rPr lang="en-US" altLang="en-US" sz="2400" baseline="-25000" dirty="0" err="1"/>
              <a:t>rmv</a:t>
            </a:r>
            <a:r>
              <a:rPr lang="en-US" altLang="en-US" sz="2400" dirty="0"/>
              <a:t>.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F563BAC-DBC2-46A3-AAB9-A49D19022C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4432532"/>
            <a:ext cx="609600" cy="6096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i="1"/>
              <a:t>q</a:t>
            </a:r>
            <a:r>
              <a:rPr lang="en-US" altLang="en-US" sz="1800" baseline="-25000"/>
              <a:t>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6E3121F-85F4-4F98-B52D-33ECF8D15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5513619"/>
            <a:ext cx="609600" cy="6096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i="1"/>
              <a:t>q</a:t>
            </a:r>
            <a:r>
              <a:rPr lang="en-US" altLang="en-US" sz="1800" baseline="-25000"/>
              <a:t>rmv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62E0DA0-6E00-405A-A885-3066EABA42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4432532"/>
            <a:ext cx="609600" cy="6096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i="1"/>
              <a:t>q</a:t>
            </a:r>
            <a:r>
              <a:rPr lang="en-US" altLang="en-US" sz="1800" baseline="-25000"/>
              <a:t>d</a:t>
            </a:r>
          </a:p>
        </p:txBody>
      </p:sp>
      <p:cxnSp>
        <p:nvCxnSpPr>
          <p:cNvPr id="8" name="AutoShape 7">
            <a:extLst>
              <a:ext uri="{FF2B5EF4-FFF2-40B4-BE49-F238E27FC236}">
                <a16:creationId xmlns:a16="http://schemas.microsoft.com/office/drawing/2014/main" id="{97BB73EF-95A3-42ED-A5D5-AE4363405E1D}"/>
              </a:ext>
            </a:extLst>
          </p:cNvPr>
          <p:cNvCxnSpPr>
            <a:cxnSpLocks noChangeShapeType="1"/>
            <a:stCxn id="5" idx="6"/>
            <a:endCxn id="7" idx="2"/>
          </p:cNvCxnSpPr>
          <p:nvPr/>
        </p:nvCxnSpPr>
        <p:spPr bwMode="auto">
          <a:xfrm>
            <a:off x="2757488" y="4737332"/>
            <a:ext cx="41624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" name="AutoShape 8">
            <a:extLst>
              <a:ext uri="{FF2B5EF4-FFF2-40B4-BE49-F238E27FC236}">
                <a16:creationId xmlns:a16="http://schemas.microsoft.com/office/drawing/2014/main" id="{36832C2E-4154-4DCC-AC9D-5143262D4451}"/>
              </a:ext>
            </a:extLst>
          </p:cNvPr>
          <p:cNvCxnSpPr>
            <a:cxnSpLocks noChangeShapeType="1"/>
            <a:stCxn id="5" idx="4"/>
            <a:endCxn id="6" idx="2"/>
          </p:cNvCxnSpPr>
          <p:nvPr/>
        </p:nvCxnSpPr>
        <p:spPr bwMode="auto">
          <a:xfrm rot="16200000" flipH="1">
            <a:off x="3040857" y="4453962"/>
            <a:ext cx="762000" cy="1966913"/>
          </a:xfrm>
          <a:prstGeom prst="curvedConnector2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" name="AutoShape 9">
            <a:extLst>
              <a:ext uri="{FF2B5EF4-FFF2-40B4-BE49-F238E27FC236}">
                <a16:creationId xmlns:a16="http://schemas.microsoft.com/office/drawing/2014/main" id="{6A29F48C-71A6-409C-B0E7-5FAC10352513}"/>
              </a:ext>
            </a:extLst>
          </p:cNvPr>
          <p:cNvCxnSpPr>
            <a:cxnSpLocks noChangeShapeType="1"/>
            <a:stCxn id="7" idx="4"/>
            <a:endCxn id="6" idx="6"/>
          </p:cNvCxnSpPr>
          <p:nvPr/>
        </p:nvCxnSpPr>
        <p:spPr bwMode="auto">
          <a:xfrm rot="5400000">
            <a:off x="5760244" y="4339663"/>
            <a:ext cx="762000" cy="2195512"/>
          </a:xfrm>
          <a:prstGeom prst="curvedConnector2">
            <a:avLst/>
          </a:prstGeom>
          <a:noFill/>
          <a:ln w="28575">
            <a:solidFill>
              <a:schemeClr val="tx1"/>
            </a:solidFill>
            <a:round/>
            <a:headEnd type="triangle" w="lg" len="med"/>
            <a:tailEnd type="non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" name="AutoShape 10">
            <a:extLst>
              <a:ext uri="{FF2B5EF4-FFF2-40B4-BE49-F238E27FC236}">
                <a16:creationId xmlns:a16="http://schemas.microsoft.com/office/drawing/2014/main" id="{B0425C68-FEF9-4309-ADAB-7813CC08BEFA}"/>
              </a:ext>
            </a:extLst>
          </p:cNvPr>
          <p:cNvCxnSpPr>
            <a:cxnSpLocks noChangeShapeType="1"/>
            <a:stCxn id="6" idx="5"/>
            <a:endCxn id="6" idx="3"/>
          </p:cNvCxnSpPr>
          <p:nvPr/>
        </p:nvCxnSpPr>
        <p:spPr bwMode="auto">
          <a:xfrm rot="5400000">
            <a:off x="4723606" y="5833501"/>
            <a:ext cx="1587" cy="431800"/>
          </a:xfrm>
          <a:prstGeom prst="curvedConnector3">
            <a:avLst>
              <a:gd name="adj1" fmla="val 19100009"/>
            </a:avLst>
          </a:prstGeom>
          <a:noFill/>
          <a:ln w="28575">
            <a:solidFill>
              <a:schemeClr val="tx1"/>
            </a:solidFill>
            <a:round/>
            <a:headEnd type="triangle" w="lg" len="med"/>
            <a:tailEnd type="non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" name="Text Box 11">
            <a:extLst>
              <a:ext uri="{FF2B5EF4-FFF2-40B4-BE49-F238E27FC236}">
                <a16:creationId xmlns:a16="http://schemas.microsoft.com/office/drawing/2014/main" id="{BA6D5D98-DDF7-49F7-A7D7-DB2D766A5A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4675419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i="1"/>
              <a:t>R</a:t>
            </a:r>
            <a:r>
              <a:rPr lang="en-US" altLang="en-US" sz="1800" baseline="-25000"/>
              <a:t>4</a:t>
            </a:r>
          </a:p>
        </p:txBody>
      </p:sp>
      <p:sp>
        <p:nvSpPr>
          <p:cNvPr id="13" name="Text Box 12">
            <a:extLst>
              <a:ext uri="{FF2B5EF4-FFF2-40B4-BE49-F238E27FC236}">
                <a16:creationId xmlns:a16="http://schemas.microsoft.com/office/drawing/2014/main" id="{EBD90F57-ED3E-4F07-ACCE-AD2B3AAC98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6310544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i="1"/>
              <a:t>R</a:t>
            </a:r>
            <a:r>
              <a:rPr lang="en-US" altLang="en-US" sz="1800" baseline="-25000"/>
              <a:t>2</a:t>
            </a:r>
          </a:p>
        </p:txBody>
      </p:sp>
      <p:sp>
        <p:nvSpPr>
          <p:cNvPr id="14" name="Text Box 13">
            <a:extLst>
              <a:ext uri="{FF2B5EF4-FFF2-40B4-BE49-F238E27FC236}">
                <a16:creationId xmlns:a16="http://schemas.microsoft.com/office/drawing/2014/main" id="{C03E3245-0488-489D-8EB1-852ACDE163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5513619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i="1"/>
              <a:t>R</a:t>
            </a:r>
            <a:r>
              <a:rPr lang="en-US" altLang="en-US" sz="1800" baseline="-25000"/>
              <a:t>1</a:t>
            </a:r>
          </a:p>
        </p:txBody>
      </p:sp>
      <p:sp>
        <p:nvSpPr>
          <p:cNvPr id="15" name="Text Box 14">
            <a:extLst>
              <a:ext uri="{FF2B5EF4-FFF2-40B4-BE49-F238E27FC236}">
                <a16:creationId xmlns:a16="http://schemas.microsoft.com/office/drawing/2014/main" id="{B15FEF11-3D33-4D15-91EC-2B1740C109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5604107"/>
            <a:ext cx="609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i="1"/>
              <a:t>R</a:t>
            </a:r>
            <a:r>
              <a:rPr lang="en-US" altLang="en-US" sz="1800" baseline="-25000"/>
              <a:t>3</a:t>
            </a:r>
          </a:p>
        </p:txBody>
      </p:sp>
      <p:sp>
        <p:nvSpPr>
          <p:cNvPr id="16" name="Text Box 19">
            <a:extLst>
              <a:ext uri="{FF2B5EF4-FFF2-40B4-BE49-F238E27FC236}">
                <a16:creationId xmlns:a16="http://schemas.microsoft.com/office/drawing/2014/main" id="{150F2AF2-72F3-4846-B595-A492DF501B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4294419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(</a:t>
            </a:r>
            <a:r>
              <a:rPr lang="en-US" altLang="en-US" sz="1800" b="1" i="1">
                <a:solidFill>
                  <a:srgbClr val="FF0000"/>
                </a:solidFill>
              </a:rPr>
              <a:t>R</a:t>
            </a:r>
            <a:r>
              <a:rPr lang="en-US" altLang="en-US" sz="1800" b="1" baseline="-25000">
                <a:solidFill>
                  <a:srgbClr val="FF0000"/>
                </a:solidFill>
              </a:rPr>
              <a:t>1</a:t>
            </a:r>
            <a:r>
              <a:rPr lang="en-US" altLang="en-US" sz="1800" b="1">
                <a:solidFill>
                  <a:srgbClr val="FF0000"/>
                </a:solidFill>
              </a:rPr>
              <a:t>)</a:t>
            </a:r>
            <a:endParaRPr lang="en-US" altLang="en-US" sz="1800" b="1" baseline="-25000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  <p:sp>
        <p:nvSpPr>
          <p:cNvPr id="17" name="Text Box 20">
            <a:extLst>
              <a:ext uri="{FF2B5EF4-FFF2-40B4-BE49-F238E27FC236}">
                <a16:creationId xmlns:a16="http://schemas.microsoft.com/office/drawing/2014/main" id="{817DCBEC-A8E4-4BAC-A3BB-2363C935FC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500" y="4294419"/>
            <a:ext cx="914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  <a:sym typeface="Symbol" panose="05050102010706020507" pitchFamily="18" charset="2"/>
              </a:rPr>
              <a:t></a:t>
            </a:r>
            <a:r>
              <a:rPr lang="en-US" altLang="en-US" sz="1800" b="1">
                <a:solidFill>
                  <a:srgbClr val="FF0000"/>
                </a:solidFill>
              </a:rPr>
              <a:t>(</a:t>
            </a:r>
            <a:r>
              <a:rPr lang="en-US" altLang="en-US" sz="1800" b="1" i="1">
                <a:solidFill>
                  <a:srgbClr val="FF0000"/>
                </a:solidFill>
              </a:rPr>
              <a:t>R</a:t>
            </a:r>
            <a:r>
              <a:rPr lang="en-US" altLang="en-US" sz="1800" b="1" baseline="-25000">
                <a:solidFill>
                  <a:srgbClr val="FF0000"/>
                </a:solidFill>
              </a:rPr>
              <a:t>2</a:t>
            </a:r>
            <a:r>
              <a:rPr lang="en-US" altLang="en-US" sz="1800" b="1">
                <a:solidFill>
                  <a:srgbClr val="FF0000"/>
                </a:solidFill>
              </a:rPr>
              <a:t>)*</a:t>
            </a:r>
            <a:endParaRPr lang="en-US" altLang="en-US" sz="1800" b="1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  <p:sp>
        <p:nvSpPr>
          <p:cNvPr id="18" name="Text Box 21">
            <a:extLst>
              <a:ext uri="{FF2B5EF4-FFF2-40B4-BE49-F238E27FC236}">
                <a16:creationId xmlns:a16="http://schemas.microsoft.com/office/drawing/2014/main" id="{6A313790-7B42-473F-99AE-DA5CEBE5FE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2800" y="4308707"/>
            <a:ext cx="7493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  <a:sym typeface="Symbol" panose="05050102010706020507" pitchFamily="18" charset="2"/>
              </a:rPr>
              <a:t></a:t>
            </a:r>
            <a:r>
              <a:rPr lang="en-US" altLang="en-US" sz="1800" b="1">
                <a:solidFill>
                  <a:srgbClr val="FF0000"/>
                </a:solidFill>
              </a:rPr>
              <a:t>(</a:t>
            </a:r>
            <a:r>
              <a:rPr lang="en-US" altLang="en-US" sz="1800" b="1" i="1">
                <a:solidFill>
                  <a:srgbClr val="FF0000"/>
                </a:solidFill>
              </a:rPr>
              <a:t>R</a:t>
            </a:r>
            <a:r>
              <a:rPr lang="en-US" altLang="en-US" sz="1800" b="1" baseline="-25000">
                <a:solidFill>
                  <a:srgbClr val="FF0000"/>
                </a:solidFill>
              </a:rPr>
              <a:t>3</a:t>
            </a:r>
            <a:r>
              <a:rPr lang="en-US" altLang="en-US" sz="1800" b="1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19" name="Text Box 22">
            <a:extLst>
              <a:ext uri="{FF2B5EF4-FFF2-40B4-BE49-F238E27FC236}">
                <a16:creationId xmlns:a16="http://schemas.microsoft.com/office/drawing/2014/main" id="{A1A12691-8810-4ACB-8617-C938C0C4BA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4294419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(</a:t>
            </a:r>
            <a:r>
              <a:rPr lang="en-US" altLang="en-US" sz="1800" b="1" i="1">
                <a:solidFill>
                  <a:srgbClr val="FF0000"/>
                </a:solidFill>
              </a:rPr>
              <a:t>R</a:t>
            </a:r>
            <a:r>
              <a:rPr lang="en-US" altLang="en-US" sz="1800" b="1" baseline="-25000">
                <a:solidFill>
                  <a:srgbClr val="FF0000"/>
                </a:solidFill>
              </a:rPr>
              <a:t>4</a:t>
            </a:r>
            <a:r>
              <a:rPr lang="en-US" altLang="en-US" sz="1800" b="1">
                <a:solidFill>
                  <a:srgbClr val="FF0000"/>
                </a:solidFill>
              </a:rPr>
              <a:t>)</a:t>
            </a:r>
            <a:endParaRPr lang="en-US" altLang="en-US" sz="1800" b="1" baseline="-25000">
              <a:solidFill>
                <a:srgbClr val="FF0000"/>
              </a:solidFill>
            </a:endParaRPr>
          </a:p>
        </p:txBody>
      </p:sp>
      <p:sp>
        <p:nvSpPr>
          <p:cNvPr id="20" name="Text Box 23">
            <a:extLst>
              <a:ext uri="{FF2B5EF4-FFF2-40B4-BE49-F238E27FC236}">
                <a16:creationId xmlns:a16="http://schemas.microsoft.com/office/drawing/2014/main" id="{622D5124-4FA6-4F28-B52B-9E66DD04EE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4308707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  <a:sym typeface="Symbol" panose="05050102010706020507" pitchFamily="18" charset="2"/>
              </a:rPr>
              <a:t></a:t>
            </a:r>
          </a:p>
        </p:txBody>
      </p:sp>
    </p:spTree>
    <p:extLst>
      <p:ext uri="{BB962C8B-B14F-4D97-AF65-F5344CB8AC3E}">
        <p14:creationId xmlns:p14="http://schemas.microsoft.com/office/powerpoint/2010/main" val="839300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9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8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7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6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xit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xit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"/>
                            </p:stCondLst>
                            <p:childTnLst>
                              <p:par>
                                <p:cTn id="95" presetID="1" presetClass="exit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0" presetID="1" presetClass="exit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xit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500"/>
                            </p:stCondLst>
                            <p:childTnLst>
                              <p:par>
                                <p:cTn id="105" presetID="1" presetClass="exit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2000"/>
                            </p:stCondLst>
                            <p:childTnLst>
                              <p:par>
                                <p:cTn id="108" presetID="7" presetClass="emph" presetSubtype="1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9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0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12" presetID="3" presetClass="emph" presetSubtype="1" grpId="1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 override="childStyle">
                                        <p:cTn id="113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3" presetClass="emph" presetSubtype="1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 override="childStyle">
                                        <p:cTn id="115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3" presetClass="emph" presetSubtype="1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 override="childStyle">
                                        <p:cTn id="117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3" presetClass="emph" presetSubtype="1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 override="childStyle">
                                        <p:cTn id="119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3" presetClass="emph" presetSubtype="1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 override="childStyle">
                                        <p:cTn id="121" dur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6" grpId="1" animBg="1"/>
      <p:bldP spid="7" grpId="0" animBg="1"/>
      <p:bldP spid="12" grpId="0"/>
      <p:bldP spid="12" grpId="1"/>
      <p:bldP spid="13" grpId="0"/>
      <p:bldP spid="13" grpId="1"/>
      <p:bldP spid="14" grpId="0"/>
      <p:bldP spid="14" grpId="1"/>
      <p:bldP spid="15" grpId="0"/>
      <p:bldP spid="15" grpId="1"/>
      <p:bldP spid="16" grpId="0"/>
      <p:bldP spid="16" grpId="1"/>
      <p:bldP spid="17" grpId="0"/>
      <p:bldP spid="17" grpId="1"/>
      <p:bldP spid="18" grpId="0"/>
      <p:bldP spid="18" grpId="1"/>
      <p:bldP spid="19" grpId="0"/>
      <p:bldP spid="19" grpId="1"/>
      <p:bldP spid="20" grpId="0"/>
      <p:bldP spid="20" grpId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EFE64F6-A1DA-43D9-AB2D-5A543A6AE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CSC3113: Theory of Computation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4AD1DB-3CCA-4EAF-A6C6-714AC75C069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sz="3600" dirty="0"/>
              <a:t>Repairing after removing a state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F68998-A873-4DEE-9C04-BC5FB6F79E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" y="1219200"/>
            <a:ext cx="9136063" cy="5591175"/>
          </a:xfrm>
        </p:spPr>
        <p:txBody>
          <a:bodyPr/>
          <a:lstStyle/>
          <a:p>
            <a:pPr algn="just" eaLnBrk="1" hangingPunct="1">
              <a:buFont typeface="Wingdings" panose="05000000000000000000" pitchFamily="2" charset="2"/>
              <a:buChar char="q"/>
            </a:pPr>
            <a:r>
              <a:rPr lang="en-US" altLang="en-US" sz="2400" dirty="0"/>
              <a:t>Let us call the removed state </a:t>
            </a:r>
            <a:r>
              <a:rPr lang="en-US" altLang="en-US" sz="2400" i="1" dirty="0" err="1"/>
              <a:t>q</a:t>
            </a:r>
            <a:r>
              <a:rPr lang="en-US" altLang="en-US" sz="2400" baseline="-25000" dirty="0" err="1"/>
              <a:t>rmv</a:t>
            </a:r>
            <a:r>
              <a:rPr lang="en-US" altLang="en-US" sz="2400" dirty="0"/>
              <a:t>.</a:t>
            </a:r>
          </a:p>
          <a:p>
            <a:pPr algn="just" eaLnBrk="1" hangingPunct="1">
              <a:buFont typeface="Wingdings" panose="05000000000000000000" pitchFamily="2" charset="2"/>
              <a:buChar char="q"/>
            </a:pPr>
            <a:r>
              <a:rPr lang="en-US" altLang="en-US" sz="2400" dirty="0">
                <a:solidFill>
                  <a:srgbClr val="0070C0"/>
                </a:solidFill>
              </a:rPr>
              <a:t>Repair the machine by altering the regular expressions that label each of the remaining arrows. This change is done for each arrow going from any state </a:t>
            </a:r>
            <a:r>
              <a:rPr lang="en-US" altLang="en-US" sz="2400" i="1" dirty="0" err="1">
                <a:solidFill>
                  <a:srgbClr val="0070C0"/>
                </a:solidFill>
              </a:rPr>
              <a:t>q</a:t>
            </a:r>
            <a:r>
              <a:rPr lang="en-US" altLang="en-US" sz="2400" baseline="-25000" dirty="0" err="1">
                <a:solidFill>
                  <a:srgbClr val="0070C0"/>
                </a:solidFill>
              </a:rPr>
              <a:t>s</a:t>
            </a:r>
            <a:r>
              <a:rPr lang="en-US" altLang="en-US" sz="2400" dirty="0">
                <a:solidFill>
                  <a:srgbClr val="0070C0"/>
                </a:solidFill>
              </a:rPr>
              <a:t> to </a:t>
            </a:r>
            <a:r>
              <a:rPr lang="en-US" altLang="en-US" sz="2400" i="1" dirty="0" err="1">
                <a:solidFill>
                  <a:srgbClr val="0070C0"/>
                </a:solidFill>
              </a:rPr>
              <a:t>q</a:t>
            </a:r>
            <a:r>
              <a:rPr lang="en-US" altLang="en-US" sz="2400" baseline="-25000" dirty="0" err="1">
                <a:solidFill>
                  <a:srgbClr val="0070C0"/>
                </a:solidFill>
              </a:rPr>
              <a:t>d</a:t>
            </a:r>
            <a:r>
              <a:rPr lang="en-US" altLang="en-US" sz="2400" dirty="0">
                <a:solidFill>
                  <a:srgbClr val="0070C0"/>
                </a:solidFill>
              </a:rPr>
              <a:t>, including the case where </a:t>
            </a:r>
            <a:r>
              <a:rPr lang="en-US" altLang="en-US" sz="2400" i="1" dirty="0" err="1">
                <a:solidFill>
                  <a:srgbClr val="0070C0"/>
                </a:solidFill>
              </a:rPr>
              <a:t>q</a:t>
            </a:r>
            <a:r>
              <a:rPr lang="en-US" altLang="en-US" sz="2400" baseline="-25000" dirty="0" err="1">
                <a:solidFill>
                  <a:srgbClr val="0070C0"/>
                </a:solidFill>
              </a:rPr>
              <a:t>s</a:t>
            </a:r>
            <a:r>
              <a:rPr lang="en-US" altLang="en-US" sz="2400" dirty="0">
                <a:solidFill>
                  <a:srgbClr val="0070C0"/>
                </a:solidFill>
              </a:rPr>
              <a:t> = </a:t>
            </a:r>
            <a:r>
              <a:rPr lang="en-US" altLang="en-US" sz="2400" i="1" dirty="0" err="1">
                <a:solidFill>
                  <a:srgbClr val="0070C0"/>
                </a:solidFill>
              </a:rPr>
              <a:t>q</a:t>
            </a:r>
            <a:r>
              <a:rPr lang="en-US" altLang="en-US" sz="2400" baseline="-25000" dirty="0" err="1">
                <a:solidFill>
                  <a:srgbClr val="0070C0"/>
                </a:solidFill>
              </a:rPr>
              <a:t>d</a:t>
            </a:r>
            <a:r>
              <a:rPr lang="en-US" altLang="en-US" sz="2400" dirty="0">
                <a:solidFill>
                  <a:srgbClr val="0070C0"/>
                </a:solidFill>
              </a:rPr>
              <a:t>.</a:t>
            </a:r>
          </a:p>
          <a:p>
            <a:pPr algn="just" eaLnBrk="1" hangingPunct="1">
              <a:buFont typeface="Wingdings" panose="05000000000000000000" pitchFamily="2" charset="2"/>
              <a:buChar char="q"/>
            </a:pPr>
            <a:r>
              <a:rPr lang="en-US" altLang="en-US" sz="2400" dirty="0"/>
              <a:t>The new labels compensate for  the absence of </a:t>
            </a:r>
            <a:r>
              <a:rPr lang="en-US" altLang="en-US" sz="2400" i="1" dirty="0" err="1"/>
              <a:t>q</a:t>
            </a:r>
            <a:r>
              <a:rPr lang="en-US" altLang="en-US" sz="2400" baseline="-25000" dirty="0" err="1"/>
              <a:t>rmv</a:t>
            </a:r>
            <a:r>
              <a:rPr lang="en-US" altLang="en-US" sz="2400" dirty="0"/>
              <a:t> by adding back the lost computations. i.e., The new label going from a state </a:t>
            </a:r>
            <a:r>
              <a:rPr lang="en-US" altLang="en-US" sz="2400" i="1" dirty="0" err="1"/>
              <a:t>q</a:t>
            </a:r>
            <a:r>
              <a:rPr lang="en-US" altLang="en-US" sz="2400" baseline="-25000" dirty="0" err="1"/>
              <a:t>s</a:t>
            </a:r>
            <a:r>
              <a:rPr lang="en-US" altLang="en-US" sz="2400" dirty="0"/>
              <a:t> to state </a:t>
            </a:r>
            <a:r>
              <a:rPr lang="en-US" altLang="en-US" sz="2400" i="1" dirty="0" err="1"/>
              <a:t>q</a:t>
            </a:r>
            <a:r>
              <a:rPr lang="en-US" altLang="en-US" sz="2400" baseline="-25000" dirty="0" err="1"/>
              <a:t>d</a:t>
            </a:r>
            <a:r>
              <a:rPr lang="en-US" altLang="en-US" sz="2400" dirty="0"/>
              <a:t> is a regular expression that describes all strings that would take the machine from </a:t>
            </a:r>
            <a:r>
              <a:rPr lang="en-US" altLang="en-US" sz="2400" i="1" dirty="0" err="1"/>
              <a:t>q</a:t>
            </a:r>
            <a:r>
              <a:rPr lang="en-US" altLang="en-US" sz="2400" baseline="-25000" dirty="0" err="1"/>
              <a:t>s</a:t>
            </a:r>
            <a:r>
              <a:rPr lang="en-US" altLang="en-US" sz="2400" dirty="0"/>
              <a:t> to </a:t>
            </a:r>
            <a:r>
              <a:rPr lang="en-US" altLang="en-US" sz="2400" i="1" dirty="0" err="1"/>
              <a:t>q</a:t>
            </a:r>
            <a:r>
              <a:rPr lang="en-US" altLang="en-US" sz="2400" baseline="-25000" dirty="0" err="1"/>
              <a:t>d</a:t>
            </a:r>
            <a:r>
              <a:rPr lang="en-US" altLang="en-US" sz="2400" dirty="0"/>
              <a:t> either directly or via </a:t>
            </a:r>
            <a:r>
              <a:rPr lang="en-US" altLang="en-US" sz="2400" i="1" dirty="0" err="1"/>
              <a:t>q</a:t>
            </a:r>
            <a:r>
              <a:rPr lang="en-US" altLang="en-US" sz="2400" baseline="-25000" dirty="0" err="1"/>
              <a:t>rmv</a:t>
            </a:r>
            <a:r>
              <a:rPr lang="en-US" altLang="en-US" sz="2400" dirty="0"/>
              <a:t>.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F563BAC-DBC2-46A3-AAB9-A49D19022C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4432532"/>
            <a:ext cx="609600" cy="6096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i="1"/>
              <a:t>q</a:t>
            </a:r>
            <a:r>
              <a:rPr lang="en-US" altLang="en-US" sz="1800" baseline="-25000"/>
              <a:t>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6E3121F-85F4-4F98-B52D-33ECF8D15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5513619"/>
            <a:ext cx="609600" cy="6096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i="1"/>
              <a:t>q</a:t>
            </a:r>
            <a:r>
              <a:rPr lang="en-US" altLang="en-US" sz="1800" baseline="-25000"/>
              <a:t>rmv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62E0DA0-6E00-405A-A885-3066EABA42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4432532"/>
            <a:ext cx="609600" cy="6096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i="1"/>
              <a:t>q</a:t>
            </a:r>
            <a:r>
              <a:rPr lang="en-US" altLang="en-US" sz="1800" baseline="-25000"/>
              <a:t>d</a:t>
            </a:r>
          </a:p>
        </p:txBody>
      </p:sp>
      <p:cxnSp>
        <p:nvCxnSpPr>
          <p:cNvPr id="8" name="AutoShape 7">
            <a:extLst>
              <a:ext uri="{FF2B5EF4-FFF2-40B4-BE49-F238E27FC236}">
                <a16:creationId xmlns:a16="http://schemas.microsoft.com/office/drawing/2014/main" id="{97BB73EF-95A3-42ED-A5D5-AE4363405E1D}"/>
              </a:ext>
            </a:extLst>
          </p:cNvPr>
          <p:cNvCxnSpPr>
            <a:cxnSpLocks noChangeShapeType="1"/>
            <a:stCxn id="5" idx="6"/>
            <a:endCxn id="7" idx="2"/>
          </p:cNvCxnSpPr>
          <p:nvPr/>
        </p:nvCxnSpPr>
        <p:spPr bwMode="auto">
          <a:xfrm>
            <a:off x="2757488" y="4737332"/>
            <a:ext cx="41624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" name="AutoShape 8">
            <a:extLst>
              <a:ext uri="{FF2B5EF4-FFF2-40B4-BE49-F238E27FC236}">
                <a16:creationId xmlns:a16="http://schemas.microsoft.com/office/drawing/2014/main" id="{36832C2E-4154-4DCC-AC9D-5143262D4451}"/>
              </a:ext>
            </a:extLst>
          </p:cNvPr>
          <p:cNvCxnSpPr>
            <a:cxnSpLocks noChangeShapeType="1"/>
            <a:stCxn id="5" idx="4"/>
            <a:endCxn id="6" idx="2"/>
          </p:cNvCxnSpPr>
          <p:nvPr/>
        </p:nvCxnSpPr>
        <p:spPr bwMode="auto">
          <a:xfrm rot="16200000" flipH="1">
            <a:off x="3040857" y="4453962"/>
            <a:ext cx="762000" cy="1966913"/>
          </a:xfrm>
          <a:prstGeom prst="curvedConnector2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" name="AutoShape 9">
            <a:extLst>
              <a:ext uri="{FF2B5EF4-FFF2-40B4-BE49-F238E27FC236}">
                <a16:creationId xmlns:a16="http://schemas.microsoft.com/office/drawing/2014/main" id="{6A29F48C-71A6-409C-B0E7-5FAC10352513}"/>
              </a:ext>
            </a:extLst>
          </p:cNvPr>
          <p:cNvCxnSpPr>
            <a:cxnSpLocks noChangeShapeType="1"/>
            <a:stCxn id="7" idx="4"/>
            <a:endCxn id="6" idx="6"/>
          </p:cNvCxnSpPr>
          <p:nvPr/>
        </p:nvCxnSpPr>
        <p:spPr bwMode="auto">
          <a:xfrm rot="5400000">
            <a:off x="5760244" y="4339663"/>
            <a:ext cx="762000" cy="2195512"/>
          </a:xfrm>
          <a:prstGeom prst="curvedConnector2">
            <a:avLst/>
          </a:prstGeom>
          <a:noFill/>
          <a:ln w="28575">
            <a:solidFill>
              <a:schemeClr val="tx1"/>
            </a:solidFill>
            <a:round/>
            <a:headEnd type="triangle" w="lg" len="med"/>
            <a:tailEnd type="non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" name="AutoShape 10">
            <a:extLst>
              <a:ext uri="{FF2B5EF4-FFF2-40B4-BE49-F238E27FC236}">
                <a16:creationId xmlns:a16="http://schemas.microsoft.com/office/drawing/2014/main" id="{B0425C68-FEF9-4309-ADAB-7813CC08BEFA}"/>
              </a:ext>
            </a:extLst>
          </p:cNvPr>
          <p:cNvCxnSpPr>
            <a:cxnSpLocks noChangeShapeType="1"/>
            <a:stCxn id="6" idx="5"/>
            <a:endCxn id="6" idx="3"/>
          </p:cNvCxnSpPr>
          <p:nvPr/>
        </p:nvCxnSpPr>
        <p:spPr bwMode="auto">
          <a:xfrm rot="5400000">
            <a:off x="4723606" y="5833501"/>
            <a:ext cx="1587" cy="431800"/>
          </a:xfrm>
          <a:prstGeom prst="curvedConnector3">
            <a:avLst>
              <a:gd name="adj1" fmla="val 19100009"/>
            </a:avLst>
          </a:prstGeom>
          <a:noFill/>
          <a:ln w="28575">
            <a:solidFill>
              <a:schemeClr val="tx1"/>
            </a:solidFill>
            <a:round/>
            <a:headEnd type="triangle" w="lg" len="med"/>
            <a:tailEnd type="non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" name="Text Box 11">
            <a:extLst>
              <a:ext uri="{FF2B5EF4-FFF2-40B4-BE49-F238E27FC236}">
                <a16:creationId xmlns:a16="http://schemas.microsoft.com/office/drawing/2014/main" id="{BA6D5D98-DDF7-49F7-A7D7-DB2D766A5A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4675419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i="1"/>
              <a:t>R</a:t>
            </a:r>
            <a:r>
              <a:rPr lang="en-US" altLang="en-US" sz="1800" baseline="-25000"/>
              <a:t>4</a:t>
            </a:r>
          </a:p>
        </p:txBody>
      </p:sp>
      <p:sp>
        <p:nvSpPr>
          <p:cNvPr id="13" name="Text Box 12">
            <a:extLst>
              <a:ext uri="{FF2B5EF4-FFF2-40B4-BE49-F238E27FC236}">
                <a16:creationId xmlns:a16="http://schemas.microsoft.com/office/drawing/2014/main" id="{EBD90F57-ED3E-4F07-ACCE-AD2B3AAC98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6310544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i="1"/>
              <a:t>R</a:t>
            </a:r>
            <a:r>
              <a:rPr lang="en-US" altLang="en-US" sz="1800" baseline="-25000"/>
              <a:t>2</a:t>
            </a:r>
          </a:p>
        </p:txBody>
      </p:sp>
      <p:sp>
        <p:nvSpPr>
          <p:cNvPr id="14" name="Text Box 13">
            <a:extLst>
              <a:ext uri="{FF2B5EF4-FFF2-40B4-BE49-F238E27FC236}">
                <a16:creationId xmlns:a16="http://schemas.microsoft.com/office/drawing/2014/main" id="{C03E3245-0488-489D-8EB1-852ACDE163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5513619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i="1"/>
              <a:t>R</a:t>
            </a:r>
            <a:r>
              <a:rPr lang="en-US" altLang="en-US" sz="1800" baseline="-25000"/>
              <a:t>1</a:t>
            </a:r>
          </a:p>
        </p:txBody>
      </p:sp>
      <p:sp>
        <p:nvSpPr>
          <p:cNvPr id="15" name="Text Box 14">
            <a:extLst>
              <a:ext uri="{FF2B5EF4-FFF2-40B4-BE49-F238E27FC236}">
                <a16:creationId xmlns:a16="http://schemas.microsoft.com/office/drawing/2014/main" id="{B15FEF11-3D33-4D15-91EC-2B1740C109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5604107"/>
            <a:ext cx="609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i="1"/>
              <a:t>R</a:t>
            </a:r>
            <a:r>
              <a:rPr lang="en-US" altLang="en-US" sz="1800" baseline="-25000"/>
              <a:t>3</a:t>
            </a:r>
          </a:p>
        </p:txBody>
      </p:sp>
      <p:sp>
        <p:nvSpPr>
          <p:cNvPr id="16" name="Text Box 19">
            <a:extLst>
              <a:ext uri="{FF2B5EF4-FFF2-40B4-BE49-F238E27FC236}">
                <a16:creationId xmlns:a16="http://schemas.microsoft.com/office/drawing/2014/main" id="{150F2AF2-72F3-4846-B595-A492DF501B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4294419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(</a:t>
            </a:r>
            <a:r>
              <a:rPr lang="en-US" altLang="en-US" sz="1800" b="1" i="1">
                <a:solidFill>
                  <a:srgbClr val="FF0000"/>
                </a:solidFill>
              </a:rPr>
              <a:t>R</a:t>
            </a:r>
            <a:r>
              <a:rPr lang="en-US" altLang="en-US" sz="1800" b="1" baseline="-25000">
                <a:solidFill>
                  <a:srgbClr val="FF0000"/>
                </a:solidFill>
              </a:rPr>
              <a:t>1</a:t>
            </a:r>
            <a:r>
              <a:rPr lang="en-US" altLang="en-US" sz="1800" b="1">
                <a:solidFill>
                  <a:srgbClr val="FF0000"/>
                </a:solidFill>
              </a:rPr>
              <a:t>)</a:t>
            </a:r>
            <a:endParaRPr lang="en-US" altLang="en-US" sz="1800" b="1" baseline="-25000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  <p:sp>
        <p:nvSpPr>
          <p:cNvPr id="17" name="Text Box 20">
            <a:extLst>
              <a:ext uri="{FF2B5EF4-FFF2-40B4-BE49-F238E27FC236}">
                <a16:creationId xmlns:a16="http://schemas.microsoft.com/office/drawing/2014/main" id="{817DCBEC-A8E4-4BAC-A3BB-2363C935FC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500" y="4294419"/>
            <a:ext cx="914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  <a:sym typeface="Symbol" panose="05050102010706020507" pitchFamily="18" charset="2"/>
              </a:rPr>
              <a:t></a:t>
            </a:r>
            <a:r>
              <a:rPr lang="en-US" altLang="en-US" sz="1800" b="1">
                <a:solidFill>
                  <a:srgbClr val="FF0000"/>
                </a:solidFill>
              </a:rPr>
              <a:t>(</a:t>
            </a:r>
            <a:r>
              <a:rPr lang="en-US" altLang="en-US" sz="1800" b="1" i="1">
                <a:solidFill>
                  <a:srgbClr val="FF0000"/>
                </a:solidFill>
              </a:rPr>
              <a:t>R</a:t>
            </a:r>
            <a:r>
              <a:rPr lang="en-US" altLang="en-US" sz="1800" b="1" baseline="-25000">
                <a:solidFill>
                  <a:srgbClr val="FF0000"/>
                </a:solidFill>
              </a:rPr>
              <a:t>2</a:t>
            </a:r>
            <a:r>
              <a:rPr lang="en-US" altLang="en-US" sz="1800" b="1">
                <a:solidFill>
                  <a:srgbClr val="FF0000"/>
                </a:solidFill>
              </a:rPr>
              <a:t>)*</a:t>
            </a:r>
            <a:endParaRPr lang="en-US" altLang="en-US" sz="1800" b="1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  <p:sp>
        <p:nvSpPr>
          <p:cNvPr id="18" name="Text Box 21">
            <a:extLst>
              <a:ext uri="{FF2B5EF4-FFF2-40B4-BE49-F238E27FC236}">
                <a16:creationId xmlns:a16="http://schemas.microsoft.com/office/drawing/2014/main" id="{6A313790-7B42-473F-99AE-DA5CEBE5FE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2800" y="4308707"/>
            <a:ext cx="7493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  <a:sym typeface="Symbol" panose="05050102010706020507" pitchFamily="18" charset="2"/>
              </a:rPr>
              <a:t></a:t>
            </a:r>
            <a:r>
              <a:rPr lang="en-US" altLang="en-US" sz="1800" b="1">
                <a:solidFill>
                  <a:srgbClr val="FF0000"/>
                </a:solidFill>
              </a:rPr>
              <a:t>(</a:t>
            </a:r>
            <a:r>
              <a:rPr lang="en-US" altLang="en-US" sz="1800" b="1" i="1">
                <a:solidFill>
                  <a:srgbClr val="FF0000"/>
                </a:solidFill>
              </a:rPr>
              <a:t>R</a:t>
            </a:r>
            <a:r>
              <a:rPr lang="en-US" altLang="en-US" sz="1800" b="1" baseline="-25000">
                <a:solidFill>
                  <a:srgbClr val="FF0000"/>
                </a:solidFill>
              </a:rPr>
              <a:t>3</a:t>
            </a:r>
            <a:r>
              <a:rPr lang="en-US" altLang="en-US" sz="1800" b="1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19" name="Text Box 22">
            <a:extLst>
              <a:ext uri="{FF2B5EF4-FFF2-40B4-BE49-F238E27FC236}">
                <a16:creationId xmlns:a16="http://schemas.microsoft.com/office/drawing/2014/main" id="{A1A12691-8810-4ACB-8617-C938C0C4BA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4294419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(</a:t>
            </a:r>
            <a:r>
              <a:rPr lang="en-US" altLang="en-US" sz="1800" b="1" i="1">
                <a:solidFill>
                  <a:srgbClr val="FF0000"/>
                </a:solidFill>
              </a:rPr>
              <a:t>R</a:t>
            </a:r>
            <a:r>
              <a:rPr lang="en-US" altLang="en-US" sz="1800" b="1" baseline="-25000">
                <a:solidFill>
                  <a:srgbClr val="FF0000"/>
                </a:solidFill>
              </a:rPr>
              <a:t>4</a:t>
            </a:r>
            <a:r>
              <a:rPr lang="en-US" altLang="en-US" sz="1800" b="1">
                <a:solidFill>
                  <a:srgbClr val="FF0000"/>
                </a:solidFill>
              </a:rPr>
              <a:t>)</a:t>
            </a:r>
            <a:endParaRPr lang="en-US" altLang="en-US" sz="1800" b="1" baseline="-25000">
              <a:solidFill>
                <a:srgbClr val="FF0000"/>
              </a:solidFill>
            </a:endParaRPr>
          </a:p>
        </p:txBody>
      </p:sp>
      <p:sp>
        <p:nvSpPr>
          <p:cNvPr id="20" name="Text Box 23">
            <a:extLst>
              <a:ext uri="{FF2B5EF4-FFF2-40B4-BE49-F238E27FC236}">
                <a16:creationId xmlns:a16="http://schemas.microsoft.com/office/drawing/2014/main" id="{622D5124-4FA6-4F28-B52B-9E66DD04EE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4308707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  <a:sym typeface="Symbol" panose="05050102010706020507" pitchFamily="18" charset="2"/>
              </a:rPr>
              <a:t></a:t>
            </a:r>
          </a:p>
        </p:txBody>
      </p:sp>
    </p:spTree>
    <p:extLst>
      <p:ext uri="{BB962C8B-B14F-4D97-AF65-F5344CB8AC3E}">
        <p14:creationId xmlns:p14="http://schemas.microsoft.com/office/powerpoint/2010/main" val="1549860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1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0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9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8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xit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xit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1" presetClass="exit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000"/>
                            </p:stCondLst>
                            <p:childTnLst>
                              <p:par>
                                <p:cTn id="82" presetID="1" presetClass="exit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xit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500"/>
                            </p:stCondLst>
                            <p:childTnLst>
                              <p:par>
                                <p:cTn id="87" presetID="1" presetClass="exit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2000"/>
                            </p:stCondLst>
                            <p:childTnLst>
                              <p:par>
                                <p:cTn id="90" presetID="7" presetClass="emph" presetSubtype="1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1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92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2500"/>
                            </p:stCondLst>
                            <p:childTnLst>
                              <p:par>
                                <p:cTn id="94" presetID="3" presetClass="emph" presetSubtype="1" grpId="1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 override="childStyle">
                                        <p:cTn id="95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3" presetClass="emph" presetSubtype="1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 override="childStyle">
                                        <p:cTn id="97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3" presetClass="emph" presetSubtype="1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 override="childStyle">
                                        <p:cTn id="99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3" presetClass="emph" presetSubtype="1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 override="childStyle">
                                        <p:cTn id="101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3" presetClass="emph" presetSubtype="1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 override="childStyle">
                                        <p:cTn id="103" dur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6" grpId="1" animBg="1"/>
      <p:bldP spid="7" grpId="0" animBg="1"/>
      <p:bldP spid="12" grpId="0"/>
      <p:bldP spid="12" grpId="1"/>
      <p:bldP spid="13" grpId="0"/>
      <p:bldP spid="13" grpId="1"/>
      <p:bldP spid="14" grpId="0"/>
      <p:bldP spid="14" grpId="1"/>
      <p:bldP spid="15" grpId="0"/>
      <p:bldP spid="15" grpId="1"/>
      <p:bldP spid="16" grpId="0"/>
      <p:bldP spid="16" grpId="1"/>
      <p:bldP spid="17" grpId="0"/>
      <p:bldP spid="17" grpId="1"/>
      <p:bldP spid="18" grpId="0"/>
      <p:bldP spid="18" grpId="1"/>
      <p:bldP spid="19" grpId="0"/>
      <p:bldP spid="19" grpId="1"/>
      <p:bldP spid="20" grpId="0"/>
      <p:bldP spid="20" grpId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632A50A-A780-4920-882B-62FB3316F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CSC3113: Theory of Computation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D2C502-FC94-4DFA-B536-5E66EBC5280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580913"/>
            <a:ext cx="8324850" cy="1005840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dirty="0"/>
              <a:t>Example: </a:t>
            </a:r>
          </a:p>
          <a:p>
            <a:pPr algn="ctr">
              <a:spcBef>
                <a:spcPts val="0"/>
              </a:spcBef>
            </a:pPr>
            <a:r>
              <a:rPr lang="en-US" altLang="en-US" sz="3200" dirty="0"/>
              <a:t>Converting a two state DFA to an equivalent regular expression</a:t>
            </a:r>
          </a:p>
          <a:p>
            <a:pPr>
              <a:spcBef>
                <a:spcPts val="0"/>
              </a:spcBef>
            </a:pPr>
            <a:r>
              <a:rPr lang="en-US" dirty="0"/>
              <a:t> </a:t>
            </a:r>
          </a:p>
        </p:txBody>
      </p:sp>
      <p:sp>
        <p:nvSpPr>
          <p:cNvPr id="4" name="Oval 4">
            <a:extLst>
              <a:ext uri="{FF2B5EF4-FFF2-40B4-BE49-F238E27FC236}">
                <a16:creationId xmlns:a16="http://schemas.microsoft.com/office/drawing/2014/main" id="{66D428F4-DF22-40CC-9093-6F0AF2A0FD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942" y="2677887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/>
              <a:t>1</a:t>
            </a:r>
          </a:p>
        </p:txBody>
      </p:sp>
      <p:sp>
        <p:nvSpPr>
          <p:cNvPr id="5" name="Oval 5">
            <a:extLst>
              <a:ext uri="{FF2B5EF4-FFF2-40B4-BE49-F238E27FC236}">
                <a16:creationId xmlns:a16="http://schemas.microsoft.com/office/drawing/2014/main" id="{ECE6DB67-77EF-40D6-993B-EC31C254A9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942" y="4582887"/>
            <a:ext cx="762000" cy="762000"/>
          </a:xfrm>
          <a:prstGeom prst="ellipse">
            <a:avLst/>
          </a:prstGeom>
          <a:noFill/>
          <a:ln w="38100" cmpd="dbl">
            <a:solidFill>
              <a:schemeClr val="tx1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/>
              <a:t>2</a:t>
            </a:r>
          </a:p>
        </p:txBody>
      </p:sp>
      <p:cxnSp>
        <p:nvCxnSpPr>
          <p:cNvPr id="6" name="AutoShape 6">
            <a:extLst>
              <a:ext uri="{FF2B5EF4-FFF2-40B4-BE49-F238E27FC236}">
                <a16:creationId xmlns:a16="http://schemas.microsoft.com/office/drawing/2014/main" id="{1FC91B98-16E3-45A5-A479-5A52864BE120}"/>
              </a:ext>
            </a:extLst>
          </p:cNvPr>
          <p:cNvCxnSpPr>
            <a:cxnSpLocks noChangeShapeType="1"/>
            <a:stCxn id="4" idx="4"/>
            <a:endCxn id="5" idx="0"/>
          </p:cNvCxnSpPr>
          <p:nvPr/>
        </p:nvCxnSpPr>
        <p:spPr bwMode="auto">
          <a:xfrm>
            <a:off x="5529942" y="3454175"/>
            <a:ext cx="0" cy="1109662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" name="AutoShape 7">
            <a:extLst>
              <a:ext uri="{FF2B5EF4-FFF2-40B4-BE49-F238E27FC236}">
                <a16:creationId xmlns:a16="http://schemas.microsoft.com/office/drawing/2014/main" id="{BB91494E-19C1-49E0-BDF4-E27E4E6CE358}"/>
              </a:ext>
            </a:extLst>
          </p:cNvPr>
          <p:cNvCxnSpPr>
            <a:cxnSpLocks noChangeShapeType="1"/>
            <a:stCxn id="4" idx="5"/>
            <a:endCxn id="4" idx="7"/>
          </p:cNvCxnSpPr>
          <p:nvPr/>
        </p:nvCxnSpPr>
        <p:spPr bwMode="auto">
          <a:xfrm rot="5400000" flipH="1" flipV="1">
            <a:off x="5516448" y="3058094"/>
            <a:ext cx="568325" cy="1588"/>
          </a:xfrm>
          <a:prstGeom prst="curvedConnector5">
            <a:avLst>
              <a:gd name="adj1" fmla="val -3912"/>
              <a:gd name="adj2" fmla="val 28000009"/>
              <a:gd name="adj3" fmla="val 124301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" name="AutoShape 8">
            <a:extLst>
              <a:ext uri="{FF2B5EF4-FFF2-40B4-BE49-F238E27FC236}">
                <a16:creationId xmlns:a16="http://schemas.microsoft.com/office/drawing/2014/main" id="{0F0C7919-3E40-4E18-A0E6-5C99A543FF00}"/>
              </a:ext>
            </a:extLst>
          </p:cNvPr>
          <p:cNvCxnSpPr>
            <a:cxnSpLocks noChangeShapeType="1"/>
            <a:stCxn id="5" idx="5"/>
            <a:endCxn id="5" idx="7"/>
          </p:cNvCxnSpPr>
          <p:nvPr/>
        </p:nvCxnSpPr>
        <p:spPr bwMode="auto">
          <a:xfrm rot="5400000" flipH="1" flipV="1">
            <a:off x="5511686" y="4963093"/>
            <a:ext cx="577850" cy="1588"/>
          </a:xfrm>
          <a:prstGeom prst="curvedConnector5">
            <a:avLst>
              <a:gd name="adj1" fmla="val -16759"/>
              <a:gd name="adj2" fmla="val 28000009"/>
              <a:gd name="adj3" fmla="val 123347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" name="Line 9">
            <a:extLst>
              <a:ext uri="{FF2B5EF4-FFF2-40B4-BE49-F238E27FC236}">
                <a16:creationId xmlns:a16="http://schemas.microsoft.com/office/drawing/2014/main" id="{0664CB85-B67C-43EB-A440-EAD2F95A41D1}"/>
              </a:ext>
            </a:extLst>
          </p:cNvPr>
          <p:cNvSpPr>
            <a:spLocks noChangeShapeType="1"/>
          </p:cNvSpPr>
          <p:nvPr/>
        </p:nvSpPr>
        <p:spPr bwMode="auto">
          <a:xfrm>
            <a:off x="4691742" y="3058887"/>
            <a:ext cx="45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Text Box 10">
            <a:extLst>
              <a:ext uri="{FF2B5EF4-FFF2-40B4-BE49-F238E27FC236}">
                <a16:creationId xmlns:a16="http://schemas.microsoft.com/office/drawing/2014/main" id="{D8D5225E-910F-4DDD-BBE6-F8EAEE83DB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5742" y="2692175"/>
            <a:ext cx="609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b="1" i="1"/>
              <a:t>a</a:t>
            </a:r>
          </a:p>
        </p:txBody>
      </p:sp>
      <p:sp>
        <p:nvSpPr>
          <p:cNvPr id="11" name="Text Box 11">
            <a:extLst>
              <a:ext uri="{FF2B5EF4-FFF2-40B4-BE49-F238E27FC236}">
                <a16:creationId xmlns:a16="http://schemas.microsoft.com/office/drawing/2014/main" id="{88E2F73A-C12B-482B-B446-A1DA84BE32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6442" y="3682775"/>
            <a:ext cx="381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b="1" i="1"/>
              <a:t>b</a:t>
            </a:r>
          </a:p>
        </p:txBody>
      </p:sp>
      <p:sp>
        <p:nvSpPr>
          <p:cNvPr id="12" name="Text Box 12">
            <a:extLst>
              <a:ext uri="{FF2B5EF4-FFF2-40B4-BE49-F238E27FC236}">
                <a16:creationId xmlns:a16="http://schemas.microsoft.com/office/drawing/2014/main" id="{BC2CA4A5-8AD5-44D4-AF09-6294AD46C0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4742" y="4201887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b="1" i="1"/>
              <a:t>a</a:t>
            </a:r>
            <a:r>
              <a:rPr lang="en-US" altLang="en-US" sz="1800" b="1"/>
              <a:t>,</a:t>
            </a:r>
            <a:r>
              <a:rPr lang="en-US" altLang="en-US" sz="1800" b="1" i="1"/>
              <a:t>b</a:t>
            </a:r>
          </a:p>
        </p:txBody>
      </p:sp>
      <p:sp>
        <p:nvSpPr>
          <p:cNvPr id="13" name="Text Box 13">
            <a:extLst>
              <a:ext uri="{FF2B5EF4-FFF2-40B4-BE49-F238E27FC236}">
                <a16:creationId xmlns:a16="http://schemas.microsoft.com/office/drawing/2014/main" id="{1C0533C0-03F3-4661-B3C0-6C480287B6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4742" y="4216175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b="1" i="1"/>
              <a:t>a</a:t>
            </a:r>
            <a:r>
              <a:rPr lang="en-US" altLang="en-US" sz="1800" b="1">
                <a:sym typeface="Symbol" panose="05050102010706020507" pitchFamily="18" charset="2"/>
              </a:rPr>
              <a:t></a:t>
            </a:r>
            <a:r>
              <a:rPr lang="en-US" altLang="en-US" sz="1800" b="1" i="1"/>
              <a:t>b</a:t>
            </a:r>
          </a:p>
        </p:txBody>
      </p:sp>
      <p:sp>
        <p:nvSpPr>
          <p:cNvPr id="14" name="Oval 14">
            <a:extLst>
              <a:ext uri="{FF2B5EF4-FFF2-40B4-BE49-F238E27FC236}">
                <a16:creationId xmlns:a16="http://schemas.microsoft.com/office/drawing/2014/main" id="{BD81F0C1-C449-4661-A384-0CBE9F02E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0142" y="2677887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 i="1"/>
              <a:t>s</a:t>
            </a:r>
          </a:p>
        </p:txBody>
      </p:sp>
      <p:sp>
        <p:nvSpPr>
          <p:cNvPr id="15" name="Oval 15">
            <a:extLst>
              <a:ext uri="{FF2B5EF4-FFF2-40B4-BE49-F238E27FC236}">
                <a16:creationId xmlns:a16="http://schemas.microsoft.com/office/drawing/2014/main" id="{FD19CA63-3B6E-447F-A3E0-9E2C399B8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0142" y="4582887"/>
            <a:ext cx="762000" cy="762000"/>
          </a:xfrm>
          <a:prstGeom prst="ellipse">
            <a:avLst/>
          </a:prstGeom>
          <a:noFill/>
          <a:ln w="38100" cmpd="dbl">
            <a:solidFill>
              <a:schemeClr val="tx1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/>
              <a:t>f</a:t>
            </a:r>
          </a:p>
        </p:txBody>
      </p:sp>
      <p:sp>
        <p:nvSpPr>
          <p:cNvPr id="16" name="Oval 16">
            <a:extLst>
              <a:ext uri="{FF2B5EF4-FFF2-40B4-BE49-F238E27FC236}">
                <a16:creationId xmlns:a16="http://schemas.microsoft.com/office/drawing/2014/main" id="{7C636570-F108-4C0E-9E78-BAED421D73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942" y="4582887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/>
              <a:t>2</a:t>
            </a:r>
          </a:p>
        </p:txBody>
      </p:sp>
      <p:cxnSp>
        <p:nvCxnSpPr>
          <p:cNvPr id="17" name="AutoShape 17">
            <a:extLst>
              <a:ext uri="{FF2B5EF4-FFF2-40B4-BE49-F238E27FC236}">
                <a16:creationId xmlns:a16="http://schemas.microsoft.com/office/drawing/2014/main" id="{5027231D-59EF-4E1E-9EEF-73CC00241A78}"/>
              </a:ext>
            </a:extLst>
          </p:cNvPr>
          <p:cNvCxnSpPr>
            <a:cxnSpLocks noChangeShapeType="1"/>
            <a:stCxn id="16" idx="2"/>
            <a:endCxn id="15" idx="6"/>
          </p:cNvCxnSpPr>
          <p:nvPr/>
        </p:nvCxnSpPr>
        <p:spPr bwMode="auto">
          <a:xfrm flipH="1">
            <a:off x="4101192" y="4963887"/>
            <a:ext cx="1033463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" name="Text Box 18">
            <a:extLst>
              <a:ext uri="{FF2B5EF4-FFF2-40B4-BE49-F238E27FC236}">
                <a16:creationId xmlns:a16="http://schemas.microsoft.com/office/drawing/2014/main" id="{F64F2555-EB55-42D9-A131-9B7B4DA01F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3142" y="4582887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 i="1"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19" name="Text Box 19">
            <a:extLst>
              <a:ext uri="{FF2B5EF4-FFF2-40B4-BE49-F238E27FC236}">
                <a16:creationId xmlns:a16="http://schemas.microsoft.com/office/drawing/2014/main" id="{1B21F137-B106-4F3E-9A4B-2B2545A049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3142" y="2677887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 i="1">
                <a:sym typeface="Symbol" panose="05050102010706020507" pitchFamily="18" charset="2"/>
              </a:rPr>
              <a:t></a:t>
            </a:r>
          </a:p>
        </p:txBody>
      </p:sp>
      <p:cxnSp>
        <p:nvCxnSpPr>
          <p:cNvPr id="20" name="AutoShape 20">
            <a:extLst>
              <a:ext uri="{FF2B5EF4-FFF2-40B4-BE49-F238E27FC236}">
                <a16:creationId xmlns:a16="http://schemas.microsoft.com/office/drawing/2014/main" id="{89A412CC-BAE6-4025-8C67-4015D43EF2AE}"/>
              </a:ext>
            </a:extLst>
          </p:cNvPr>
          <p:cNvCxnSpPr>
            <a:cxnSpLocks noChangeShapeType="1"/>
            <a:stCxn id="4" idx="3"/>
            <a:endCxn id="15" idx="7"/>
          </p:cNvCxnSpPr>
          <p:nvPr/>
        </p:nvCxnSpPr>
        <p:spPr bwMode="auto">
          <a:xfrm flipH="1">
            <a:off x="3971017" y="3343050"/>
            <a:ext cx="1289050" cy="1331912"/>
          </a:xfrm>
          <a:prstGeom prst="straightConnector1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" name="Text Box 22">
            <a:extLst>
              <a:ext uri="{FF2B5EF4-FFF2-40B4-BE49-F238E27FC236}">
                <a16:creationId xmlns:a16="http://schemas.microsoft.com/office/drawing/2014/main" id="{F907B781-475A-495D-B1EC-8F49C3A758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4942" y="3820887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b="1" i="1">
                <a:solidFill>
                  <a:schemeClr val="accent2"/>
                </a:solidFill>
              </a:rPr>
              <a:t>b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238E091F-D4EF-4648-84E7-F493110282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4942" y="3820887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b="1" i="1">
                <a:solidFill>
                  <a:schemeClr val="accent2"/>
                </a:solidFill>
              </a:rPr>
              <a:t>b</a:t>
            </a:r>
            <a:r>
              <a:rPr lang="en-US" altLang="en-US" sz="1800" b="1">
                <a:solidFill>
                  <a:schemeClr val="accent2"/>
                </a:solidFill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</a:rPr>
              <a:t>a</a:t>
            </a:r>
            <a:r>
              <a:rPr lang="en-US" altLang="en-US" sz="1800" b="1">
                <a:solidFill>
                  <a:schemeClr val="accent2"/>
                </a:solidFill>
                <a:sym typeface="Symbol" panose="05050102010706020507" pitchFamily="18" charset="2"/>
              </a:rPr>
              <a:t></a:t>
            </a:r>
            <a:r>
              <a:rPr lang="en-US" altLang="en-US" sz="1800" b="1" i="1">
                <a:solidFill>
                  <a:schemeClr val="accent2"/>
                </a:solidFill>
              </a:rPr>
              <a:t>b</a:t>
            </a:r>
            <a:r>
              <a:rPr lang="en-US" altLang="en-US" sz="1800" b="1">
                <a:solidFill>
                  <a:schemeClr val="accent2"/>
                </a:solidFill>
              </a:rPr>
              <a:t>)*</a:t>
            </a:r>
          </a:p>
        </p:txBody>
      </p:sp>
      <p:cxnSp>
        <p:nvCxnSpPr>
          <p:cNvPr id="23" name="AutoShape 24">
            <a:extLst>
              <a:ext uri="{FF2B5EF4-FFF2-40B4-BE49-F238E27FC236}">
                <a16:creationId xmlns:a16="http://schemas.microsoft.com/office/drawing/2014/main" id="{931028B5-8945-43DE-8020-8265DC06DC05}"/>
              </a:ext>
            </a:extLst>
          </p:cNvPr>
          <p:cNvCxnSpPr>
            <a:cxnSpLocks noChangeShapeType="1"/>
            <a:stCxn id="14" idx="6"/>
            <a:endCxn id="9" idx="1"/>
          </p:cNvCxnSpPr>
          <p:nvPr/>
        </p:nvCxnSpPr>
        <p:spPr bwMode="auto">
          <a:xfrm>
            <a:off x="4096430" y="3058887"/>
            <a:ext cx="1052512" cy="14288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AutoShape 25">
            <a:extLst>
              <a:ext uri="{FF2B5EF4-FFF2-40B4-BE49-F238E27FC236}">
                <a16:creationId xmlns:a16="http://schemas.microsoft.com/office/drawing/2014/main" id="{78A7D53F-F2D2-4156-8038-3742E4503B1C}"/>
              </a:ext>
            </a:extLst>
          </p:cNvPr>
          <p:cNvCxnSpPr>
            <a:cxnSpLocks noChangeShapeType="1"/>
            <a:stCxn id="14" idx="4"/>
            <a:endCxn id="15" idx="0"/>
          </p:cNvCxnSpPr>
          <p:nvPr/>
        </p:nvCxnSpPr>
        <p:spPr bwMode="auto">
          <a:xfrm>
            <a:off x="3701142" y="3454175"/>
            <a:ext cx="0" cy="1109662"/>
          </a:xfrm>
          <a:prstGeom prst="straightConnector1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" name="Text Box 26">
            <a:extLst>
              <a:ext uri="{FF2B5EF4-FFF2-40B4-BE49-F238E27FC236}">
                <a16:creationId xmlns:a16="http://schemas.microsoft.com/office/drawing/2014/main" id="{A19CEAA7-3E8E-45F0-A958-9C0BF95080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1942" y="3744687"/>
            <a:ext cx="1219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b="1" i="1">
                <a:solidFill>
                  <a:schemeClr val="accent2"/>
                </a:solidFill>
              </a:rPr>
              <a:t>a*</a:t>
            </a:r>
            <a:endParaRPr lang="en-US" altLang="en-US" sz="1800" b="1">
              <a:solidFill>
                <a:schemeClr val="accent2"/>
              </a:solidFill>
            </a:endParaRP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27741B2D-82DB-44C2-B2F6-0C82D81372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1942" y="3744687"/>
            <a:ext cx="1295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b="1" i="1">
                <a:solidFill>
                  <a:schemeClr val="accent2"/>
                </a:solidFill>
              </a:rPr>
              <a:t>a*b</a:t>
            </a:r>
            <a:r>
              <a:rPr lang="en-US" altLang="en-US" sz="1800" b="1">
                <a:solidFill>
                  <a:schemeClr val="accent2"/>
                </a:solidFill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</a:rPr>
              <a:t>a</a:t>
            </a:r>
            <a:r>
              <a:rPr lang="en-US" altLang="en-US" sz="1800" b="1">
                <a:solidFill>
                  <a:schemeClr val="accent2"/>
                </a:solidFill>
                <a:sym typeface="Symbol" panose="05050102010706020507" pitchFamily="18" charset="2"/>
              </a:rPr>
              <a:t></a:t>
            </a:r>
            <a:r>
              <a:rPr lang="en-US" altLang="en-US" sz="1800" b="1" i="1">
                <a:solidFill>
                  <a:schemeClr val="accent2"/>
                </a:solidFill>
              </a:rPr>
              <a:t>b</a:t>
            </a:r>
            <a:r>
              <a:rPr lang="en-US" altLang="en-US" sz="1800" b="1">
                <a:solidFill>
                  <a:schemeClr val="accent2"/>
                </a:solidFill>
              </a:rPr>
              <a:t>)*</a:t>
            </a:r>
          </a:p>
        </p:txBody>
      </p:sp>
    </p:spTree>
    <p:extLst>
      <p:ext uri="{BB962C8B-B14F-4D97-AF65-F5344CB8AC3E}">
        <p14:creationId xmlns:p14="http://schemas.microsoft.com/office/powerpoint/2010/main" val="2716516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4.14431E-6 L -0.2 -4.14431E-6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0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mph" presetSubtype="1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2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mph" presetSubtype="1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42" dur="indefinite"/>
                                        <p:tgtEl>
                                          <p:spTgt spid="16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5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4" dur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3" presetClass="emph" presetSubtype="1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56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5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7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8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80" dur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01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03" dur="indefinite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3" presetClass="emph" presetSubtype="1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07" dur="indefinite"/>
                                        <p:tgtEl>
                                          <p:spTgt spid="4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0" dur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indefinite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9" dur="indefinite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21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6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3" presetClass="emph" presetSubtype="1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28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37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3" presetClass="emph" presetSubtype="1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39" dur="indefinite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66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68" dur="indefinite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 animBg="1"/>
      <p:bldP spid="5" grpId="0" animBg="1"/>
      <p:bldP spid="10" grpId="0"/>
      <p:bldP spid="10" grpId="1"/>
      <p:bldP spid="11" grpId="0"/>
      <p:bldP spid="11" grpId="1"/>
      <p:bldP spid="12" grpId="0"/>
      <p:bldP spid="12" grpId="1"/>
      <p:bldP spid="13" grpId="0"/>
      <p:bldP spid="13" grpId="1"/>
      <p:bldP spid="13" grpId="2"/>
      <p:bldP spid="14" grpId="0" animBg="1"/>
      <p:bldP spid="15" grpId="0" animBg="1"/>
      <p:bldP spid="16" grpId="0" animBg="1"/>
      <p:bldP spid="16" grpId="1"/>
      <p:bldP spid="16" grpId="2" animBg="1"/>
      <p:bldP spid="18" grpId="0"/>
      <p:bldP spid="18" grpId="1"/>
      <p:bldP spid="18" grpId="2"/>
      <p:bldP spid="19" grpId="0"/>
      <p:bldP spid="19" grpId="1"/>
      <p:bldP spid="19" grpId="2"/>
      <p:bldP spid="21" grpId="0"/>
      <p:bldP spid="21" grpId="1"/>
      <p:bldP spid="22" grpId="0"/>
      <p:bldP spid="22" grpId="1"/>
      <p:bldP spid="22" grpId="2"/>
      <p:bldP spid="22" grpId="3"/>
      <p:bldP spid="25" grpId="0"/>
      <p:bldP spid="25" grpId="1"/>
      <p:bldP spid="26" grpId="0"/>
      <p:bldP spid="26" grpId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C439762-A1FF-4417-9955-6EF001D3B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CSC3113: Theory of Computation</a:t>
            </a:r>
          </a:p>
        </p:txBody>
      </p:sp>
      <p:sp>
        <p:nvSpPr>
          <p:cNvPr id="4" name="Oval 4">
            <a:extLst>
              <a:ext uri="{FF2B5EF4-FFF2-40B4-BE49-F238E27FC236}">
                <a16:creationId xmlns:a16="http://schemas.microsoft.com/office/drawing/2014/main" id="{F5A26019-C4DE-401F-8679-2BE2BFEFCE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2846613"/>
            <a:ext cx="609600" cy="6096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b="1"/>
              <a:t>1</a:t>
            </a:r>
          </a:p>
        </p:txBody>
      </p:sp>
      <p:sp>
        <p:nvSpPr>
          <p:cNvPr id="5" name="Oval 5">
            <a:extLst>
              <a:ext uri="{FF2B5EF4-FFF2-40B4-BE49-F238E27FC236}">
                <a16:creationId xmlns:a16="http://schemas.microsoft.com/office/drawing/2014/main" id="{B1B74DD7-B9B6-4DC6-9278-3F00B4A3D1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4599213"/>
            <a:ext cx="609600" cy="609600"/>
          </a:xfrm>
          <a:prstGeom prst="ellipse">
            <a:avLst/>
          </a:prstGeom>
          <a:noFill/>
          <a:ln w="38100" cmpd="dbl">
            <a:solidFill>
              <a:schemeClr val="tx1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b="1"/>
              <a:t>3</a:t>
            </a:r>
          </a:p>
        </p:txBody>
      </p:sp>
      <p:sp>
        <p:nvSpPr>
          <p:cNvPr id="6" name="Oval 6">
            <a:extLst>
              <a:ext uri="{FF2B5EF4-FFF2-40B4-BE49-F238E27FC236}">
                <a16:creationId xmlns:a16="http://schemas.microsoft.com/office/drawing/2014/main" id="{E79CA972-6FA4-4069-87D6-C6CFA1F10D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2846613"/>
            <a:ext cx="609600" cy="609600"/>
          </a:xfrm>
          <a:prstGeom prst="ellipse">
            <a:avLst/>
          </a:prstGeom>
          <a:noFill/>
          <a:ln w="38100" cmpd="dbl">
            <a:solidFill>
              <a:schemeClr val="tx1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b="1"/>
              <a:t>2</a:t>
            </a:r>
          </a:p>
        </p:txBody>
      </p:sp>
      <p:cxnSp>
        <p:nvCxnSpPr>
          <p:cNvPr id="7" name="AutoShape 7">
            <a:extLst>
              <a:ext uri="{FF2B5EF4-FFF2-40B4-BE49-F238E27FC236}">
                <a16:creationId xmlns:a16="http://schemas.microsoft.com/office/drawing/2014/main" id="{2892DD9D-83C9-4928-A93A-41B90A1BF894}"/>
              </a:ext>
            </a:extLst>
          </p:cNvPr>
          <p:cNvCxnSpPr>
            <a:cxnSpLocks noChangeShapeType="1"/>
            <a:stCxn id="4" idx="7"/>
            <a:endCxn id="6" idx="1"/>
          </p:cNvCxnSpPr>
          <p:nvPr/>
        </p:nvCxnSpPr>
        <p:spPr bwMode="auto">
          <a:xfrm rot="16200000">
            <a:off x="4150518" y="2182245"/>
            <a:ext cx="4763" cy="1473200"/>
          </a:xfrm>
          <a:prstGeom prst="curvedConnector3">
            <a:avLst>
              <a:gd name="adj1" fmla="val 6366667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" name="AutoShape 8">
            <a:extLst>
              <a:ext uri="{FF2B5EF4-FFF2-40B4-BE49-F238E27FC236}">
                <a16:creationId xmlns:a16="http://schemas.microsoft.com/office/drawing/2014/main" id="{FF8977E6-FC7F-4031-895A-41DD77790950}"/>
              </a:ext>
            </a:extLst>
          </p:cNvPr>
          <p:cNvCxnSpPr>
            <a:cxnSpLocks noChangeShapeType="1"/>
            <a:stCxn id="6" idx="3"/>
            <a:endCxn id="4" idx="5"/>
          </p:cNvCxnSpPr>
          <p:nvPr/>
        </p:nvCxnSpPr>
        <p:spPr bwMode="auto">
          <a:xfrm rot="16200000" flipV="1">
            <a:off x="4150519" y="2647382"/>
            <a:ext cx="4762" cy="1473200"/>
          </a:xfrm>
          <a:prstGeom prst="curvedConnector3">
            <a:avLst>
              <a:gd name="adj1" fmla="val -6266667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" name="AutoShape 9">
            <a:extLst>
              <a:ext uri="{FF2B5EF4-FFF2-40B4-BE49-F238E27FC236}">
                <a16:creationId xmlns:a16="http://schemas.microsoft.com/office/drawing/2014/main" id="{E93672D5-5EDF-4103-8375-0D732DF36B2C}"/>
              </a:ext>
            </a:extLst>
          </p:cNvPr>
          <p:cNvCxnSpPr>
            <a:cxnSpLocks noChangeShapeType="1"/>
            <a:stCxn id="24" idx="2"/>
            <a:endCxn id="4" idx="3"/>
          </p:cNvCxnSpPr>
          <p:nvPr/>
        </p:nvCxnSpPr>
        <p:spPr bwMode="auto">
          <a:xfrm rot="10800000">
            <a:off x="2984500" y="3381601"/>
            <a:ext cx="811213" cy="1522412"/>
          </a:xfrm>
          <a:prstGeom prst="curvedConnector2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" name="AutoShape 10">
            <a:extLst>
              <a:ext uri="{FF2B5EF4-FFF2-40B4-BE49-F238E27FC236}">
                <a16:creationId xmlns:a16="http://schemas.microsoft.com/office/drawing/2014/main" id="{B7DD33F3-4454-4E0A-812A-2F290471487F}"/>
              </a:ext>
            </a:extLst>
          </p:cNvPr>
          <p:cNvCxnSpPr>
            <a:cxnSpLocks noChangeShapeType="1"/>
            <a:stCxn id="4" idx="4"/>
            <a:endCxn id="5" idx="0"/>
          </p:cNvCxnSpPr>
          <p:nvPr/>
        </p:nvCxnSpPr>
        <p:spPr bwMode="auto">
          <a:xfrm rot="16200000" flipH="1">
            <a:off x="3102769" y="3568132"/>
            <a:ext cx="1109662" cy="914400"/>
          </a:xfrm>
          <a:prstGeom prst="curvedConnector3">
            <a:avLst>
              <a:gd name="adj1" fmla="val 50213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" name="AutoShape 11">
            <a:extLst>
              <a:ext uri="{FF2B5EF4-FFF2-40B4-BE49-F238E27FC236}">
                <a16:creationId xmlns:a16="http://schemas.microsoft.com/office/drawing/2014/main" id="{03C152CA-61D1-4A8F-9192-28A4CD177593}"/>
              </a:ext>
            </a:extLst>
          </p:cNvPr>
          <p:cNvCxnSpPr>
            <a:cxnSpLocks noChangeShapeType="1"/>
            <a:stCxn id="6" idx="0"/>
            <a:endCxn id="25" idx="7"/>
          </p:cNvCxnSpPr>
          <p:nvPr/>
        </p:nvCxnSpPr>
        <p:spPr bwMode="auto">
          <a:xfrm rot="5400000" flipV="1">
            <a:off x="5166518" y="2766445"/>
            <a:ext cx="93663" cy="215900"/>
          </a:xfrm>
          <a:prstGeom prst="curvedConnector3">
            <a:avLst>
              <a:gd name="adj1" fmla="val -223727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AutoShape 12">
            <a:extLst>
              <a:ext uri="{FF2B5EF4-FFF2-40B4-BE49-F238E27FC236}">
                <a16:creationId xmlns:a16="http://schemas.microsoft.com/office/drawing/2014/main" id="{72C6C1E9-D559-42EA-9859-6BECFDCFBDA3}"/>
              </a:ext>
            </a:extLst>
          </p:cNvPr>
          <p:cNvCxnSpPr>
            <a:cxnSpLocks noChangeShapeType="1"/>
            <a:stCxn id="5" idx="7"/>
            <a:endCxn id="6" idx="4"/>
          </p:cNvCxnSpPr>
          <p:nvPr/>
        </p:nvCxnSpPr>
        <p:spPr bwMode="auto">
          <a:xfrm flipV="1">
            <a:off x="4330700" y="3475263"/>
            <a:ext cx="774700" cy="11938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Text Box 13">
            <a:extLst>
              <a:ext uri="{FF2B5EF4-FFF2-40B4-BE49-F238E27FC236}">
                <a16:creationId xmlns:a16="http://schemas.microsoft.com/office/drawing/2014/main" id="{5A834D93-FD84-4F20-BDCF-07F65E2326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2237013"/>
            <a:ext cx="45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000" b="1" i="1"/>
              <a:t>a</a:t>
            </a:r>
          </a:p>
        </p:txBody>
      </p:sp>
      <p:sp>
        <p:nvSpPr>
          <p:cNvPr id="14" name="Text Box 14">
            <a:extLst>
              <a:ext uri="{FF2B5EF4-FFF2-40B4-BE49-F238E27FC236}">
                <a16:creationId xmlns:a16="http://schemas.microsoft.com/office/drawing/2014/main" id="{6F52528A-268C-4545-9C38-E539F25B9F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3303813"/>
            <a:ext cx="45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000" b="1" i="1"/>
              <a:t>a</a:t>
            </a:r>
          </a:p>
        </p:txBody>
      </p:sp>
      <p:sp>
        <p:nvSpPr>
          <p:cNvPr id="15" name="Text Box 15">
            <a:extLst>
              <a:ext uri="{FF2B5EF4-FFF2-40B4-BE49-F238E27FC236}">
                <a16:creationId xmlns:a16="http://schemas.microsoft.com/office/drawing/2014/main" id="{73A5E8CA-6D8A-46A5-A59B-6A23202E25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3897538"/>
            <a:ext cx="45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000" b="1" i="1"/>
              <a:t>a</a:t>
            </a:r>
          </a:p>
        </p:txBody>
      </p:sp>
      <p:sp>
        <p:nvSpPr>
          <p:cNvPr id="16" name="Text Box 16">
            <a:extLst>
              <a:ext uri="{FF2B5EF4-FFF2-40B4-BE49-F238E27FC236}">
                <a16:creationId xmlns:a16="http://schemas.microsoft.com/office/drawing/2014/main" id="{B5430963-0DC0-42A7-91B1-C8224C6B9C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7000" y="2237013"/>
            <a:ext cx="45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000" b="1" i="1"/>
              <a:t>b</a:t>
            </a:r>
          </a:p>
        </p:txBody>
      </p:sp>
      <p:sp>
        <p:nvSpPr>
          <p:cNvPr id="17" name="Text Box 17">
            <a:extLst>
              <a:ext uri="{FF2B5EF4-FFF2-40B4-BE49-F238E27FC236}">
                <a16:creationId xmlns:a16="http://schemas.microsoft.com/office/drawing/2014/main" id="{183DA15E-7266-4737-9131-1A536F9390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3989613"/>
            <a:ext cx="45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000" b="1" i="1"/>
              <a:t>b</a:t>
            </a:r>
          </a:p>
        </p:txBody>
      </p:sp>
      <p:sp>
        <p:nvSpPr>
          <p:cNvPr id="18" name="Text Box 18">
            <a:extLst>
              <a:ext uri="{FF2B5EF4-FFF2-40B4-BE49-F238E27FC236}">
                <a16:creationId xmlns:a16="http://schemas.microsoft.com/office/drawing/2014/main" id="{37B6D04B-AD13-4E04-B228-4945FF3997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4142013"/>
            <a:ext cx="45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000" b="1" i="1"/>
              <a:t>b</a:t>
            </a:r>
          </a:p>
        </p:txBody>
      </p:sp>
      <p:sp>
        <p:nvSpPr>
          <p:cNvPr id="19" name="Oval 19">
            <a:extLst>
              <a:ext uri="{FF2B5EF4-FFF2-40B4-BE49-F238E27FC236}">
                <a16:creationId xmlns:a16="http://schemas.microsoft.com/office/drawing/2014/main" id="{77ADDF00-06F3-4D50-AA2E-FCA443DBE2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3913413"/>
            <a:ext cx="533400" cy="533400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b="1" i="1">
                <a:solidFill>
                  <a:srgbClr val="FF0000"/>
                </a:solidFill>
              </a:rPr>
              <a:t>s</a:t>
            </a:r>
          </a:p>
        </p:txBody>
      </p:sp>
      <p:sp>
        <p:nvSpPr>
          <p:cNvPr id="20" name="Oval 20">
            <a:extLst>
              <a:ext uri="{FF2B5EF4-FFF2-40B4-BE49-F238E27FC236}">
                <a16:creationId xmlns:a16="http://schemas.microsoft.com/office/drawing/2014/main" id="{B4ED7540-1CF7-4B48-9100-3F0B061260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0" y="3913413"/>
            <a:ext cx="533400" cy="533400"/>
          </a:xfrm>
          <a:prstGeom prst="ellipse">
            <a:avLst/>
          </a:prstGeom>
          <a:noFill/>
          <a:ln w="38100" cmpd="dbl">
            <a:solidFill>
              <a:srgbClr val="FF0000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b="1" i="1">
                <a:solidFill>
                  <a:srgbClr val="FF0000"/>
                </a:solidFill>
              </a:rPr>
              <a:t>f</a:t>
            </a:r>
          </a:p>
        </p:txBody>
      </p:sp>
      <p:sp>
        <p:nvSpPr>
          <p:cNvPr id="21" name="Line 21">
            <a:extLst>
              <a:ext uri="{FF2B5EF4-FFF2-40B4-BE49-F238E27FC236}">
                <a16:creationId xmlns:a16="http://schemas.microsoft.com/office/drawing/2014/main" id="{7F50D4A5-89F3-41E3-8044-B4C2AAB3F2E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14600" y="3151413"/>
            <a:ext cx="381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22" name="AutoShape 23">
            <a:extLst>
              <a:ext uri="{FF2B5EF4-FFF2-40B4-BE49-F238E27FC236}">
                <a16:creationId xmlns:a16="http://schemas.microsoft.com/office/drawing/2014/main" id="{21B397F3-92A5-40D7-A90E-5BAF8864F13E}"/>
              </a:ext>
            </a:extLst>
          </p:cNvPr>
          <p:cNvCxnSpPr>
            <a:cxnSpLocks noChangeShapeType="1"/>
            <a:stCxn id="19" idx="7"/>
            <a:endCxn id="21" idx="1"/>
          </p:cNvCxnSpPr>
          <p:nvPr/>
        </p:nvCxnSpPr>
        <p:spPr bwMode="auto">
          <a:xfrm flipV="1">
            <a:off x="836613" y="3137126"/>
            <a:ext cx="2058987" cy="839787"/>
          </a:xfrm>
          <a:prstGeom prst="straightConnector1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" name="Text Box 24">
            <a:extLst>
              <a:ext uri="{FF2B5EF4-FFF2-40B4-BE49-F238E27FC236}">
                <a16:creationId xmlns:a16="http://schemas.microsoft.com/office/drawing/2014/main" id="{9AFFCB78-9C9F-44C0-8A1B-555902BEE9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3303813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 b="1" i="1">
                <a:solidFill>
                  <a:srgbClr val="FF0000"/>
                </a:solidFill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24" name="Oval 25">
            <a:extLst>
              <a:ext uri="{FF2B5EF4-FFF2-40B4-BE49-F238E27FC236}">
                <a16:creationId xmlns:a16="http://schemas.microsoft.com/office/drawing/2014/main" id="{698540F2-223D-4003-A397-0B56B744A8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4599213"/>
            <a:ext cx="609600" cy="6096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b="1"/>
              <a:t>3</a:t>
            </a:r>
          </a:p>
        </p:txBody>
      </p:sp>
      <p:sp>
        <p:nvSpPr>
          <p:cNvPr id="25" name="Oval 26">
            <a:extLst>
              <a:ext uri="{FF2B5EF4-FFF2-40B4-BE49-F238E27FC236}">
                <a16:creationId xmlns:a16="http://schemas.microsoft.com/office/drawing/2014/main" id="{F5483276-E29D-41F7-A91B-D5B2EFBDA7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2846613"/>
            <a:ext cx="609600" cy="6096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b="1"/>
              <a:t>2</a:t>
            </a:r>
          </a:p>
        </p:txBody>
      </p:sp>
      <p:cxnSp>
        <p:nvCxnSpPr>
          <p:cNvPr id="26" name="AutoShape 27">
            <a:extLst>
              <a:ext uri="{FF2B5EF4-FFF2-40B4-BE49-F238E27FC236}">
                <a16:creationId xmlns:a16="http://schemas.microsoft.com/office/drawing/2014/main" id="{E0A704DB-D5C8-46E7-83CB-A4C58CC9B324}"/>
              </a:ext>
            </a:extLst>
          </p:cNvPr>
          <p:cNvCxnSpPr>
            <a:cxnSpLocks noChangeShapeType="1"/>
            <a:stCxn id="25" idx="6"/>
            <a:endCxn id="20" idx="1"/>
          </p:cNvCxnSpPr>
          <p:nvPr/>
        </p:nvCxnSpPr>
        <p:spPr bwMode="auto">
          <a:xfrm>
            <a:off x="5424488" y="3151413"/>
            <a:ext cx="3035300" cy="820738"/>
          </a:xfrm>
          <a:prstGeom prst="straightConnector1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AutoShape 28">
            <a:extLst>
              <a:ext uri="{FF2B5EF4-FFF2-40B4-BE49-F238E27FC236}">
                <a16:creationId xmlns:a16="http://schemas.microsoft.com/office/drawing/2014/main" id="{C6E2AAC4-FAC8-4A0A-957E-9A31273B904B}"/>
              </a:ext>
            </a:extLst>
          </p:cNvPr>
          <p:cNvCxnSpPr>
            <a:cxnSpLocks noChangeShapeType="1"/>
            <a:stCxn id="24" idx="6"/>
            <a:endCxn id="20" idx="2"/>
          </p:cNvCxnSpPr>
          <p:nvPr/>
        </p:nvCxnSpPr>
        <p:spPr bwMode="auto">
          <a:xfrm flipV="1">
            <a:off x="4433888" y="4180113"/>
            <a:ext cx="3929062" cy="723900"/>
          </a:xfrm>
          <a:prstGeom prst="straightConnector1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" name="Text Box 29">
            <a:extLst>
              <a:ext uri="{FF2B5EF4-FFF2-40B4-BE49-F238E27FC236}">
                <a16:creationId xmlns:a16="http://schemas.microsoft.com/office/drawing/2014/main" id="{0107D1E5-843E-4A0D-B25E-7C6DFFE60C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4523013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 b="1" i="1">
                <a:solidFill>
                  <a:srgbClr val="FF0000"/>
                </a:solidFill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A3066449-35C9-4416-8B17-80FDCA005D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2999013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 b="1" i="1">
                <a:solidFill>
                  <a:srgbClr val="FF0000"/>
                </a:solidFill>
                <a:sym typeface="Symbol" panose="05050102010706020507" pitchFamily="18" charset="2"/>
              </a:rPr>
              <a:t></a:t>
            </a:r>
          </a:p>
        </p:txBody>
      </p:sp>
      <p:cxnSp>
        <p:nvCxnSpPr>
          <p:cNvPr id="30" name="AutoShape 31">
            <a:extLst>
              <a:ext uri="{FF2B5EF4-FFF2-40B4-BE49-F238E27FC236}">
                <a16:creationId xmlns:a16="http://schemas.microsoft.com/office/drawing/2014/main" id="{E62F8B1F-6A64-44DE-9E9E-8C073E780806}"/>
              </a:ext>
            </a:extLst>
          </p:cNvPr>
          <p:cNvCxnSpPr>
            <a:cxnSpLocks noChangeShapeType="1"/>
            <a:stCxn id="19" idx="5"/>
            <a:endCxn id="24" idx="2"/>
          </p:cNvCxnSpPr>
          <p:nvPr/>
        </p:nvCxnSpPr>
        <p:spPr bwMode="auto">
          <a:xfrm>
            <a:off x="836613" y="4383313"/>
            <a:ext cx="2959100" cy="520700"/>
          </a:xfrm>
          <a:prstGeom prst="straightConnector1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" name="Text Box 32">
            <a:extLst>
              <a:ext uri="{FF2B5EF4-FFF2-40B4-BE49-F238E27FC236}">
                <a16:creationId xmlns:a16="http://schemas.microsoft.com/office/drawing/2014/main" id="{097555B1-4DD8-472A-8BB0-8626C2690C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4523013"/>
            <a:ext cx="45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000" b="1" i="1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32" name="Text Box 33">
            <a:extLst>
              <a:ext uri="{FF2B5EF4-FFF2-40B4-BE49-F238E27FC236}">
                <a16:creationId xmlns:a16="http://schemas.microsoft.com/office/drawing/2014/main" id="{CBCF5157-B1B3-47B9-ACAE-6FE967AF2E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3913413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000" b="1" i="1">
                <a:solidFill>
                  <a:srgbClr val="FF0000"/>
                </a:solidFill>
              </a:rPr>
              <a:t>ba</a:t>
            </a:r>
            <a:r>
              <a:rPr lang="en-US" altLang="en-US" sz="2000" b="1">
                <a:solidFill>
                  <a:srgbClr val="FF0000"/>
                </a:solidFill>
                <a:sym typeface="Symbol" panose="05050102010706020507" pitchFamily="18" charset="2"/>
              </a:rPr>
              <a:t></a:t>
            </a:r>
            <a:r>
              <a:rPr lang="en-US" altLang="en-US" sz="2000" b="1" i="1">
                <a:solidFill>
                  <a:srgbClr val="FF0000"/>
                </a:solidFill>
              </a:rPr>
              <a:t>a</a:t>
            </a:r>
          </a:p>
        </p:txBody>
      </p:sp>
      <p:cxnSp>
        <p:nvCxnSpPr>
          <p:cNvPr id="33" name="AutoShape 34">
            <a:extLst>
              <a:ext uri="{FF2B5EF4-FFF2-40B4-BE49-F238E27FC236}">
                <a16:creationId xmlns:a16="http://schemas.microsoft.com/office/drawing/2014/main" id="{037F8A47-20AF-430A-9DA7-44235E2111C8}"/>
              </a:ext>
            </a:extLst>
          </p:cNvPr>
          <p:cNvCxnSpPr>
            <a:cxnSpLocks noChangeShapeType="1"/>
            <a:stCxn id="19" idx="0"/>
            <a:endCxn id="25" idx="1"/>
          </p:cNvCxnSpPr>
          <p:nvPr/>
        </p:nvCxnSpPr>
        <p:spPr bwMode="auto">
          <a:xfrm rot="16200000">
            <a:off x="2279650" y="1289276"/>
            <a:ext cx="977900" cy="4241800"/>
          </a:xfrm>
          <a:prstGeom prst="curvedConnector3">
            <a:avLst>
              <a:gd name="adj1" fmla="val 187986"/>
            </a:avLst>
          </a:prstGeom>
          <a:noFill/>
          <a:ln w="28575">
            <a:solidFill>
              <a:srgbClr val="FF0000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" name="Text Box 35">
            <a:extLst>
              <a:ext uri="{FF2B5EF4-FFF2-40B4-BE49-F238E27FC236}">
                <a16:creationId xmlns:a16="http://schemas.microsoft.com/office/drawing/2014/main" id="{AD051AC6-D4A9-49B0-8996-2E1A6D3385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2038575"/>
            <a:ext cx="45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000" b="1" i="1">
                <a:solidFill>
                  <a:srgbClr val="FF0000"/>
                </a:solidFill>
              </a:rPr>
              <a:t>a</a:t>
            </a:r>
          </a:p>
        </p:txBody>
      </p:sp>
      <p:cxnSp>
        <p:nvCxnSpPr>
          <p:cNvPr id="35" name="AutoShape 36">
            <a:extLst>
              <a:ext uri="{FF2B5EF4-FFF2-40B4-BE49-F238E27FC236}">
                <a16:creationId xmlns:a16="http://schemas.microsoft.com/office/drawing/2014/main" id="{AAF9DD5D-7A87-481E-90A7-72A34DE5ED3B}"/>
              </a:ext>
            </a:extLst>
          </p:cNvPr>
          <p:cNvCxnSpPr>
            <a:cxnSpLocks noChangeShapeType="1"/>
            <a:stCxn id="25" idx="3"/>
            <a:endCxn id="24" idx="0"/>
          </p:cNvCxnSpPr>
          <p:nvPr/>
        </p:nvCxnSpPr>
        <p:spPr bwMode="auto">
          <a:xfrm flipH="1">
            <a:off x="4114800" y="3381601"/>
            <a:ext cx="774700" cy="1203325"/>
          </a:xfrm>
          <a:prstGeom prst="straightConnector1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6" name="Text Box 37">
            <a:extLst>
              <a:ext uri="{FF2B5EF4-FFF2-40B4-BE49-F238E27FC236}">
                <a16:creationId xmlns:a16="http://schemas.microsoft.com/office/drawing/2014/main" id="{980B6E38-7B48-44DF-B75D-C6BCF186C1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51300" y="3684813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000" b="1" i="1">
                <a:solidFill>
                  <a:srgbClr val="FF0000"/>
                </a:solidFill>
              </a:rPr>
              <a:t>ab</a:t>
            </a:r>
          </a:p>
        </p:txBody>
      </p:sp>
      <p:sp>
        <p:nvSpPr>
          <p:cNvPr id="37" name="Text Box 38">
            <a:extLst>
              <a:ext uri="{FF2B5EF4-FFF2-40B4-BE49-F238E27FC236}">
                <a16:creationId xmlns:a16="http://schemas.microsoft.com/office/drawing/2014/main" id="{312907BD-C990-46A7-9B66-716CC0EB73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7000" y="2237013"/>
            <a:ext cx="965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000" b="1" i="1">
                <a:solidFill>
                  <a:srgbClr val="FF0000"/>
                </a:solidFill>
              </a:rPr>
              <a:t>aa</a:t>
            </a:r>
            <a:r>
              <a:rPr lang="en-US" altLang="en-US" sz="2000" b="1">
                <a:solidFill>
                  <a:srgbClr val="FF0000"/>
                </a:solidFill>
                <a:sym typeface="Symbol" panose="05050102010706020507" pitchFamily="18" charset="2"/>
              </a:rPr>
              <a:t></a:t>
            </a:r>
            <a:r>
              <a:rPr lang="en-US" altLang="en-US" sz="2000" b="1" i="1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38" name="Text Box 39">
            <a:extLst>
              <a:ext uri="{FF2B5EF4-FFF2-40B4-BE49-F238E27FC236}">
                <a16:creationId xmlns:a16="http://schemas.microsoft.com/office/drawing/2014/main" id="{E9ADB18A-D6BA-4D0D-A6FB-7FD6DFA15B5C}"/>
              </a:ext>
            </a:extLst>
          </p:cNvPr>
          <p:cNvSpPr txBox="1">
            <a:spLocks noChangeArrowheads="1"/>
          </p:cNvSpPr>
          <p:nvPr/>
        </p:nvSpPr>
        <p:spPr bwMode="auto">
          <a:xfrm rot="635491">
            <a:off x="1398588" y="4583338"/>
            <a:ext cx="1935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000" b="1" i="1">
                <a:solidFill>
                  <a:srgbClr val="FF0000"/>
                </a:solidFill>
              </a:rPr>
              <a:t>a</a:t>
            </a:r>
            <a:r>
              <a:rPr lang="en-US" altLang="en-US" sz="2000" b="1">
                <a:solidFill>
                  <a:srgbClr val="FF0000"/>
                </a:solidFill>
              </a:rPr>
              <a:t>(</a:t>
            </a:r>
            <a:r>
              <a:rPr lang="en-US" altLang="en-US" sz="2000" b="1" i="1">
                <a:solidFill>
                  <a:srgbClr val="FF0000"/>
                </a:solidFill>
              </a:rPr>
              <a:t>aa</a:t>
            </a:r>
            <a:r>
              <a:rPr lang="en-US" altLang="en-US" sz="2000" b="1">
                <a:solidFill>
                  <a:srgbClr val="FF0000"/>
                </a:solidFill>
                <a:sym typeface="Symbol" panose="05050102010706020507" pitchFamily="18" charset="2"/>
              </a:rPr>
              <a:t></a:t>
            </a:r>
            <a:r>
              <a:rPr lang="en-US" altLang="en-US" sz="2000" b="1" i="1">
                <a:solidFill>
                  <a:srgbClr val="FF0000"/>
                </a:solidFill>
                <a:sym typeface="Symbol" panose="05050102010706020507" pitchFamily="18" charset="2"/>
              </a:rPr>
              <a:t>b</a:t>
            </a:r>
            <a:r>
              <a:rPr lang="en-US" altLang="en-US" sz="2000" b="1">
                <a:solidFill>
                  <a:srgbClr val="FF0000"/>
                </a:solidFill>
              </a:rPr>
              <a:t>)</a:t>
            </a:r>
            <a:r>
              <a:rPr lang="en-US" altLang="en-US" sz="2000" b="1" i="1">
                <a:solidFill>
                  <a:srgbClr val="FF0000"/>
                </a:solidFill>
              </a:rPr>
              <a:t>*ab</a:t>
            </a:r>
            <a:r>
              <a:rPr lang="en-US" altLang="en-US" sz="2000" b="1">
                <a:solidFill>
                  <a:srgbClr val="FF0000"/>
                </a:solidFill>
                <a:sym typeface="Symbol" panose="05050102010706020507" pitchFamily="18" charset="2"/>
              </a:rPr>
              <a:t></a:t>
            </a:r>
            <a:r>
              <a:rPr lang="en-US" altLang="en-US" sz="2000" b="1" i="1">
                <a:solidFill>
                  <a:srgbClr val="FF0000"/>
                </a:solidFill>
                <a:sym typeface="Symbol" panose="05050102010706020507" pitchFamily="18" charset="2"/>
              </a:rPr>
              <a:t>b</a:t>
            </a:r>
          </a:p>
        </p:txBody>
      </p:sp>
      <p:cxnSp>
        <p:nvCxnSpPr>
          <p:cNvPr id="39" name="AutoShape 40">
            <a:extLst>
              <a:ext uri="{FF2B5EF4-FFF2-40B4-BE49-F238E27FC236}">
                <a16:creationId xmlns:a16="http://schemas.microsoft.com/office/drawing/2014/main" id="{1A57132B-B006-4984-BEDE-71562ABBDE58}"/>
              </a:ext>
            </a:extLst>
          </p:cNvPr>
          <p:cNvCxnSpPr>
            <a:cxnSpLocks noChangeShapeType="1"/>
            <a:stCxn id="19" idx="4"/>
            <a:endCxn id="20" idx="4"/>
          </p:cNvCxnSpPr>
          <p:nvPr/>
        </p:nvCxnSpPr>
        <p:spPr bwMode="auto">
          <a:xfrm rot="16200000" flipH="1">
            <a:off x="4645819" y="462982"/>
            <a:ext cx="4762" cy="8001000"/>
          </a:xfrm>
          <a:prstGeom prst="curvedConnector3">
            <a:avLst>
              <a:gd name="adj1" fmla="val 32733338"/>
            </a:avLst>
          </a:prstGeom>
          <a:noFill/>
          <a:ln w="28575">
            <a:solidFill>
              <a:srgbClr val="FF0000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0" name="Text Box 41">
            <a:extLst>
              <a:ext uri="{FF2B5EF4-FFF2-40B4-BE49-F238E27FC236}">
                <a16:creationId xmlns:a16="http://schemas.microsoft.com/office/drawing/2014/main" id="{7522160C-A06A-4973-B078-883FA05825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5954938"/>
            <a:ext cx="1295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000" b="1" i="1">
                <a:solidFill>
                  <a:srgbClr val="FF0000"/>
                </a:solidFill>
              </a:rPr>
              <a:t>a</a:t>
            </a:r>
            <a:r>
              <a:rPr lang="en-US" altLang="en-US" sz="2000" b="1">
                <a:solidFill>
                  <a:srgbClr val="FF0000"/>
                </a:solidFill>
              </a:rPr>
              <a:t>(</a:t>
            </a:r>
            <a:r>
              <a:rPr lang="en-US" altLang="en-US" sz="2000" b="1" i="1">
                <a:solidFill>
                  <a:srgbClr val="FF0000"/>
                </a:solidFill>
              </a:rPr>
              <a:t>aa</a:t>
            </a:r>
            <a:r>
              <a:rPr lang="en-US" altLang="en-US" sz="2000" b="1">
                <a:solidFill>
                  <a:srgbClr val="FF0000"/>
                </a:solidFill>
                <a:sym typeface="Symbol" panose="05050102010706020507" pitchFamily="18" charset="2"/>
              </a:rPr>
              <a:t></a:t>
            </a:r>
            <a:r>
              <a:rPr lang="en-US" altLang="en-US" sz="2000" b="1" i="1">
                <a:solidFill>
                  <a:srgbClr val="FF0000"/>
                </a:solidFill>
                <a:sym typeface="Symbol" panose="05050102010706020507" pitchFamily="18" charset="2"/>
              </a:rPr>
              <a:t>b</a:t>
            </a:r>
            <a:r>
              <a:rPr lang="en-US" altLang="en-US" sz="2000" b="1">
                <a:solidFill>
                  <a:srgbClr val="FF0000"/>
                </a:solidFill>
                <a:sym typeface="Symbol" panose="05050102010706020507" pitchFamily="18" charset="2"/>
              </a:rPr>
              <a:t>)*</a:t>
            </a:r>
          </a:p>
        </p:txBody>
      </p:sp>
      <p:cxnSp>
        <p:nvCxnSpPr>
          <p:cNvPr id="41" name="AutoShape 42">
            <a:extLst>
              <a:ext uri="{FF2B5EF4-FFF2-40B4-BE49-F238E27FC236}">
                <a16:creationId xmlns:a16="http://schemas.microsoft.com/office/drawing/2014/main" id="{9253C342-4BC1-456B-92E5-A2854643DAF6}"/>
              </a:ext>
            </a:extLst>
          </p:cNvPr>
          <p:cNvCxnSpPr>
            <a:cxnSpLocks noChangeShapeType="1"/>
            <a:stCxn id="24" idx="3"/>
            <a:endCxn id="24" idx="5"/>
          </p:cNvCxnSpPr>
          <p:nvPr/>
        </p:nvCxnSpPr>
        <p:spPr bwMode="auto">
          <a:xfrm rot="16200000" flipH="1">
            <a:off x="4114006" y="4919095"/>
            <a:ext cx="1587" cy="431800"/>
          </a:xfrm>
          <a:prstGeom prst="curvedConnector3">
            <a:avLst>
              <a:gd name="adj1" fmla="val 19100009"/>
            </a:avLst>
          </a:prstGeom>
          <a:noFill/>
          <a:ln w="28575">
            <a:solidFill>
              <a:srgbClr val="FF0000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2" name="Text Box 43">
            <a:extLst>
              <a:ext uri="{FF2B5EF4-FFF2-40B4-BE49-F238E27FC236}">
                <a16:creationId xmlns:a16="http://schemas.microsoft.com/office/drawing/2014/main" id="{7D754E22-7895-4151-BCC3-7BFDECDE57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6400" y="5167538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000" b="1" i="1">
                <a:solidFill>
                  <a:srgbClr val="FF0000"/>
                </a:solidFill>
              </a:rPr>
              <a:t>bb</a:t>
            </a:r>
          </a:p>
        </p:txBody>
      </p:sp>
      <p:sp>
        <p:nvSpPr>
          <p:cNvPr id="43" name="Text Box 44">
            <a:extLst>
              <a:ext uri="{FF2B5EF4-FFF2-40B4-BE49-F238E27FC236}">
                <a16:creationId xmlns:a16="http://schemas.microsoft.com/office/drawing/2014/main" id="{89509EB1-AD18-4C26-9B69-4E7E13B13D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5364388"/>
            <a:ext cx="2667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(</a:t>
            </a:r>
            <a:r>
              <a:rPr lang="en-US" altLang="en-US" sz="1800" b="1" i="1">
                <a:solidFill>
                  <a:srgbClr val="FF0000"/>
                </a:solidFill>
              </a:rPr>
              <a:t>ba</a:t>
            </a:r>
            <a:r>
              <a:rPr lang="en-US" altLang="en-US" sz="1800" b="1">
                <a:solidFill>
                  <a:srgbClr val="FF0000"/>
                </a:solidFill>
                <a:sym typeface="Symbol" panose="05050102010706020507" pitchFamily="18" charset="2"/>
              </a:rPr>
              <a:t></a:t>
            </a:r>
            <a:r>
              <a:rPr lang="en-US" altLang="en-US" sz="1800" b="1" i="1">
                <a:solidFill>
                  <a:srgbClr val="FF0000"/>
                </a:solidFill>
                <a:sym typeface="Symbol" panose="05050102010706020507" pitchFamily="18" charset="2"/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)(</a:t>
            </a:r>
            <a:r>
              <a:rPr lang="en-US" altLang="en-US" sz="1800" b="1" i="1">
                <a:solidFill>
                  <a:srgbClr val="FF0000"/>
                </a:solidFill>
              </a:rPr>
              <a:t>aa</a:t>
            </a:r>
            <a:r>
              <a:rPr lang="en-US" altLang="en-US" sz="1800" b="1">
                <a:solidFill>
                  <a:srgbClr val="FF0000"/>
                </a:solidFill>
              </a:rPr>
              <a:t> </a:t>
            </a:r>
            <a:r>
              <a:rPr lang="en-US" altLang="en-US" sz="1800" b="1">
                <a:solidFill>
                  <a:srgbClr val="FF0000"/>
                </a:solidFill>
                <a:sym typeface="Symbol" panose="05050102010706020507" pitchFamily="18" charset="2"/>
              </a:rPr>
              <a:t></a:t>
            </a:r>
            <a:r>
              <a:rPr lang="en-US" altLang="en-US" sz="1800" b="1" i="1">
                <a:solidFill>
                  <a:srgbClr val="FF0000"/>
                </a:solidFill>
                <a:sym typeface="Symbol" panose="05050102010706020507" pitchFamily="18" charset="2"/>
              </a:rPr>
              <a:t>b</a:t>
            </a:r>
            <a:r>
              <a:rPr lang="en-US" altLang="en-US" sz="1800" b="1">
                <a:solidFill>
                  <a:srgbClr val="FF0000"/>
                </a:solidFill>
              </a:rPr>
              <a:t>)*</a:t>
            </a:r>
            <a:r>
              <a:rPr lang="en-US" altLang="en-US" sz="1800" b="1" i="1">
                <a:solidFill>
                  <a:srgbClr val="FF0000"/>
                </a:solidFill>
              </a:rPr>
              <a:t>ab</a:t>
            </a:r>
            <a:r>
              <a:rPr lang="en-US" altLang="en-US" sz="1800" b="1">
                <a:solidFill>
                  <a:srgbClr val="FF0000"/>
                </a:solidFill>
              </a:rPr>
              <a:t> </a:t>
            </a:r>
            <a:r>
              <a:rPr lang="en-US" altLang="en-US" sz="1800" b="1">
                <a:solidFill>
                  <a:srgbClr val="FF0000"/>
                </a:solidFill>
                <a:sym typeface="Symbol" panose="05050102010706020507" pitchFamily="18" charset="2"/>
              </a:rPr>
              <a:t></a:t>
            </a:r>
            <a:r>
              <a:rPr lang="en-US" altLang="en-US" sz="1800" b="1" i="1">
                <a:solidFill>
                  <a:srgbClr val="FF0000"/>
                </a:solidFill>
                <a:sym typeface="Symbol" panose="05050102010706020507" pitchFamily="18" charset="2"/>
              </a:rPr>
              <a:t>bb</a:t>
            </a:r>
          </a:p>
        </p:txBody>
      </p:sp>
      <p:sp>
        <p:nvSpPr>
          <p:cNvPr id="44" name="Text Box 45">
            <a:extLst>
              <a:ext uri="{FF2B5EF4-FFF2-40B4-BE49-F238E27FC236}">
                <a16:creationId xmlns:a16="http://schemas.microsoft.com/office/drawing/2014/main" id="{E0761ED7-2D52-464D-A0DA-2F3B2BFE90BD}"/>
              </a:ext>
            </a:extLst>
          </p:cNvPr>
          <p:cNvSpPr txBox="1">
            <a:spLocks noChangeArrowheads="1"/>
          </p:cNvSpPr>
          <p:nvPr/>
        </p:nvSpPr>
        <p:spPr bwMode="auto">
          <a:xfrm rot="20798656">
            <a:off x="4953000" y="4596038"/>
            <a:ext cx="2286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(</a:t>
            </a:r>
            <a:r>
              <a:rPr lang="en-US" altLang="en-US" sz="1800" b="1" i="1">
                <a:solidFill>
                  <a:srgbClr val="FF0000"/>
                </a:solidFill>
              </a:rPr>
              <a:t>ba</a:t>
            </a:r>
            <a:r>
              <a:rPr lang="en-US" altLang="en-US" sz="1800" b="1">
                <a:solidFill>
                  <a:srgbClr val="FF0000"/>
                </a:solidFill>
              </a:rPr>
              <a:t> </a:t>
            </a:r>
            <a:r>
              <a:rPr lang="en-US" altLang="en-US" sz="1800" b="1">
                <a:solidFill>
                  <a:srgbClr val="FF0000"/>
                </a:solidFill>
                <a:sym typeface="Symbol" panose="05050102010706020507" pitchFamily="18" charset="2"/>
              </a:rPr>
              <a:t></a:t>
            </a:r>
            <a:r>
              <a:rPr lang="en-US" altLang="en-US" sz="1800" b="1" i="1">
                <a:solidFill>
                  <a:srgbClr val="FF0000"/>
                </a:solidFill>
                <a:sym typeface="Symbol" panose="05050102010706020507" pitchFamily="18" charset="2"/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)(</a:t>
            </a:r>
            <a:r>
              <a:rPr lang="en-US" altLang="en-US" sz="1800" b="1" i="1">
                <a:solidFill>
                  <a:srgbClr val="FF0000"/>
                </a:solidFill>
              </a:rPr>
              <a:t>aa</a:t>
            </a:r>
            <a:r>
              <a:rPr lang="en-US" altLang="en-US" sz="1800" b="1">
                <a:solidFill>
                  <a:srgbClr val="FF0000"/>
                </a:solidFill>
              </a:rPr>
              <a:t> </a:t>
            </a:r>
            <a:r>
              <a:rPr lang="en-US" altLang="en-US" sz="1800" b="1">
                <a:solidFill>
                  <a:srgbClr val="FF0000"/>
                </a:solidFill>
                <a:sym typeface="Symbol" panose="05050102010706020507" pitchFamily="18" charset="2"/>
              </a:rPr>
              <a:t></a:t>
            </a:r>
            <a:r>
              <a:rPr lang="en-US" altLang="en-US" sz="1800" b="1" i="1">
                <a:solidFill>
                  <a:srgbClr val="FF0000"/>
                </a:solidFill>
                <a:sym typeface="Symbol" panose="05050102010706020507" pitchFamily="18" charset="2"/>
              </a:rPr>
              <a:t>b</a:t>
            </a:r>
            <a:r>
              <a:rPr lang="en-US" altLang="en-US" sz="1800" b="1">
                <a:solidFill>
                  <a:srgbClr val="FF0000"/>
                </a:solidFill>
              </a:rPr>
              <a:t>)* </a:t>
            </a:r>
            <a:r>
              <a:rPr lang="en-US" altLang="en-US" sz="1800" b="1">
                <a:solidFill>
                  <a:srgbClr val="FF0000"/>
                </a:solidFill>
                <a:sym typeface="Symbol" panose="05050102010706020507" pitchFamily="18" charset="2"/>
              </a:rPr>
              <a:t></a:t>
            </a:r>
            <a:r>
              <a:rPr lang="en-US" altLang="en-US" sz="1800" b="1" i="1">
                <a:solidFill>
                  <a:srgbClr val="FF0000"/>
                </a:solidFill>
                <a:sym typeface="Symbol" panose="05050102010706020507" pitchFamily="18" charset="2"/>
              </a:rPr>
              <a:t></a:t>
            </a:r>
          </a:p>
        </p:txBody>
      </p:sp>
      <p:cxnSp>
        <p:nvCxnSpPr>
          <p:cNvPr id="45" name="AutoShape 48">
            <a:extLst>
              <a:ext uri="{FF2B5EF4-FFF2-40B4-BE49-F238E27FC236}">
                <a16:creationId xmlns:a16="http://schemas.microsoft.com/office/drawing/2014/main" id="{2BC35297-A1E2-4BF8-BF35-045EAAEFEB86}"/>
              </a:ext>
            </a:extLst>
          </p:cNvPr>
          <p:cNvCxnSpPr>
            <a:cxnSpLocks noChangeShapeType="1"/>
            <a:stCxn id="19" idx="6"/>
            <a:endCxn id="20" idx="2"/>
          </p:cNvCxnSpPr>
          <p:nvPr/>
        </p:nvCxnSpPr>
        <p:spPr bwMode="auto">
          <a:xfrm>
            <a:off x="928688" y="4180113"/>
            <a:ext cx="7434262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6" name="Text Box 49">
            <a:extLst>
              <a:ext uri="{FF2B5EF4-FFF2-40B4-BE49-F238E27FC236}">
                <a16:creationId xmlns:a16="http://schemas.microsoft.com/office/drawing/2014/main" id="{3F663482-CBB8-40C3-BF34-E1275689D1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6047013"/>
            <a:ext cx="8153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b="1" dirty="0">
                <a:solidFill>
                  <a:srgbClr val="0070C0"/>
                </a:solidFill>
              </a:rPr>
              <a:t>(</a:t>
            </a:r>
            <a:r>
              <a:rPr lang="en-US" altLang="en-US" sz="1800" b="1" i="1" dirty="0">
                <a:solidFill>
                  <a:srgbClr val="0070C0"/>
                </a:solidFill>
              </a:rPr>
              <a:t>a</a:t>
            </a:r>
            <a:r>
              <a:rPr lang="en-US" altLang="en-US" sz="1800" b="1" dirty="0">
                <a:solidFill>
                  <a:srgbClr val="0070C0"/>
                </a:solidFill>
              </a:rPr>
              <a:t>(</a:t>
            </a:r>
            <a:r>
              <a:rPr lang="en-US" altLang="en-US" sz="1800" b="1" i="1" dirty="0" err="1">
                <a:solidFill>
                  <a:srgbClr val="0070C0"/>
                </a:solidFill>
              </a:rPr>
              <a:t>aa</a:t>
            </a:r>
            <a:r>
              <a:rPr lang="en-US" altLang="en-US" sz="1800" b="1" dirty="0" err="1">
                <a:solidFill>
                  <a:srgbClr val="0070C0"/>
                </a:solidFill>
                <a:sym typeface="Symbol" panose="05050102010706020507" pitchFamily="18" charset="2"/>
              </a:rPr>
              <a:t></a:t>
            </a:r>
            <a:r>
              <a:rPr lang="en-US" altLang="en-US" sz="1800" b="1" i="1" dirty="0" err="1">
                <a:solidFill>
                  <a:srgbClr val="0070C0"/>
                </a:solidFill>
                <a:sym typeface="Symbol" panose="05050102010706020507" pitchFamily="18" charset="2"/>
              </a:rPr>
              <a:t>b</a:t>
            </a:r>
            <a:r>
              <a:rPr lang="en-US" altLang="en-US" sz="1800" b="1" dirty="0">
                <a:solidFill>
                  <a:srgbClr val="0070C0"/>
                </a:solidFill>
              </a:rPr>
              <a:t>)</a:t>
            </a:r>
            <a:r>
              <a:rPr lang="en-US" altLang="en-US" sz="1800" b="1" i="1" dirty="0">
                <a:solidFill>
                  <a:srgbClr val="0070C0"/>
                </a:solidFill>
              </a:rPr>
              <a:t>*</a:t>
            </a:r>
            <a:r>
              <a:rPr lang="en-US" altLang="en-US" sz="1800" b="1" i="1" dirty="0" err="1">
                <a:solidFill>
                  <a:srgbClr val="0070C0"/>
                </a:solidFill>
              </a:rPr>
              <a:t>ab</a:t>
            </a:r>
            <a:r>
              <a:rPr lang="en-US" altLang="en-US" sz="1800" b="1" dirty="0" err="1">
                <a:solidFill>
                  <a:srgbClr val="0070C0"/>
                </a:solidFill>
                <a:sym typeface="Symbol" panose="05050102010706020507" pitchFamily="18" charset="2"/>
              </a:rPr>
              <a:t></a:t>
            </a:r>
            <a:r>
              <a:rPr lang="en-US" altLang="en-US" sz="1800" b="1" i="1" dirty="0" err="1">
                <a:solidFill>
                  <a:srgbClr val="0070C0"/>
                </a:solidFill>
                <a:sym typeface="Symbol" panose="05050102010706020507" pitchFamily="18" charset="2"/>
              </a:rPr>
              <a:t>b</a:t>
            </a:r>
            <a:r>
              <a:rPr lang="en-US" altLang="en-US" sz="1800" b="1" dirty="0">
                <a:solidFill>
                  <a:srgbClr val="0070C0"/>
                </a:solidFill>
                <a:sym typeface="Symbol" panose="05050102010706020507" pitchFamily="18" charset="2"/>
              </a:rPr>
              <a:t>)</a:t>
            </a:r>
            <a:r>
              <a:rPr lang="en-US" altLang="en-US" sz="1800" b="1" dirty="0">
                <a:solidFill>
                  <a:srgbClr val="FF0000"/>
                </a:solidFill>
                <a:sym typeface="Symbol" panose="05050102010706020507" pitchFamily="18" charset="2"/>
              </a:rPr>
              <a:t>(</a:t>
            </a:r>
            <a:r>
              <a:rPr lang="en-US" altLang="en-US" sz="1800" b="1" dirty="0">
                <a:solidFill>
                  <a:srgbClr val="FF0000"/>
                </a:solidFill>
              </a:rPr>
              <a:t>(</a:t>
            </a:r>
            <a:r>
              <a:rPr lang="en-US" altLang="en-US" sz="1800" b="1" i="1" dirty="0" err="1">
                <a:solidFill>
                  <a:srgbClr val="FF0000"/>
                </a:solidFill>
              </a:rPr>
              <a:t>ba</a:t>
            </a:r>
            <a:r>
              <a:rPr lang="en-US" altLang="en-US" sz="1800" b="1" dirty="0" err="1">
                <a:solidFill>
                  <a:srgbClr val="FF0000"/>
                </a:solidFill>
                <a:sym typeface="Symbol" panose="05050102010706020507" pitchFamily="18" charset="2"/>
              </a:rPr>
              <a:t></a:t>
            </a:r>
            <a:r>
              <a:rPr lang="en-US" altLang="en-US" sz="1800" b="1" i="1" dirty="0" err="1">
                <a:solidFill>
                  <a:srgbClr val="FF0000"/>
                </a:solidFill>
                <a:sym typeface="Symbol" panose="05050102010706020507" pitchFamily="18" charset="2"/>
              </a:rPr>
              <a:t>a</a:t>
            </a:r>
            <a:r>
              <a:rPr lang="en-US" altLang="en-US" sz="1800" b="1" dirty="0">
                <a:solidFill>
                  <a:srgbClr val="FF0000"/>
                </a:solidFill>
              </a:rPr>
              <a:t>)(</a:t>
            </a:r>
            <a:r>
              <a:rPr lang="en-US" altLang="en-US" sz="1800" b="1" i="1" dirty="0">
                <a:solidFill>
                  <a:srgbClr val="FF0000"/>
                </a:solidFill>
              </a:rPr>
              <a:t>aa</a:t>
            </a:r>
            <a:r>
              <a:rPr lang="en-US" altLang="en-US" sz="1800" b="1" dirty="0">
                <a:solidFill>
                  <a:srgbClr val="FF0000"/>
                </a:solidFill>
              </a:rPr>
              <a:t> </a:t>
            </a:r>
            <a:r>
              <a:rPr lang="en-US" altLang="en-US" sz="1800" b="1" dirty="0">
                <a:solidFill>
                  <a:srgbClr val="FF0000"/>
                </a:solidFill>
                <a:sym typeface="Symbol" panose="05050102010706020507" pitchFamily="18" charset="2"/>
              </a:rPr>
              <a:t></a:t>
            </a:r>
            <a:r>
              <a:rPr lang="en-US" altLang="en-US" sz="1800" b="1" i="1" dirty="0">
                <a:solidFill>
                  <a:srgbClr val="FF0000"/>
                </a:solidFill>
                <a:sym typeface="Symbol" panose="05050102010706020507" pitchFamily="18" charset="2"/>
              </a:rPr>
              <a:t>b</a:t>
            </a:r>
            <a:r>
              <a:rPr lang="en-US" altLang="en-US" sz="1800" b="1" dirty="0">
                <a:solidFill>
                  <a:srgbClr val="FF0000"/>
                </a:solidFill>
              </a:rPr>
              <a:t>)*</a:t>
            </a:r>
            <a:r>
              <a:rPr lang="en-US" altLang="en-US" sz="1800" b="1" i="1" dirty="0">
                <a:solidFill>
                  <a:srgbClr val="FF0000"/>
                </a:solidFill>
              </a:rPr>
              <a:t>ab</a:t>
            </a:r>
            <a:r>
              <a:rPr lang="en-US" altLang="en-US" sz="1800" b="1" dirty="0">
                <a:solidFill>
                  <a:srgbClr val="FF0000"/>
                </a:solidFill>
              </a:rPr>
              <a:t> </a:t>
            </a:r>
            <a:r>
              <a:rPr lang="en-US" altLang="en-US" sz="1800" b="1" dirty="0">
                <a:solidFill>
                  <a:srgbClr val="FF0000"/>
                </a:solidFill>
                <a:sym typeface="Symbol" panose="05050102010706020507" pitchFamily="18" charset="2"/>
              </a:rPr>
              <a:t></a:t>
            </a:r>
            <a:r>
              <a:rPr lang="en-US" altLang="en-US" sz="1800" b="1" i="1" dirty="0">
                <a:solidFill>
                  <a:srgbClr val="FF0000"/>
                </a:solidFill>
                <a:sym typeface="Symbol" panose="05050102010706020507" pitchFamily="18" charset="2"/>
              </a:rPr>
              <a:t>bb</a:t>
            </a:r>
            <a:r>
              <a:rPr lang="en-US" altLang="en-US" sz="1800" b="1" dirty="0">
                <a:solidFill>
                  <a:srgbClr val="FF0000"/>
                </a:solidFill>
                <a:sym typeface="Symbol" panose="05050102010706020507" pitchFamily="18" charset="2"/>
              </a:rPr>
              <a:t>)*</a:t>
            </a:r>
            <a:r>
              <a:rPr lang="en-US" altLang="en-US" sz="1800" b="1" dirty="0">
                <a:solidFill>
                  <a:srgbClr val="0070C0"/>
                </a:solidFill>
                <a:sym typeface="Symbol" panose="05050102010706020507" pitchFamily="18" charset="2"/>
              </a:rPr>
              <a:t>(</a:t>
            </a:r>
            <a:r>
              <a:rPr lang="en-US" altLang="en-US" sz="1800" b="1" dirty="0">
                <a:solidFill>
                  <a:srgbClr val="0070C0"/>
                </a:solidFill>
              </a:rPr>
              <a:t>(</a:t>
            </a:r>
            <a:r>
              <a:rPr lang="en-US" altLang="en-US" sz="1800" b="1" i="1" dirty="0" err="1">
                <a:solidFill>
                  <a:srgbClr val="0070C0"/>
                </a:solidFill>
              </a:rPr>
              <a:t>ba</a:t>
            </a:r>
            <a:r>
              <a:rPr lang="en-US" altLang="en-US" sz="1800" b="1" dirty="0">
                <a:solidFill>
                  <a:srgbClr val="0070C0"/>
                </a:solidFill>
              </a:rPr>
              <a:t> </a:t>
            </a:r>
            <a:r>
              <a:rPr lang="en-US" altLang="en-US" sz="1800" b="1" dirty="0">
                <a:solidFill>
                  <a:srgbClr val="0070C0"/>
                </a:solidFill>
                <a:sym typeface="Symbol" panose="05050102010706020507" pitchFamily="18" charset="2"/>
              </a:rPr>
              <a:t></a:t>
            </a:r>
            <a:r>
              <a:rPr lang="en-US" altLang="en-US" sz="1800" b="1" i="1" dirty="0">
                <a:solidFill>
                  <a:srgbClr val="0070C0"/>
                </a:solidFill>
                <a:sym typeface="Symbol" panose="05050102010706020507" pitchFamily="18" charset="2"/>
              </a:rPr>
              <a:t>a</a:t>
            </a:r>
            <a:r>
              <a:rPr lang="en-US" altLang="en-US" sz="1800" b="1" dirty="0">
                <a:solidFill>
                  <a:srgbClr val="0070C0"/>
                </a:solidFill>
              </a:rPr>
              <a:t>)(</a:t>
            </a:r>
            <a:r>
              <a:rPr lang="en-US" altLang="en-US" sz="1800" b="1" i="1" dirty="0">
                <a:solidFill>
                  <a:srgbClr val="0070C0"/>
                </a:solidFill>
              </a:rPr>
              <a:t>aa</a:t>
            </a:r>
            <a:r>
              <a:rPr lang="en-US" altLang="en-US" sz="1800" b="1" dirty="0">
                <a:solidFill>
                  <a:srgbClr val="0070C0"/>
                </a:solidFill>
              </a:rPr>
              <a:t> </a:t>
            </a:r>
            <a:r>
              <a:rPr lang="en-US" altLang="en-US" sz="1800" b="1" dirty="0">
                <a:solidFill>
                  <a:srgbClr val="0070C0"/>
                </a:solidFill>
                <a:sym typeface="Symbol" panose="05050102010706020507" pitchFamily="18" charset="2"/>
              </a:rPr>
              <a:t></a:t>
            </a:r>
            <a:r>
              <a:rPr lang="en-US" altLang="en-US" sz="1800" b="1" i="1" dirty="0">
                <a:solidFill>
                  <a:srgbClr val="0070C0"/>
                </a:solidFill>
                <a:sym typeface="Symbol" panose="05050102010706020507" pitchFamily="18" charset="2"/>
              </a:rPr>
              <a:t>b</a:t>
            </a:r>
            <a:r>
              <a:rPr lang="en-US" altLang="en-US" sz="1800" b="1" dirty="0">
                <a:solidFill>
                  <a:srgbClr val="0070C0"/>
                </a:solidFill>
              </a:rPr>
              <a:t>)* </a:t>
            </a:r>
            <a:r>
              <a:rPr lang="en-US" altLang="en-US" sz="1800" b="1" dirty="0">
                <a:solidFill>
                  <a:srgbClr val="0070C0"/>
                </a:solidFill>
                <a:sym typeface="Symbol" panose="05050102010706020507" pitchFamily="18" charset="2"/>
              </a:rPr>
              <a:t></a:t>
            </a:r>
            <a:r>
              <a:rPr lang="en-US" altLang="en-US" sz="1800" b="1" i="1" dirty="0">
                <a:solidFill>
                  <a:srgbClr val="0070C0"/>
                </a:solidFill>
                <a:sym typeface="Symbol" panose="05050102010706020507" pitchFamily="18" charset="2"/>
              </a:rPr>
              <a:t></a:t>
            </a:r>
            <a:r>
              <a:rPr lang="en-US" altLang="en-US" sz="1800" b="1" dirty="0">
                <a:solidFill>
                  <a:srgbClr val="0070C0"/>
                </a:solidFill>
                <a:sym typeface="Symbol" panose="05050102010706020507" pitchFamily="18" charset="2"/>
              </a:rPr>
              <a:t>)</a:t>
            </a:r>
            <a:r>
              <a:rPr lang="en-US" altLang="en-US" sz="1800" b="1" dirty="0">
                <a:solidFill>
                  <a:srgbClr val="FF0000"/>
                </a:solidFill>
                <a:sym typeface="Symbol" panose="05050102010706020507" pitchFamily="18" charset="2"/>
              </a:rPr>
              <a:t> (</a:t>
            </a:r>
            <a:r>
              <a:rPr lang="en-US" altLang="en-US" sz="1800" b="1" i="1" dirty="0">
                <a:solidFill>
                  <a:srgbClr val="FF0000"/>
                </a:solidFill>
              </a:rPr>
              <a:t>a</a:t>
            </a:r>
            <a:r>
              <a:rPr lang="en-US" altLang="en-US" sz="1800" b="1" dirty="0">
                <a:solidFill>
                  <a:srgbClr val="FF0000"/>
                </a:solidFill>
              </a:rPr>
              <a:t>(</a:t>
            </a:r>
            <a:r>
              <a:rPr lang="en-US" altLang="en-US" sz="1800" b="1" i="1" dirty="0" err="1">
                <a:solidFill>
                  <a:srgbClr val="FF0000"/>
                </a:solidFill>
              </a:rPr>
              <a:t>aa</a:t>
            </a:r>
            <a:r>
              <a:rPr lang="en-US" altLang="en-US" sz="1800" b="1" dirty="0" err="1">
                <a:solidFill>
                  <a:srgbClr val="FF0000"/>
                </a:solidFill>
                <a:sym typeface="Symbol" panose="05050102010706020507" pitchFamily="18" charset="2"/>
              </a:rPr>
              <a:t></a:t>
            </a:r>
            <a:r>
              <a:rPr lang="en-US" altLang="en-US" sz="1800" b="1" i="1" dirty="0" err="1">
                <a:solidFill>
                  <a:srgbClr val="FF0000"/>
                </a:solidFill>
                <a:sym typeface="Symbol" panose="05050102010706020507" pitchFamily="18" charset="2"/>
              </a:rPr>
              <a:t>b</a:t>
            </a:r>
            <a:r>
              <a:rPr lang="en-US" altLang="en-US" sz="1800" b="1" dirty="0">
                <a:solidFill>
                  <a:srgbClr val="FF0000"/>
                </a:solidFill>
                <a:sym typeface="Symbol" panose="05050102010706020507" pitchFamily="18" charset="2"/>
              </a:rPr>
              <a:t>)*)</a:t>
            </a:r>
          </a:p>
        </p:txBody>
      </p:sp>
      <p:sp>
        <p:nvSpPr>
          <p:cNvPr id="49" name="Text Placeholder 2">
            <a:extLst>
              <a:ext uri="{FF2B5EF4-FFF2-40B4-BE49-F238E27FC236}">
                <a16:creationId xmlns:a16="http://schemas.microsoft.com/office/drawing/2014/main" id="{E6B045B2-4287-FF86-FAF6-FAFE68754B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580913"/>
            <a:ext cx="8324850" cy="1005840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dirty="0"/>
              <a:t>Example: </a:t>
            </a:r>
          </a:p>
          <a:p>
            <a:pPr algn="ctr">
              <a:spcBef>
                <a:spcPts val="0"/>
              </a:spcBef>
            </a:pPr>
            <a:r>
              <a:rPr lang="en-US" altLang="en-US" sz="3200" dirty="0"/>
              <a:t>Converting a two state DFA to an equivalent regular expression</a:t>
            </a:r>
          </a:p>
          <a:p>
            <a:pPr>
              <a:spcBef>
                <a:spcPts val="0"/>
              </a:spcBef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69109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77 -0.00185 C -0.09757 0.00902 -0.19184 0.02035 -0.23698 0.04626 C -0.28194 0.07216 -0.27795 0.11286 -0.27395 0.15356 " pathEditMode="relative" rAng="0" ptsTypes="aaA">
                                      <p:cBhvr>
                                        <p:cTn id="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958" y="777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3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indefinite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6" dur="indefinite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indefinite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9" dur="indefinite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indefinite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2" dur="indefinite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5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57" dur="indefinite"/>
                                        <p:tgtEl>
                                          <p:spTgt spid="19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59" dur="indefinite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1" dur="indefinite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3" dur="indefinite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5" dur="indefinite"/>
                                        <p:tgtEl>
                                          <p:spTgt spid="20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0" dur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3" presetClass="emph" presetSubtype="1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72" dur="indefinite"/>
                                        <p:tgtEl>
                                          <p:spTgt spid="4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7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3" presetClass="emph" presetSubtype="1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79" dur="indefinite"/>
                                        <p:tgtEl>
                                          <p:spTgt spid="19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indefinite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8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2" dur="indefinite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3" presetClass="emph" presetSubtype="1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84" dur="indefinite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9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3" presetClass="emph" presetSubtype="1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91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94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96" dur="indefinite"/>
                                        <p:tgtEl>
                                          <p:spTgt spid="24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09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3" presetClass="emph" presetSubtype="1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11" dur="indefinite"/>
                                        <p:tgtEl>
                                          <p:spTgt spid="24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3" presetClass="emph" presetSubtype="1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13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6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3" presetClass="emph" presetSubtype="1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20" dur="indefinite"/>
                                        <p:tgtEl>
                                          <p:spTgt spid="25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indefinit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3" dur="indefinit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6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3" presetClass="emph" presetSubtype="1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28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1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3" presetClass="emph" presetSubtype="1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43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3" presetClass="emph" presetSubtype="1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51" dur="indefinite"/>
                                        <p:tgtEl>
                                          <p:spTgt spid="25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indefinit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4" dur="indefinit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7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3" presetClass="emph" presetSubtype="1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59" dur="indefinite"/>
                                        <p:tgtEl>
                                          <p:spTgt spid="19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8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64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3" presetClass="emph" presetSubtype="1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66" dur="indefinite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3" presetClass="emph" presetSubtype="1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68" dur="indefinite"/>
                                        <p:tgtEl>
                                          <p:spTgt spid="25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indefinit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71" dur="indefinit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76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79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3" presetClass="emph" presetSubtype="1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81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3" presetClass="emph" presetSubtype="1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83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88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97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3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99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3" presetClass="emph" presetSubtype="1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203" dur="indefinite"/>
                                        <p:tgtEl>
                                          <p:spTgt spid="24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06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09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3" presetClass="emph" presetSubtype="1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211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3" presetClass="emph" presetSubtype="1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223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26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3" presetClass="emph" presetSubtype="1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228" dur="indefinite"/>
                                        <p:tgtEl>
                                          <p:spTgt spid="24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31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8" presetID="3" presetClass="emph" presetSubtype="1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239" dur="indefinite"/>
                                        <p:tgtEl>
                                          <p:spTgt spid="25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indefinit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42" dur="indefinit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8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47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249" dur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" presetID="3" presetClass="emph" presetSubtype="1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251" dur="indefinite"/>
                                        <p:tgtEl>
                                          <p:spTgt spid="24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2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54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59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0" presetID="3" presetClass="emph" presetSubtype="1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261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2" presetID="3" presetClass="emph" presetSubtype="1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263" dur="indefinite"/>
                                        <p:tgtEl>
                                          <p:spTgt spid="25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indefinit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66" dur="indefinit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69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0" presetID="3" presetClass="emph" presetSubtype="1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271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>
                      <p:stCondLst>
                        <p:cond delay="indefinite"/>
                      </p:stCondLst>
                      <p:childTnLst>
                        <p:par>
                          <p:cTn id="273" fill="hold">
                            <p:stCondLst>
                              <p:cond delay="0"/>
                            </p:stCondLst>
                            <p:childTnLst>
                              <p:par>
                                <p:cTn id="27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78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>
                      <p:stCondLst>
                        <p:cond delay="indefinite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85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6" presetID="3" presetClass="emph" presetSubtype="1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287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8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indefinit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90" dur="indefinit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1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292" dur="indefinite"/>
                                        <p:tgtEl>
                                          <p:spTgt spid="25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3" fill="hold">
                      <p:stCondLst>
                        <p:cond delay="indefinite"/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97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00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1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02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3" presetID="3" presetClass="emph" presetSubtype="1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04" dur="indefinite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5" fill="hold">
                      <p:stCondLst>
                        <p:cond delay="indefinite"/>
                      </p:stCondLst>
                      <p:childTnLst>
                        <p:par>
                          <p:cTn id="306" fill="hold">
                            <p:stCondLst>
                              <p:cond delay="0"/>
                            </p:stCondLst>
                            <p:childTnLst>
                              <p:par>
                                <p:cTn id="3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1" fill="hold">
                            <p:stCondLst>
                              <p:cond delay="0"/>
                            </p:stCondLst>
                            <p:childTnLst>
                              <p:par>
                                <p:cTn id="312" presetID="3" presetClass="emph" presetSubtype="1" grpId="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13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4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16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7" fill="hold">
                      <p:stCondLst>
                        <p:cond delay="indefinite"/>
                      </p:stCondLst>
                      <p:childTnLst>
                        <p:par>
                          <p:cTn id="318" fill="hold">
                            <p:stCondLst>
                              <p:cond delay="0"/>
                            </p:stCondLst>
                            <p:childTnLst>
                              <p:par>
                                <p:cTn id="3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3" presetID="3" presetClass="emph" presetSubtype="1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24" dur="indefinite"/>
                                        <p:tgtEl>
                                          <p:spTgt spid="24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5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27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8" fill="hold">
                      <p:stCondLst>
                        <p:cond delay="indefinite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8" fill="hold">
                      <p:stCondLst>
                        <p:cond delay="indefinite"/>
                      </p:stCondLst>
                      <p:childTnLst>
                        <p:par>
                          <p:cTn id="339" fill="hold">
                            <p:stCondLst>
                              <p:cond delay="0"/>
                            </p:stCondLst>
                            <p:childTnLst>
                              <p:par>
                                <p:cTn id="34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2" fill="hold">
                      <p:stCondLst>
                        <p:cond delay="indefinite"/>
                      </p:stCondLst>
                      <p:childTnLst>
                        <p:par>
                          <p:cTn id="343" fill="hold">
                            <p:stCondLst>
                              <p:cond delay="0"/>
                            </p:stCondLst>
                            <p:childTnLst>
                              <p:par>
                                <p:cTn id="344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46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7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indefinite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49" dur="indefinite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0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51" dur="indefinite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2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53" dur="indefinite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4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55" dur="indefinite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6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indefinite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58" dur="indefinite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9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indefinite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61" dur="indefinite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2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63" dur="indefinite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4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66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7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68" dur="indefinite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9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70" dur="indefinite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1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indefinite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73" dur="indefinite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4" fill="hold">
                      <p:stCondLst>
                        <p:cond delay="indefinite"/>
                      </p:stCondLst>
                      <p:childTnLst>
                        <p:par>
                          <p:cTn id="375" fill="hold">
                            <p:stCondLst>
                              <p:cond delay="0"/>
                            </p:stCondLst>
                            <p:childTnLst>
                              <p:par>
                                <p:cTn id="376" presetID="3" presetClass="emph" presetSubtype="1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77" dur="indefinite"/>
                                        <p:tgtEl>
                                          <p:spTgt spid="25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8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9" dur="indefinit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80" dur="indefinit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1" fill="hold">
                      <p:stCondLst>
                        <p:cond delay="indefinite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presetID="3" presetClass="emph" presetSubtype="1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84" dur="indefinite"/>
                                        <p:tgtEl>
                                          <p:spTgt spid="19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5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indefinite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8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87" dur="indefinite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8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90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1" fill="hold">
                      <p:stCondLst>
                        <p:cond delay="indefinite"/>
                      </p:stCondLst>
                      <p:childTnLst>
                        <p:par>
                          <p:cTn id="392" fill="hold">
                            <p:stCondLst>
                              <p:cond delay="0"/>
                            </p:stCondLst>
                            <p:childTnLst>
                              <p:par>
                                <p:cTn id="393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95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6" presetID="3" presetClass="emph" presetSubtype="1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97" dur="indefinite"/>
                                        <p:tgtEl>
                                          <p:spTgt spid="24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8" presetID="3" presetClass="emph" presetSubtype="1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99" dur="indefinite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0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1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02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3" presetID="3" presetClass="emph" presetSubtype="1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404" dur="indefinite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5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indefinite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07" dur="indefinite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8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indefinite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10" dur="indefinite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1" fill="hold">
                      <p:stCondLst>
                        <p:cond delay="indefinite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indefinite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15" dur="indefinite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6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0" fill="hold">
                      <p:stCondLst>
                        <p:cond delay="indefinite"/>
                      </p:stCondLst>
                      <p:childTnLst>
                        <p:par>
                          <p:cTn id="421" fill="hold">
                            <p:stCondLst>
                              <p:cond delay="0"/>
                            </p:stCondLst>
                            <p:childTnLst>
                              <p:par>
                                <p:cTn id="422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3" dur="indefinite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24" dur="indefinite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5" presetID="3" presetClass="emph" presetSubtype="1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426" dur="indefinite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7" presetID="3" presetClass="emph" presetSubtype="1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428" dur="indefinite"/>
                                        <p:tgtEl>
                                          <p:spTgt spid="24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9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0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31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2" presetID="3" presetClass="emph" presetSubtype="1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433" dur="indefinite"/>
                                        <p:tgtEl>
                                          <p:spTgt spid="20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4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5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36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7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8" dur="indefinite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39" dur="indefinite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0" presetID="3" presetClass="emph" presetSubtype="1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441" dur="indefinite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2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3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44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5" presetID="3" presetClass="emph" presetSubtype="1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446" dur="indefinite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7" fill="hold">
                      <p:stCondLst>
                        <p:cond delay="indefinite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3" fill="hold">
                      <p:stCondLst>
                        <p:cond delay="indefinite"/>
                      </p:stCondLst>
                      <p:childTnLst>
                        <p:par>
                          <p:cTn id="454" fill="hold">
                            <p:stCondLst>
                              <p:cond delay="0"/>
                            </p:stCondLst>
                            <p:childTnLst>
                              <p:par>
                                <p:cTn id="455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indefinite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57" dur="indefinite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8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9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60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1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2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63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4" presetID="3" presetClass="emph" presetSubtype="1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465" dur="indefinite"/>
                                        <p:tgtEl>
                                          <p:spTgt spid="20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6" presetID="3" presetClass="emph" presetSubtype="1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467" dur="indefinite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8" presetID="3" presetClass="emph" presetSubtype="1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469" dur="indefinite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0" fill="hold">
                      <p:stCondLst>
                        <p:cond delay="indefinite"/>
                      </p:stCondLst>
                      <p:childTnLst>
                        <p:par>
                          <p:cTn id="471" fill="hold">
                            <p:stCondLst>
                              <p:cond delay="0"/>
                            </p:stCondLst>
                            <p:childTnLst>
                              <p:par>
                                <p:cTn id="47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4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6" presetID="3" presetClass="emph" presetSubtype="1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477" dur="indefinite"/>
                                        <p:tgtEl>
                                          <p:spTgt spid="19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8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9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80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1" fill="hold">
                      <p:stCondLst>
                        <p:cond delay="indefinite"/>
                      </p:stCondLst>
                      <p:childTnLst>
                        <p:par>
                          <p:cTn id="482" fill="hold">
                            <p:stCondLst>
                              <p:cond delay="0"/>
                            </p:stCondLst>
                            <p:childTnLst>
                              <p:par>
                                <p:cTn id="483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4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85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6" presetID="3" presetClass="emph" presetSubtype="1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487" dur="indefinite"/>
                                        <p:tgtEl>
                                          <p:spTgt spid="24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8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9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8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90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1" fill="hold">
                      <p:stCondLst>
                        <p:cond delay="indefinite"/>
                      </p:stCondLst>
                      <p:childTnLst>
                        <p:par>
                          <p:cTn id="492" fill="hold">
                            <p:stCondLst>
                              <p:cond delay="0"/>
                            </p:stCondLst>
                            <p:childTnLst>
                              <p:par>
                                <p:cTn id="493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4" dur="indefinite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95" dur="indefinite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6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7" dur="indefinite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98" dur="indefinite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9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0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01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2" presetID="3" presetClass="emph" presetSubtype="1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503" dur="indefinite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4" presetID="3" presetClass="emph" presetSubtype="1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505" dur="indefinite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6" presetID="3" presetClass="emph" presetSubtype="1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507" dur="indefinite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8" fill="hold">
                      <p:stCondLst>
                        <p:cond delay="indefinite"/>
                      </p:stCondLst>
                      <p:childTnLst>
                        <p:par>
                          <p:cTn id="509" fill="hold">
                            <p:stCondLst>
                              <p:cond delay="0"/>
                            </p:stCondLst>
                            <p:childTnLst>
                              <p:par>
                                <p:cTn id="510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1" dur="indefinite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12" dur="indefinite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5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7" fill="hold">
                      <p:stCondLst>
                        <p:cond delay="indefinite"/>
                      </p:stCondLst>
                      <p:childTnLst>
                        <p:par>
                          <p:cTn id="518" fill="hold">
                            <p:stCondLst>
                              <p:cond delay="0"/>
                            </p:stCondLst>
                            <p:childTnLst>
                              <p:par>
                                <p:cTn id="519" presetID="3" presetClass="emph" presetSubtype="1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520" dur="indefinite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1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2" dur="indefinite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23" dur="indefinite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4" presetID="3" presetClass="emph" presetSubtype="1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525" dur="indefinite"/>
                                        <p:tgtEl>
                                          <p:spTgt spid="20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6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7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28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9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0" dur="indefinite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31" dur="indefinite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2" presetID="3" presetClass="emph" presetSubtype="1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533" dur="indefinite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4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5" dur="indefinite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36" dur="indefinite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7" presetID="3" presetClass="emph" presetSubtype="1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538" dur="indefinite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9" fill="hold">
                      <p:stCondLst>
                        <p:cond delay="indefinite"/>
                      </p:stCondLst>
                      <p:childTnLst>
                        <p:par>
                          <p:cTn id="540" fill="hold">
                            <p:stCondLst>
                              <p:cond delay="0"/>
                            </p:stCondLst>
                            <p:childTnLst>
                              <p:par>
                                <p:cTn id="541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5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6" dur="indefinite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47" dur="indefinite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8" fill="hold">
                      <p:stCondLst>
                        <p:cond delay="indefinite"/>
                      </p:stCondLst>
                      <p:childTnLst>
                        <p:par>
                          <p:cTn id="549" fill="hold">
                            <p:stCondLst>
                              <p:cond delay="0"/>
                            </p:stCondLst>
                            <p:childTnLst>
                              <p:par>
                                <p:cTn id="55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2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4" fill="hold">
                      <p:stCondLst>
                        <p:cond delay="indefinite"/>
                      </p:stCondLst>
                      <p:childTnLst>
                        <p:par>
                          <p:cTn id="555" fill="hold">
                            <p:stCondLst>
                              <p:cond delay="0"/>
                            </p:stCondLst>
                            <p:childTnLst>
                              <p:par>
                                <p:cTn id="556" presetID="1" presetClass="exit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0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4" presetID="1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8" fill="hold">
                      <p:stCondLst>
                        <p:cond delay="indefinite"/>
                      </p:stCondLst>
                      <p:childTnLst>
                        <p:par>
                          <p:cTn id="569" fill="hold">
                            <p:stCondLst>
                              <p:cond delay="0"/>
                            </p:stCondLst>
                            <p:childTnLst>
                              <p:par>
                                <p:cTn id="570" presetID="1" presetClass="exit" presetSubtype="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2" fill="hold">
                      <p:stCondLst>
                        <p:cond delay="indefinite"/>
                      </p:stCondLst>
                      <p:childTnLst>
                        <p:par>
                          <p:cTn id="573" fill="hold">
                            <p:stCondLst>
                              <p:cond delay="0"/>
                            </p:stCondLst>
                            <p:childTnLst>
                              <p:par>
                                <p:cTn id="574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5" dur="indefinite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76" dur="indefinite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7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8" dur="indefinite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79" dur="indefinite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0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1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82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3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4" dur="indefinite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85" dur="indefinite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6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7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88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9" presetID="3" presetClass="emph" presetSubtype="1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590" dur="indefinite"/>
                                        <p:tgtEl>
                                          <p:spTgt spid="19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1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592" dur="indefinite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3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594" dur="indefinite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5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596" dur="indefinite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7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598" dur="indefinite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9" presetID="3" presetClass="emph" presetSubtype="1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00" dur="indefinite"/>
                                        <p:tgtEl>
                                          <p:spTgt spid="20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1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2" dur="indefinite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03" dur="indefinite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4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5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06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7" presetID="3" presetClass="emph" presetSubtype="1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08" dur="indefinite"/>
                                        <p:tgtEl>
                                          <p:spTgt spid="24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9" fill="hold">
                      <p:stCondLst>
                        <p:cond delay="indefinite"/>
                      </p:stCondLst>
                      <p:childTnLst>
                        <p:par>
                          <p:cTn id="610" fill="hold">
                            <p:stCondLst>
                              <p:cond delay="0"/>
                            </p:stCondLst>
                            <p:childTnLst>
                              <p:par>
                                <p:cTn id="611" presetID="3" presetClass="emph" presetSubtype="1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12" dur="indefinite"/>
                                        <p:tgtEl>
                                          <p:spTgt spid="24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3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4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15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6" fill="hold">
                      <p:stCondLst>
                        <p:cond delay="indefinite"/>
                      </p:stCondLst>
                      <p:childTnLst>
                        <p:par>
                          <p:cTn id="617" fill="hold">
                            <p:stCondLst>
                              <p:cond delay="0"/>
                            </p:stCondLst>
                            <p:childTnLst>
                              <p:par>
                                <p:cTn id="618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9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20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1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2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23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4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5" dur="indefinite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26" dur="indefinite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7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8" dur="indefinite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29" dur="indefinite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0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1" dur="indefinite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32" dur="indefinite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3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4" dur="indefinite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35" dur="indefinite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6" presetID="3" presetClass="emph" presetSubtype="1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37" dur="indefinite"/>
                                        <p:tgtEl>
                                          <p:spTgt spid="20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8" presetID="3" presetClass="emph" presetSubtype="1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39" dur="indefinite"/>
                                        <p:tgtEl>
                                          <p:spTgt spid="19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0" presetID="3" presetClass="emph" presetSubtype="1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41" dur="indefinite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2" presetID="3" presetClass="emph" presetSubtype="1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43" dur="indefinite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4" presetID="3" presetClass="emph" presetSubtype="1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45" dur="indefinite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6" presetID="3" presetClass="emph" presetSubtype="1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47" dur="indefinite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8" fill="hold">
                      <p:stCondLst>
                        <p:cond delay="indefinite"/>
                      </p:stCondLst>
                      <p:childTnLst>
                        <p:par>
                          <p:cTn id="649" fill="hold">
                            <p:stCondLst>
                              <p:cond delay="0"/>
                            </p:stCondLst>
                            <p:childTnLst>
                              <p:par>
                                <p:cTn id="650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4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5" dur="indefinite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56" dur="indefinite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7" fill="hold">
                      <p:stCondLst>
                        <p:cond delay="indefinite"/>
                      </p:stCondLst>
                      <p:childTnLst>
                        <p:par>
                          <p:cTn id="658" fill="hold">
                            <p:stCondLst>
                              <p:cond delay="0"/>
                            </p:stCondLst>
                            <p:childTnLst>
                              <p:par>
                                <p:cTn id="65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5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7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9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1" presetID="1" presetClass="exit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3" fill="hold">
                      <p:stCondLst>
                        <p:cond delay="indefinite"/>
                      </p:stCondLst>
                      <p:childTnLst>
                        <p:par>
                          <p:cTn id="674" fill="hold">
                            <p:stCondLst>
                              <p:cond delay="0"/>
                            </p:stCondLst>
                            <p:childTnLst>
                              <p:par>
                                <p:cTn id="675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6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77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8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9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80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1" presetID="3" presetClass="emph" presetSubtype="1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82" dur="indefinite"/>
                                        <p:tgtEl>
                                          <p:spTgt spid="20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3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84" dur="indefinite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5" presetID="3" presetClass="emph" presetSubtype="1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86" dur="indefinite"/>
                                        <p:tgtEl>
                                          <p:spTgt spid="19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7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8" dur="indefinite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89" dur="indefinite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0" fill="hold">
                      <p:stCondLst>
                        <p:cond delay="indefinite"/>
                      </p:stCondLst>
                      <p:childTnLst>
                        <p:par>
                          <p:cTn id="691" fill="hold">
                            <p:stCondLst>
                              <p:cond delay="0"/>
                            </p:stCondLst>
                            <p:childTnLst>
                              <p:par>
                                <p:cTn id="69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6" fill="hold">
                            <p:stCondLst>
                              <p:cond delay="0"/>
                            </p:stCondLst>
                            <p:childTnLst>
                              <p:par>
                                <p:cTn id="697" presetID="64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022E-16 -2.59259E-6 L -0.00417 -0.35995 " pathEditMode="relative" rAng="0" ptsTypes="AA">
                                      <p:cBhvr>
                                        <p:cTn id="698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8" y="-180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 animBg="1"/>
      <p:bldP spid="5" grpId="0" animBg="1"/>
      <p:bldP spid="6" grpId="0" animBg="1"/>
      <p:bldP spid="13" grpId="0"/>
      <p:bldP spid="13" grpId="1"/>
      <p:bldP spid="13" grpId="2"/>
      <p:bldP spid="13" grpId="3"/>
      <p:bldP spid="13" grpId="4"/>
      <p:bldP spid="13" grpId="5"/>
      <p:bldP spid="14" grpId="0"/>
      <p:bldP spid="14" grpId="1"/>
      <p:bldP spid="14" grpId="2"/>
      <p:bldP spid="15" grpId="0"/>
      <p:bldP spid="15" grpId="1"/>
      <p:bldP spid="16" grpId="0"/>
      <p:bldP spid="16" grpId="1"/>
      <p:bldP spid="17" grpId="0"/>
      <p:bldP spid="17" grpId="1"/>
      <p:bldP spid="17" grpId="2"/>
      <p:bldP spid="17" grpId="3"/>
      <p:bldP spid="17" grpId="4"/>
      <p:bldP spid="17" grpId="5"/>
      <p:bldP spid="17" grpId="6"/>
      <p:bldP spid="18" grpId="0"/>
      <p:bldP spid="18" grpId="1"/>
      <p:bldP spid="19" grpId="0" animBg="1"/>
      <p:bldP spid="19" grpId="1"/>
      <p:bldP spid="19" grpId="2"/>
      <p:bldP spid="19" grpId="3"/>
      <p:bldP spid="19" grpId="4"/>
      <p:bldP spid="19" grpId="5"/>
      <p:bldP spid="19" grpId="6"/>
      <p:bldP spid="19" grpId="7"/>
      <p:bldP spid="19" grpId="8"/>
      <p:bldP spid="20" grpId="0" animBg="1"/>
      <p:bldP spid="20" grpId="1"/>
      <p:bldP spid="20" grpId="2"/>
      <p:bldP spid="20" grpId="3"/>
      <p:bldP spid="20" grpId="4"/>
      <p:bldP spid="20" grpId="5"/>
      <p:bldP spid="20" grpId="6"/>
      <p:bldP spid="20" grpId="7"/>
      <p:bldP spid="23" grpId="0"/>
      <p:bldP spid="23" grpId="1"/>
      <p:bldP spid="23" grpId="2"/>
      <p:bldP spid="23" grpId="3"/>
      <p:bldP spid="24" grpId="0" animBg="1"/>
      <p:bldP spid="24" grpId="1"/>
      <p:bldP spid="24" grpId="2"/>
      <p:bldP spid="24" grpId="3"/>
      <p:bldP spid="24" grpId="4"/>
      <p:bldP spid="24" grpId="5"/>
      <p:bldP spid="24" grpId="6"/>
      <p:bldP spid="24" grpId="7"/>
      <p:bldP spid="24" grpId="8"/>
      <p:bldP spid="24" grpId="9"/>
      <p:bldP spid="24" grpId="10" animBg="1"/>
      <p:bldP spid="24" grpId="11"/>
      <p:bldP spid="24" grpId="12"/>
      <p:bldP spid="25" grpId="0" animBg="1"/>
      <p:bldP spid="25" grpId="1"/>
      <p:bldP spid="25" grpId="2"/>
      <p:bldP spid="25" grpId="3"/>
      <p:bldP spid="25" grpId="4"/>
      <p:bldP spid="25" grpId="5"/>
      <p:bldP spid="25" grpId="6" animBg="1"/>
      <p:bldP spid="25" grpId="7"/>
      <p:bldP spid="25" grpId="8"/>
      <p:bldP spid="28" grpId="0"/>
      <p:bldP spid="28" grpId="1"/>
      <p:bldP spid="28" grpId="2"/>
      <p:bldP spid="28" grpId="3"/>
      <p:bldP spid="29" grpId="0"/>
      <p:bldP spid="29" grpId="1"/>
      <p:bldP spid="29" grpId="2"/>
      <p:bldP spid="29" grpId="3"/>
      <p:bldP spid="29" grpId="4"/>
      <p:bldP spid="29" grpId="5"/>
      <p:bldP spid="31" grpId="0"/>
      <p:bldP spid="31" grpId="1"/>
      <p:bldP spid="31" grpId="2"/>
      <p:bldP spid="32" grpId="0"/>
      <p:bldP spid="32" grpId="1"/>
      <p:bldP spid="32" grpId="2"/>
      <p:bldP spid="34" grpId="0"/>
      <p:bldP spid="34" grpId="1"/>
      <p:bldP spid="34" grpId="2"/>
      <p:bldP spid="36" grpId="0"/>
      <p:bldP spid="36" grpId="1"/>
      <p:bldP spid="36" grpId="2"/>
      <p:bldP spid="36" grpId="3"/>
      <p:bldP spid="36" grpId="4"/>
      <p:bldP spid="36" grpId="5"/>
      <p:bldP spid="36" grpId="6"/>
      <p:bldP spid="37" grpId="0"/>
      <p:bldP spid="37" grpId="1"/>
      <p:bldP spid="37" grpId="2"/>
      <p:bldP spid="37" grpId="3"/>
      <p:bldP spid="37" grpId="4"/>
      <p:bldP spid="37" grpId="5"/>
      <p:bldP spid="37" grpId="6"/>
      <p:bldP spid="38" grpId="0"/>
      <p:bldP spid="38" grpId="1"/>
      <p:bldP spid="38" grpId="2"/>
      <p:bldP spid="38" grpId="3"/>
      <p:bldP spid="40" grpId="0"/>
      <p:bldP spid="40" grpId="1"/>
      <p:bldP spid="40" grpId="2"/>
      <p:bldP spid="40" grpId="3"/>
      <p:bldP spid="42" grpId="0"/>
      <p:bldP spid="42" grpId="1"/>
      <p:bldP spid="42" grpId="2"/>
      <p:bldP spid="42" grpId="3"/>
      <p:bldP spid="43" grpId="0"/>
      <p:bldP spid="43" grpId="1"/>
      <p:bldP spid="43" grpId="2"/>
      <p:bldP spid="43" grpId="3"/>
      <p:bldP spid="44" grpId="0"/>
      <p:bldP spid="44" grpId="1"/>
      <p:bldP spid="44" grpId="2"/>
      <p:bldP spid="44" grpId="3"/>
      <p:bldP spid="46" grpId="0"/>
      <p:bldP spid="46" grpId="1"/>
      <p:bldP spid="46" grpId="2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CCBA0CD-B5A2-472E-9427-0000B04F3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CSC3113: Theory of Computation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9FF7A0-8D27-4FF7-9F04-7F7ECA6CEF4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3BB6F6A-0DC6-4773-8E9A-39BEB325A623}"/>
              </a:ext>
            </a:extLst>
          </p:cNvPr>
          <p:cNvGrpSpPr/>
          <p:nvPr/>
        </p:nvGrpSpPr>
        <p:grpSpPr>
          <a:xfrm>
            <a:off x="5519012" y="2086414"/>
            <a:ext cx="3149600" cy="2971800"/>
            <a:chOff x="2514600" y="1143000"/>
            <a:chExt cx="3149600" cy="2971800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E792431-ECFF-40FC-8068-AE483214DC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5600" y="1752600"/>
              <a:ext cx="609600" cy="6096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buFont typeface="Wingdings" panose="05000000000000000000" pitchFamily="2" charset="2"/>
                <a:buBlip>
                  <a:blip r:embed="rId3"/>
                </a:buBlip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buFont typeface="Wingdings" panose="05000000000000000000" pitchFamily="2" charset="2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50000"/>
                </a:spcBef>
                <a:buFont typeface="Wingdings" panose="05000000000000000000" pitchFamily="2" charset="2"/>
                <a:buBlip>
                  <a:blip r:embed="rId5"/>
                </a:buBlip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50000"/>
                </a:spcBef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1"/>
                <a:t>1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4274DA8-C5E4-49C4-AA4E-588B0E1A87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3505200"/>
              <a:ext cx="609600" cy="609600"/>
            </a:xfrm>
            <a:prstGeom prst="ellipse">
              <a:avLst/>
            </a:prstGeom>
            <a:noFill/>
            <a:ln w="38100" cmpd="dbl">
              <a:solidFill>
                <a:schemeClr val="tx1"/>
              </a:solidFill>
              <a:round/>
              <a:headEnd/>
              <a:tailEnd type="none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buFont typeface="Wingdings" panose="05000000000000000000" pitchFamily="2" charset="2"/>
                <a:buBlip>
                  <a:blip r:embed="rId3"/>
                </a:buBlip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buFont typeface="Wingdings" panose="05000000000000000000" pitchFamily="2" charset="2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50000"/>
                </a:spcBef>
                <a:buFont typeface="Wingdings" panose="05000000000000000000" pitchFamily="2" charset="2"/>
                <a:buBlip>
                  <a:blip r:embed="rId5"/>
                </a:buBlip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50000"/>
                </a:spcBef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1"/>
                <a:t>3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9EBFB6B-57E5-48E4-8CED-F4D8ABE51B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600" y="1752600"/>
              <a:ext cx="609600" cy="609600"/>
            </a:xfrm>
            <a:prstGeom prst="ellipse">
              <a:avLst/>
            </a:prstGeom>
            <a:noFill/>
            <a:ln w="38100" cmpd="dbl">
              <a:solidFill>
                <a:schemeClr val="tx1"/>
              </a:solidFill>
              <a:round/>
              <a:headEnd/>
              <a:tailEnd type="none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buFont typeface="Wingdings" panose="05000000000000000000" pitchFamily="2" charset="2"/>
                <a:buBlip>
                  <a:blip r:embed="rId3"/>
                </a:buBlip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buFont typeface="Wingdings" panose="05000000000000000000" pitchFamily="2" charset="2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50000"/>
                </a:spcBef>
                <a:buFont typeface="Wingdings" panose="05000000000000000000" pitchFamily="2" charset="2"/>
                <a:buBlip>
                  <a:blip r:embed="rId5"/>
                </a:buBlip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50000"/>
                </a:spcBef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1"/>
                <a:t>2</a:t>
              </a:r>
            </a:p>
          </p:txBody>
        </p:sp>
        <p:cxnSp>
          <p:nvCxnSpPr>
            <p:cNvPr id="8" name="AutoShape 7">
              <a:extLst>
                <a:ext uri="{FF2B5EF4-FFF2-40B4-BE49-F238E27FC236}">
                  <a16:creationId xmlns:a16="http://schemas.microsoft.com/office/drawing/2014/main" id="{5CA2AA7C-6B5C-46F0-8484-A04828EEF7E8}"/>
                </a:ext>
              </a:extLst>
            </p:cNvPr>
            <p:cNvCxnSpPr>
              <a:cxnSpLocks noChangeShapeType="1"/>
              <a:stCxn id="5" idx="7"/>
              <a:endCxn id="7" idx="1"/>
            </p:cNvCxnSpPr>
            <p:nvPr/>
          </p:nvCxnSpPr>
          <p:spPr bwMode="auto">
            <a:xfrm rot="-5400000">
              <a:off x="4150518" y="1088232"/>
              <a:ext cx="4763" cy="1473200"/>
            </a:xfrm>
            <a:prstGeom prst="curvedConnector3">
              <a:avLst>
                <a:gd name="adj1" fmla="val 6366667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" name="AutoShape 8">
              <a:extLst>
                <a:ext uri="{FF2B5EF4-FFF2-40B4-BE49-F238E27FC236}">
                  <a16:creationId xmlns:a16="http://schemas.microsoft.com/office/drawing/2014/main" id="{4AE0249C-94FB-4D66-894E-FEA5F13153BC}"/>
                </a:ext>
              </a:extLst>
            </p:cNvPr>
            <p:cNvCxnSpPr>
              <a:cxnSpLocks noChangeShapeType="1"/>
              <a:stCxn id="7" idx="3"/>
              <a:endCxn id="5" idx="5"/>
            </p:cNvCxnSpPr>
            <p:nvPr/>
          </p:nvCxnSpPr>
          <p:spPr bwMode="auto">
            <a:xfrm rot="16200000" flipV="1">
              <a:off x="4150519" y="1553369"/>
              <a:ext cx="4762" cy="1473200"/>
            </a:xfrm>
            <a:prstGeom prst="curvedConnector3">
              <a:avLst>
                <a:gd name="adj1" fmla="val -6266667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" name="AutoShape 9">
              <a:extLst>
                <a:ext uri="{FF2B5EF4-FFF2-40B4-BE49-F238E27FC236}">
                  <a16:creationId xmlns:a16="http://schemas.microsoft.com/office/drawing/2014/main" id="{C9C7B741-8133-453B-9EC4-AB4952F1BD16}"/>
                </a:ext>
              </a:extLst>
            </p:cNvPr>
            <p:cNvCxnSpPr>
              <a:cxnSpLocks noChangeShapeType="1"/>
              <a:stCxn id="20" idx="2"/>
              <a:endCxn id="5" idx="3"/>
            </p:cNvCxnSpPr>
            <p:nvPr/>
          </p:nvCxnSpPr>
          <p:spPr bwMode="auto">
            <a:xfrm rot="10800000">
              <a:off x="2984500" y="2287588"/>
              <a:ext cx="811213" cy="1522412"/>
            </a:xfrm>
            <a:prstGeom prst="curvedConnector2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" name="AutoShape 10">
              <a:extLst>
                <a:ext uri="{FF2B5EF4-FFF2-40B4-BE49-F238E27FC236}">
                  <a16:creationId xmlns:a16="http://schemas.microsoft.com/office/drawing/2014/main" id="{530F2474-5293-4B30-BDAC-6ED43034A0F9}"/>
                </a:ext>
              </a:extLst>
            </p:cNvPr>
            <p:cNvCxnSpPr>
              <a:cxnSpLocks noChangeShapeType="1"/>
              <a:stCxn id="5" idx="4"/>
              <a:endCxn id="6" idx="0"/>
            </p:cNvCxnSpPr>
            <p:nvPr/>
          </p:nvCxnSpPr>
          <p:spPr bwMode="auto">
            <a:xfrm rot="16200000" flipH="1">
              <a:off x="3102769" y="2474119"/>
              <a:ext cx="1109662" cy="914400"/>
            </a:xfrm>
            <a:prstGeom prst="curvedConnector3">
              <a:avLst>
                <a:gd name="adj1" fmla="val 50213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" name="AutoShape 11">
              <a:extLst>
                <a:ext uri="{FF2B5EF4-FFF2-40B4-BE49-F238E27FC236}">
                  <a16:creationId xmlns:a16="http://schemas.microsoft.com/office/drawing/2014/main" id="{6ADC5BD7-D7A7-4A45-B870-FB354DC93051}"/>
                </a:ext>
              </a:extLst>
            </p:cNvPr>
            <p:cNvCxnSpPr>
              <a:cxnSpLocks noChangeShapeType="1"/>
              <a:stCxn id="7" idx="0"/>
              <a:endCxn id="21" idx="7"/>
            </p:cNvCxnSpPr>
            <p:nvPr/>
          </p:nvCxnSpPr>
          <p:spPr bwMode="auto">
            <a:xfrm rot="5400000" flipV="1">
              <a:off x="5166518" y="1672432"/>
              <a:ext cx="93663" cy="215900"/>
            </a:xfrm>
            <a:prstGeom prst="curvedConnector3">
              <a:avLst>
                <a:gd name="adj1" fmla="val -223727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" name="AutoShape 12">
              <a:extLst>
                <a:ext uri="{FF2B5EF4-FFF2-40B4-BE49-F238E27FC236}">
                  <a16:creationId xmlns:a16="http://schemas.microsoft.com/office/drawing/2014/main" id="{0398D47B-E9C5-4632-9B62-8C5012616C17}"/>
                </a:ext>
              </a:extLst>
            </p:cNvPr>
            <p:cNvCxnSpPr>
              <a:cxnSpLocks noChangeShapeType="1"/>
              <a:stCxn id="6" idx="7"/>
              <a:endCxn id="7" idx="4"/>
            </p:cNvCxnSpPr>
            <p:nvPr/>
          </p:nvCxnSpPr>
          <p:spPr bwMode="auto">
            <a:xfrm flipV="1">
              <a:off x="4330700" y="2381250"/>
              <a:ext cx="774700" cy="119380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4" name="Text Box 14">
              <a:extLst>
                <a:ext uri="{FF2B5EF4-FFF2-40B4-BE49-F238E27FC236}">
                  <a16:creationId xmlns:a16="http://schemas.microsoft.com/office/drawing/2014/main" id="{C448095F-EF7A-447C-82E8-4D92DA23B7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2400" y="2209800"/>
              <a:ext cx="4572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buFont typeface="Wingdings" panose="05000000000000000000" pitchFamily="2" charset="2"/>
                <a:buBlip>
                  <a:blip r:embed="rId3"/>
                </a:buBlip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buFont typeface="Wingdings" panose="05000000000000000000" pitchFamily="2" charset="2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50000"/>
                </a:spcBef>
                <a:buFont typeface="Wingdings" panose="05000000000000000000" pitchFamily="2" charset="2"/>
                <a:buBlip>
                  <a:blip r:embed="rId5"/>
                </a:buBlip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50000"/>
                </a:spcBef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en-US" sz="2000" b="1" i="1"/>
                <a:t>a</a:t>
              </a:r>
            </a:p>
          </p:txBody>
        </p:sp>
        <p:sp>
          <p:nvSpPr>
            <p:cNvPr id="15" name="Text Box 15">
              <a:extLst>
                <a:ext uri="{FF2B5EF4-FFF2-40B4-BE49-F238E27FC236}">
                  <a16:creationId xmlns:a16="http://schemas.microsoft.com/office/drawing/2014/main" id="{DB410341-8E48-4B90-B8D6-8EEE3073BE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8200" y="2803525"/>
              <a:ext cx="4572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buFont typeface="Wingdings" panose="05000000000000000000" pitchFamily="2" charset="2"/>
                <a:buBlip>
                  <a:blip r:embed="rId3"/>
                </a:buBlip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buFont typeface="Wingdings" panose="05000000000000000000" pitchFamily="2" charset="2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50000"/>
                </a:spcBef>
                <a:buFont typeface="Wingdings" panose="05000000000000000000" pitchFamily="2" charset="2"/>
                <a:buBlip>
                  <a:blip r:embed="rId5"/>
                </a:buBlip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50000"/>
                </a:spcBef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en-US" sz="2000" b="1" i="1"/>
                <a:t>a</a:t>
              </a:r>
            </a:p>
          </p:txBody>
        </p:sp>
        <p:sp>
          <p:nvSpPr>
            <p:cNvPr id="16" name="Text Box 16">
              <a:extLst>
                <a:ext uri="{FF2B5EF4-FFF2-40B4-BE49-F238E27FC236}">
                  <a16:creationId xmlns:a16="http://schemas.microsoft.com/office/drawing/2014/main" id="{E1E46EA4-1E0B-4AC4-8CCB-3E807B74DB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07000" y="1143000"/>
              <a:ext cx="4572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buFont typeface="Wingdings" panose="05000000000000000000" pitchFamily="2" charset="2"/>
                <a:buBlip>
                  <a:blip r:embed="rId3"/>
                </a:buBlip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buFont typeface="Wingdings" panose="05000000000000000000" pitchFamily="2" charset="2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50000"/>
                </a:spcBef>
                <a:buFont typeface="Wingdings" panose="05000000000000000000" pitchFamily="2" charset="2"/>
                <a:buBlip>
                  <a:blip r:embed="rId5"/>
                </a:buBlip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50000"/>
                </a:spcBef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en-US" sz="2000" b="1" i="1"/>
                <a:t>b</a:t>
              </a:r>
            </a:p>
          </p:txBody>
        </p:sp>
        <p:sp>
          <p:nvSpPr>
            <p:cNvPr id="17" name="Text Box 17">
              <a:extLst>
                <a:ext uri="{FF2B5EF4-FFF2-40B4-BE49-F238E27FC236}">
                  <a16:creationId xmlns:a16="http://schemas.microsoft.com/office/drawing/2014/main" id="{81847706-573A-4F6E-AB85-31BCB6EC2D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1400" y="2895600"/>
              <a:ext cx="4572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buFont typeface="Wingdings" panose="05000000000000000000" pitchFamily="2" charset="2"/>
                <a:buBlip>
                  <a:blip r:embed="rId3"/>
                </a:buBlip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buFont typeface="Wingdings" panose="05000000000000000000" pitchFamily="2" charset="2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50000"/>
                </a:spcBef>
                <a:buFont typeface="Wingdings" panose="05000000000000000000" pitchFamily="2" charset="2"/>
                <a:buBlip>
                  <a:blip r:embed="rId5"/>
                </a:buBlip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50000"/>
                </a:spcBef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en-US" sz="2000" b="1" i="1"/>
                <a:t>b</a:t>
              </a:r>
            </a:p>
          </p:txBody>
        </p:sp>
        <p:sp>
          <p:nvSpPr>
            <p:cNvPr id="18" name="Text Box 18">
              <a:extLst>
                <a:ext uri="{FF2B5EF4-FFF2-40B4-BE49-F238E27FC236}">
                  <a16:creationId xmlns:a16="http://schemas.microsoft.com/office/drawing/2014/main" id="{308CC603-71D4-4D1E-BBF8-A7B154DE41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95600" y="3048000"/>
              <a:ext cx="4572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buFont typeface="Wingdings" panose="05000000000000000000" pitchFamily="2" charset="2"/>
                <a:buBlip>
                  <a:blip r:embed="rId3"/>
                </a:buBlip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buFont typeface="Wingdings" panose="05000000000000000000" pitchFamily="2" charset="2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50000"/>
                </a:spcBef>
                <a:buFont typeface="Wingdings" panose="05000000000000000000" pitchFamily="2" charset="2"/>
                <a:buBlip>
                  <a:blip r:embed="rId5"/>
                </a:buBlip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50000"/>
                </a:spcBef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en-US" sz="2000" b="1" i="1"/>
                <a:t>b</a:t>
              </a:r>
            </a:p>
          </p:txBody>
        </p:sp>
        <p:sp>
          <p:nvSpPr>
            <p:cNvPr id="19" name="Line 21">
              <a:extLst>
                <a:ext uri="{FF2B5EF4-FFF2-40B4-BE49-F238E27FC236}">
                  <a16:creationId xmlns:a16="http://schemas.microsoft.com/office/drawing/2014/main" id="{86A1D5F4-DB8E-4B10-99A5-466A96ACE4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14600" y="2057400"/>
              <a:ext cx="3810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Oval 25">
              <a:extLst>
                <a:ext uri="{FF2B5EF4-FFF2-40B4-BE49-F238E27FC236}">
                  <a16:creationId xmlns:a16="http://schemas.microsoft.com/office/drawing/2014/main" id="{31B32D3B-C438-4E59-8F79-2AF5DF7E66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3505200"/>
              <a:ext cx="609600" cy="6096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buFont typeface="Wingdings" panose="05000000000000000000" pitchFamily="2" charset="2"/>
                <a:buBlip>
                  <a:blip r:embed="rId3"/>
                </a:buBlip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buFont typeface="Wingdings" panose="05000000000000000000" pitchFamily="2" charset="2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50000"/>
                </a:spcBef>
                <a:buFont typeface="Wingdings" panose="05000000000000000000" pitchFamily="2" charset="2"/>
                <a:buBlip>
                  <a:blip r:embed="rId5"/>
                </a:buBlip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50000"/>
                </a:spcBef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1" dirty="0"/>
                <a:t>3</a:t>
              </a:r>
            </a:p>
          </p:txBody>
        </p:sp>
        <p:sp>
          <p:nvSpPr>
            <p:cNvPr id="21" name="Oval 26">
              <a:extLst>
                <a:ext uri="{FF2B5EF4-FFF2-40B4-BE49-F238E27FC236}">
                  <a16:creationId xmlns:a16="http://schemas.microsoft.com/office/drawing/2014/main" id="{1DD3D456-B4ED-4CBE-BB35-C1DDAA36E7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600" y="1752600"/>
              <a:ext cx="609600" cy="6096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buFont typeface="Wingdings" panose="05000000000000000000" pitchFamily="2" charset="2"/>
                <a:buBlip>
                  <a:blip r:embed="rId3"/>
                </a:buBlip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buFont typeface="Wingdings" panose="05000000000000000000" pitchFamily="2" charset="2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50000"/>
                </a:spcBef>
                <a:buFont typeface="Wingdings" panose="05000000000000000000" pitchFamily="2" charset="2"/>
                <a:buBlip>
                  <a:blip r:embed="rId5"/>
                </a:buBlip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50000"/>
                </a:spcBef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1" dirty="0"/>
                <a:t>2</a:t>
              </a:r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44A872F6-FD45-4006-8525-A96FF2CC8CF8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22816" t="22705" r="27715" b="10188"/>
          <a:stretch/>
        </p:blipFill>
        <p:spPr>
          <a:xfrm>
            <a:off x="314187" y="2069697"/>
            <a:ext cx="4395925" cy="3449979"/>
          </a:xfrm>
          <a:prstGeom prst="rect">
            <a:avLst/>
          </a:prstGeom>
        </p:spPr>
      </p:pic>
      <p:sp>
        <p:nvSpPr>
          <p:cNvPr id="23" name="Text Box 13">
            <a:extLst>
              <a:ext uri="{FF2B5EF4-FFF2-40B4-BE49-F238E27FC236}">
                <a16:creationId xmlns:a16="http://schemas.microsoft.com/office/drawing/2014/main" id="{EBB0A469-94B8-43B9-86C5-A6E7CB9284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3012" y="2045139"/>
            <a:ext cx="45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000" b="1" i="1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888096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1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3" presetClass="emph" presetSubtype="1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8" dur="indefinite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3" presetClass="emph" presetSubtype="1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0" dur="indefinite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3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2" dur="indefinite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3" presetClass="emph" presetSubtype="1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4" dur="indefinite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3" presetClass="emph" presetSubtype="1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6" dur="indefinite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3" grpId="1"/>
      <p:bldP spid="23" grpId="2"/>
      <p:bldP spid="23" grpId="3"/>
      <p:bldP spid="23" grpId="4"/>
      <p:bldP spid="23" grpId="5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04D592B-82C0-4F14-A853-CDD8DDBB9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CSC3113: Theory of Computation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5F88F6-DDFD-4F4B-A46A-AAA1900C92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Regular Expression: Part-1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3CB42B-CF30-4382-AE8D-B75B811C5B9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Introduction to Theory of Computation, </a:t>
            </a:r>
            <a:r>
              <a:rPr lang="en-US" dirty="0" err="1"/>
              <a:t>Sipser</a:t>
            </a:r>
            <a:r>
              <a:rPr lang="en-US" dirty="0"/>
              <a:t>, (3</a:t>
            </a:r>
            <a:r>
              <a:rPr lang="en-US" baseline="30000" dirty="0"/>
              <a:t>rd</a:t>
            </a:r>
            <a:r>
              <a:rPr lang="en-US" dirty="0"/>
              <a:t> ed),</a:t>
            </a:r>
            <a:br>
              <a:rPr lang="en-US" dirty="0"/>
            </a:br>
            <a:r>
              <a:rPr lang="en-US" dirty="0">
                <a:hlinkClick r:id="rId2" action="ppaction://hlinkfile"/>
              </a:rPr>
              <a:t>Regular Expression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43288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CEAD895810172499403797E31055E57" ma:contentTypeVersion="0" ma:contentTypeDescription="Create a new document." ma:contentTypeScope="" ma:versionID="0c4331c287249a833e6ba7179b4271dd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1d5eec3c12ee2e8127422d567928f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B858063-0872-449F-84FA-8DC4C68EE1DD}"/>
</file>

<file path=customXml/itemProps2.xml><?xml version="1.0" encoding="utf-8"?>
<ds:datastoreItem xmlns:ds="http://schemas.openxmlformats.org/officeDocument/2006/customXml" ds:itemID="{7A539BBF-03D9-4B08-B824-811E0C2C92D0}"/>
</file>

<file path=customXml/itemProps3.xml><?xml version="1.0" encoding="utf-8"?>
<ds:datastoreItem xmlns:ds="http://schemas.openxmlformats.org/officeDocument/2006/customXml" ds:itemID="{33EA19B1-09EC-48D4-9BC8-05CB5CFAF94A}"/>
</file>

<file path=docProps/app.xml><?xml version="1.0" encoding="utf-8"?>
<Properties xmlns="http://schemas.openxmlformats.org/officeDocument/2006/extended-properties" xmlns:vt="http://schemas.openxmlformats.org/officeDocument/2006/docPropsVTypes">
  <TotalTime>3040</TotalTime>
  <Words>4115</Words>
  <Application>Microsoft Office PowerPoint</Application>
  <PresentationFormat>On-screen Show (4:3)</PresentationFormat>
  <Paragraphs>544</Paragraphs>
  <Slides>46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5" baseType="lpstr">
      <vt:lpstr>Arimo</vt:lpstr>
      <vt:lpstr>Arial</vt:lpstr>
      <vt:lpstr>Arial Black</vt:lpstr>
      <vt:lpstr>Calibri</vt:lpstr>
      <vt:lpstr>Monotype Corsiva</vt:lpstr>
      <vt:lpstr>Symbol</vt:lpstr>
      <vt:lpstr>Times New Roman</vt:lpstr>
      <vt:lpstr>Wingdings</vt:lpstr>
      <vt:lpstr>Office Theme</vt:lpstr>
      <vt:lpstr>Regular Expression</vt:lpstr>
      <vt:lpstr>Overview</vt:lpstr>
      <vt:lpstr>Equivalences so far…</vt:lpstr>
      <vt:lpstr>Introduction to Regular Languages and Regular Expressions</vt:lpstr>
      <vt:lpstr>Introduction…</vt:lpstr>
      <vt:lpstr>Regular Expressions  and operations</vt:lpstr>
      <vt:lpstr>Constructing Regular Expressions from Regular Languages</vt:lpstr>
      <vt:lpstr>Union ∪ ( disjunction, OR, |, +)  </vt:lpstr>
      <vt:lpstr>Concatenation: represented by juxtaposition (no punctuation) or middle dot ( · ) </vt:lpstr>
      <vt:lpstr>Kleene Star: represented by an asterisk aka star (*)</vt:lpstr>
      <vt:lpstr>Regular expressions and regular languages</vt:lpstr>
      <vt:lpstr>Regular expressions and regular languages</vt:lpstr>
      <vt:lpstr>Examples over Σ ={a,b}</vt:lpstr>
      <vt:lpstr>Regular expressions and regular languages</vt:lpstr>
      <vt:lpstr>Converting a regular expression to an NFA</vt:lpstr>
      <vt:lpstr>Examples :Describe each language as a regular expression over Σ ={0,1}</vt:lpstr>
      <vt:lpstr>Examples: over Σ ={x,y}</vt:lpstr>
      <vt:lpstr>RL to RE</vt:lpstr>
      <vt:lpstr>RL to RE</vt:lpstr>
      <vt:lpstr>Properties of regular expressions 1</vt:lpstr>
      <vt:lpstr>Properties of regular expressions</vt:lpstr>
      <vt:lpstr>Properties of Regular Expressions</vt:lpstr>
      <vt:lpstr>Properties of RE…</vt:lpstr>
      <vt:lpstr>Equivalences so far…</vt:lpstr>
      <vt:lpstr>PowerPoint Presentation</vt:lpstr>
      <vt:lpstr>Give English descriptions of the languages of the following regular expressions.</vt:lpstr>
      <vt:lpstr>Σ = {0, 1}. </vt:lpstr>
      <vt:lpstr>Σ = {0, 1}. </vt:lpstr>
      <vt:lpstr>Σ = {0, 1}. </vt:lpstr>
      <vt:lpstr>Σ = {a, b}. </vt:lpstr>
      <vt:lpstr>Building NFA from regular expressions</vt:lpstr>
      <vt:lpstr>Regular Expression from DFA</vt:lpstr>
      <vt:lpstr>Regular Expression from DFA</vt:lpstr>
      <vt:lpstr>Converting DFA to Regular Expression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afroza</dc:creator>
  <cp:lastModifiedBy>Prof. Dr. Afroza Nahar</cp:lastModifiedBy>
  <cp:revision>146</cp:revision>
  <dcterms:created xsi:type="dcterms:W3CDTF">2019-10-17T07:03:23Z</dcterms:created>
  <dcterms:modified xsi:type="dcterms:W3CDTF">2025-04-10T05:00:11Z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0x0101002CEAD895810172499403797E31055E57</vt:lpwstr>
  </property>
</Properties>
</file>